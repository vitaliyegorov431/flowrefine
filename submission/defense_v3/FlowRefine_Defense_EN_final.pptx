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9209" autoAdjust="0"/>
  </p:normalViewPr>
  <p:slideViewPr>
    <p:cSldViewPr snapToGrid="0">
      <p:cViewPr varScale="1">
        <p:scale>
          <a:sx n="56" d="100"/>
          <a:sy n="56" d="100"/>
        </p:scale>
        <p:origin x="168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col"/>
        <c:grouping val="clustered"/>
        <c:varyColors val="0"/>
        <c:ser>
          <c:idx val="0"/>
          <c:order val="0"/>
          <c:tx>
            <c:v>CPU experiment</c:v>
          </c:tx>
          <c:spPr>
            <a:solidFill>
              <a:srgbClr val="2E75B6"/>
            </a:solidFill>
          </c:spPr>
          <c:invertIfNegative val="0"/>
          <c:dLbls>
            <c:numFmt formatCode="0" sourceLinked="0"/>
            <c:spPr>
              <a:noFill/>
              <a:ln>
                <a:noFill/>
              </a:ln>
              <a:effectLst/>
            </c:spPr>
            <c:txPr>
              <a:bodyPr anchorCtr="1"/>
              <a:lstStyle/>
              <a:p>
                <a:pPr>
                  <a:defRPr sz="1800" b="1">
                    <a:solidFill>
                      <a:srgbClr val="1F4E79"/>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B0</c:v>
                </c:pt>
                <c:pt idx="1">
                  <c:v>B1</c:v>
                </c:pt>
                <c:pt idx="2">
                  <c:v>B2</c:v>
                </c:pt>
                <c:pt idx="3">
                  <c:v>B3</c:v>
                </c:pt>
              </c:strCache>
            </c:strRef>
          </c:cat>
          <c:val>
            <c:numRef>
              <c:f>'Chart Data'!$B$2:$B$5</c:f>
              <c:numCache>
                <c:formatCode>0</c:formatCode>
                <c:ptCount val="4"/>
                <c:pt idx="0">
                  <c:v>11</c:v>
                </c:pt>
                <c:pt idx="1">
                  <c:v>11</c:v>
                </c:pt>
                <c:pt idx="2">
                  <c:v>9</c:v>
                </c:pt>
                <c:pt idx="3">
                  <c:v>7</c:v>
                </c:pt>
              </c:numCache>
            </c:numRef>
          </c:val>
          <c:extLst>
            <c:ext xmlns:c16="http://schemas.microsoft.com/office/drawing/2014/chart" uri="{C3380CC4-5D6E-409C-BE32-E72D297353CC}">
              <c16:uniqueId val="{00000000-6693-4FDF-9EB4-654A1413F584}"/>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F4E79"/>
                </a:solidFill>
                <a:latin typeface="Arial"/>
                <a:ea typeface="Arial"/>
                <a:cs typeface="Arial"/>
              </a:defRPr>
            </a:pPr>
            <a:endParaRPr lang="ru-RU"/>
          </a:p>
        </c:txPr>
        <c:crossAx val="48672768"/>
        <c:crosses val="autoZero"/>
        <c:auto val="1"/>
        <c:lblAlgn val="ctr"/>
        <c:lblOffset val="100"/>
        <c:noMultiLvlLbl val="1"/>
      </c:catAx>
      <c:valAx>
        <c:axId val="48672768"/>
        <c:scaling>
          <c:orientation val="minMax"/>
          <c:max val="15"/>
          <c:min val="0"/>
        </c:scaling>
        <c:delete val="0"/>
        <c:axPos val="l"/>
        <c:majorGridlines>
          <c:spPr>
            <a:ln w="9525">
              <a:solidFill>
                <a:srgbClr val="DCE6F1"/>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725">
                <a:solidFill>
                  <a:srgbClr val="1F4E79"/>
                </a:solidFill>
                <a:latin typeface="Arial"/>
                <a:ea typeface="Arial"/>
                <a:cs typeface="Arial"/>
              </a:defRPr>
            </a:pPr>
            <a:endParaRPr lang="ru-RU"/>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col"/>
        <c:grouping val="clustered"/>
        <c:varyColors val="0"/>
        <c:ser>
          <c:idx val="0"/>
          <c:order val="0"/>
          <c:tx>
            <c:v>SmolVLM-256M</c:v>
          </c:tx>
          <c:spPr>
            <a:solidFill>
              <a:srgbClr val="1F4E79"/>
            </a:solidFill>
          </c:spPr>
          <c:invertIfNegative val="0"/>
          <c:dLbls>
            <c:numFmt formatCode="0" sourceLinked="0"/>
            <c:spPr>
              <a:noFill/>
              <a:ln>
                <a:noFill/>
              </a:ln>
              <a:effectLst/>
            </c:spPr>
            <c:txPr>
              <a:bodyPr anchorCtr="1"/>
              <a:lstStyle/>
              <a:p>
                <a:pPr>
                  <a:defRPr sz="1800" b="1">
                    <a:solidFill>
                      <a:srgbClr val="1F4E79"/>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B2 visual</c:v>
                </c:pt>
                <c:pt idx="1">
                  <c:v>B3 combined</c:v>
                </c:pt>
              </c:strCache>
            </c:strRef>
          </c:cat>
          <c:val>
            <c:numRef>
              <c:f>'Chart Data'!$B$2:$B$3</c:f>
              <c:numCache>
                <c:formatCode>0</c:formatCode>
                <c:ptCount val="2"/>
                <c:pt idx="0">
                  <c:v>9</c:v>
                </c:pt>
                <c:pt idx="1">
                  <c:v>7</c:v>
                </c:pt>
              </c:numCache>
            </c:numRef>
          </c:val>
          <c:extLst>
            <c:ext xmlns:c16="http://schemas.microsoft.com/office/drawing/2014/chart" uri="{C3380CC4-5D6E-409C-BE32-E72D297353CC}">
              <c16:uniqueId val="{00000000-408B-4A65-8226-30A0019F292B}"/>
            </c:ext>
          </c:extLst>
        </c:ser>
        <c:ser>
          <c:idx val="1"/>
          <c:order val="1"/>
          <c:tx>
            <c:v>Qwen-VL-3B</c:v>
          </c:tx>
          <c:spPr>
            <a:solidFill>
              <a:srgbClr val="2E75B6"/>
            </a:solidFill>
          </c:spPr>
          <c:invertIfNegative val="0"/>
          <c:dLbls>
            <c:numFmt formatCode="0" sourceLinked="0"/>
            <c:spPr>
              <a:noFill/>
              <a:ln>
                <a:noFill/>
              </a:ln>
              <a:effectLst/>
            </c:spPr>
            <c:txPr>
              <a:bodyPr anchorCtr="1"/>
              <a:lstStyle/>
              <a:p>
                <a:pPr>
                  <a:defRPr sz="1800" b="1">
                    <a:solidFill>
                      <a:srgbClr val="1F4E79"/>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B2 visual</c:v>
                </c:pt>
                <c:pt idx="1">
                  <c:v>B3 combined</c:v>
                </c:pt>
              </c:strCache>
            </c:strRef>
          </c:cat>
          <c:val>
            <c:numRef>
              <c:f>'Chart Data'!$D$2:$D$3</c:f>
              <c:numCache>
                <c:formatCode>0</c:formatCode>
                <c:ptCount val="2"/>
                <c:pt idx="0">
                  <c:v>5</c:v>
                </c:pt>
                <c:pt idx="1">
                  <c:v>5</c:v>
                </c:pt>
              </c:numCache>
            </c:numRef>
          </c:val>
          <c:extLst>
            <c:ext xmlns:c16="http://schemas.microsoft.com/office/drawing/2014/chart" uri="{C3380CC4-5D6E-409C-BE32-E72D297353CC}">
              <c16:uniqueId val="{00000001-408B-4A65-8226-30A0019F292B}"/>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F4E79"/>
                </a:solidFill>
                <a:latin typeface="Arial"/>
                <a:ea typeface="Arial"/>
                <a:cs typeface="Arial"/>
              </a:defRPr>
            </a:pPr>
            <a:endParaRPr lang="ru-RU"/>
          </a:p>
        </c:txPr>
        <c:crossAx val="48672768"/>
        <c:crosses val="autoZero"/>
        <c:auto val="1"/>
        <c:lblAlgn val="ctr"/>
        <c:lblOffset val="100"/>
        <c:noMultiLvlLbl val="1"/>
      </c:catAx>
      <c:valAx>
        <c:axId val="48672768"/>
        <c:scaling>
          <c:orientation val="minMax"/>
          <c:max val="15"/>
          <c:min val="0"/>
        </c:scaling>
        <c:delete val="0"/>
        <c:axPos val="l"/>
        <c:majorGridlines>
          <c:spPr>
            <a:ln w="9525">
              <a:solidFill>
                <a:srgbClr val="DCE6F1"/>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725">
                <a:solidFill>
                  <a:srgbClr val="1F4E79"/>
                </a:solidFill>
                <a:latin typeface="Arial"/>
                <a:ea typeface="Arial"/>
                <a:cs typeface="Arial"/>
              </a:defRPr>
            </a:pPr>
            <a:endParaRPr lang="ru-RU"/>
          </a:p>
        </c:txPr>
        <c:crossAx val="48650112"/>
        <c:crosses val="autoZero"/>
        <c:crossBetween val="between"/>
      </c:valAx>
      <c:spPr>
        <a:solidFill>
          <a:srgbClr val="FFFFFF"/>
        </a:solidFill>
      </c:spPr>
    </c:plotArea>
    <c:legend>
      <c:legendPos val="b"/>
      <c:overlay val="0"/>
      <c:txPr>
        <a:bodyPr anchorCtr="1"/>
        <a:lstStyle/>
        <a:p>
          <a:pPr>
            <a:defRPr sz="1725">
              <a:solidFill>
                <a:srgbClr val="1F4E79"/>
              </a:solidFill>
              <a:latin typeface="Arial"/>
              <a:ea typeface="Arial"/>
              <a:cs typeface="Arial"/>
            </a:defRPr>
          </a:pPr>
          <a:endParaRPr lang="ru-RU"/>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field of study is oil and gas engineering, so I wanted to explore a practical application of generative AI that could be useful in my field.</a:t>
            </a:r>
          </a:p>
          <a:p>
            <a:r>
              <a:rPr lang="en-US" dirty="0"/>
              <a:t>Working with production processes involves describing sequences of operations, decision points, and actions when conditions change. Flowcharts can help communicate this logic, but creating and updating them manually takes time.</a:t>
            </a:r>
          </a:p>
          <a:p>
            <a:r>
              <a:rPr lang="en-US" dirty="0"/>
              <a:t>This motivated me to build a prototype that turns a process description into an editable flowchart and then uses feedback to check and revise it. I also wanted to explore whether the system could run locally on modest hardware.</a:t>
            </a:r>
          </a:p>
          <a:p>
            <a:r>
              <a:rPr lang="en-US" dirty="0"/>
              <a:t>For this project, I started with simple synthetic processes rather than real industrial procedures. The goal was to test the basic approach and understand its limitations before considering an application to oil and gas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question of this project is: </a:t>
            </a:r>
            <a:r>
              <a:rPr lang="en-US" b="1" dirty="0"/>
              <a:t>can feedback improve an automatically generated flowchart?</a:t>
            </a:r>
            <a:r>
              <a:rPr lang="en-US" dirty="0"/>
              <a:t> We compare the initial diagram with the result after one correction round.</a:t>
            </a:r>
            <a:br>
              <a:rPr lang="en-US" dirty="0"/>
            </a:br>
            <a:r>
              <a:rPr lang="en-US" dirty="0"/>
              <a:t>On the left is our representation. A flowchart is an editable graph: nodes represent process steps and decisions, while directed edges describe the connections between them. The language model produces this structure in JSON, and our program renders it as SVG and PNG.</a:t>
            </a:r>
            <a:br>
              <a:rPr lang="en-US" dirty="0"/>
            </a:br>
            <a:r>
              <a:rPr lang="en-US" dirty="0"/>
              <a:t>This allows us to evaluate the actual process logic. For each test task, we have a reference graph prepared in advance. The models do not receive this reference; it is used only for evaluation.</a:t>
            </a:r>
            <a:br>
              <a:rPr lang="en-US" dirty="0"/>
            </a:br>
            <a:r>
              <a:rPr lang="en-US" dirty="0"/>
              <a:t>On the right are the metrics. </a:t>
            </a:r>
            <a:r>
              <a:rPr lang="en-US" b="1" dirty="0"/>
              <a:t>Exact graph match</a:t>
            </a:r>
            <a:r>
              <a:rPr lang="en-US" dirty="0"/>
              <a:t> requires the complete structure to be correct. Node F1 measures matching nodes, while edge F1 measures matching connections, including their direction and branch labels. We check layout problems separately.</a:t>
            </a:r>
            <a:br>
              <a:rPr lang="en-US" dirty="0"/>
            </a:br>
            <a:r>
              <a:rPr lang="en-US" dirty="0"/>
              <a:t>The important point is that correction can also introduce errors. We therefore measure both improvements and regressions. The next slide explains how the pipeline works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pipeline and separates generation from verification.</a:t>
            </a:r>
          </a:p>
          <a:p>
            <a:r>
              <a:rPr lang="en-US" dirty="0"/>
              <a:t>First, the text model receives a process description and produces a JSON graph. We call this initial result </a:t>
            </a:r>
            <a:r>
              <a:rPr lang="en-US" b="1" dirty="0"/>
              <a:t>B0</a:t>
            </a:r>
            <a:r>
              <a:rPr lang="en-US" dirty="0"/>
              <a:t>. The renderer converts the graph into SVG and PNG.</a:t>
            </a:r>
          </a:p>
          <a:p>
            <a:r>
              <a:rPr lang="en-US" dirty="0"/>
              <a:t>We then check the same initial diagram in two ways. Programmatic checks examine the graph and its layout for formal and geometric problems. The visual critic receives the rendered image together with the original request and produces written feedback.</a:t>
            </a:r>
          </a:p>
          <a:p>
            <a:r>
              <a:rPr lang="en-US" dirty="0"/>
              <a:t>The text model then acts as an editor. It receives B0, the original request, and the selected feedback, and generates a revised graph.</a:t>
            </a:r>
          </a:p>
          <a:p>
            <a:r>
              <a:rPr lang="en-US" dirty="0"/>
              <a:t>We compare three correction modes: </a:t>
            </a:r>
            <a:r>
              <a:rPr lang="en-US" b="1" dirty="0"/>
              <a:t>B1 uses programmatic feedback, B2 uses visual feedback, and B3 uses both</a:t>
            </a:r>
            <a:r>
              <a:rPr lang="en-US" dirty="0"/>
              <a:t>. Each mode starts independently from the same B0. They are separate alternatives, rather than consecutive editing steps.</a:t>
            </a:r>
          </a:p>
          <a:p>
            <a:r>
              <a:rPr lang="en-US" dirty="0"/>
              <a:t>Finally, we save the outputs and evaluate them against the reference graph. The reference is available only during evaluation, so neither the critics nor the editor can use the expected answer.</a:t>
            </a:r>
          </a:p>
          <a:p>
            <a:r>
              <a:rPr lang="en-US" dirty="0"/>
              <a:t>This setup lets us compare the effect of each feedback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experiment, I selected compact models to test whether the complete pipeline could run locally on a CPU, without a powerful graphics card. The motivation was potential use on ordinary office computers, although I did not benchmark a range of office hardware.</a:t>
            </a:r>
          </a:p>
          <a:p>
            <a:r>
              <a:rPr lang="en-US" dirty="0"/>
              <a:t>The generator and editor use Qwen2.5 with approximately three billion parameters. Its weights use Q4_K_M quantization to reduce memory requirements. The visual critic is </a:t>
            </a:r>
            <a:r>
              <a:rPr lang="en-US" dirty="0" err="1"/>
              <a:t>SmolVLM</a:t>
            </a:r>
            <a:r>
              <a:rPr lang="en-US" dirty="0"/>
              <a:t> with 256 million parameters, using eight-bit quantization.</a:t>
            </a:r>
          </a:p>
          <a:p>
            <a:r>
              <a:rPr lang="en-US" dirty="0"/>
              <a:t>I used five development tasks to check the output format and select a working configuration. The main evaluation then used fifteen separate synthetic tasks: five linear processes, five branching processes, and five loops.</a:t>
            </a:r>
          </a:p>
          <a:p>
            <a:r>
              <a:rPr lang="en-US" dirty="0"/>
              <a:t>Every correction mode starts from the same saved initial graph and performs one correction round. This makes the feedback sources comparable.</a:t>
            </a:r>
          </a:p>
          <a:p>
            <a:r>
              <a:rPr lang="en-US" dirty="0"/>
              <a:t>These tasks test basic process structure rather than real oil and gas procedures. The experiment therefore establishes local feasibility and measures correctness within a small, controlled setting. The next slide shows the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results of the original CPU experiment. Each bar represents the number of completely correct graphs out of fifteen test tasks.</a:t>
            </a:r>
          </a:p>
          <a:p>
            <a:r>
              <a:rPr lang="en-US" dirty="0"/>
              <a:t>The initial generation, B0, produced eleven correct graphs. Programmatic feedback, B1, kept the total at eleven. With visual feedback, B2, the number fell to nine. Combining both feedback sources, B3, reduced it to seven.</a:t>
            </a:r>
          </a:p>
          <a:p>
            <a:r>
              <a:rPr lang="en-US" dirty="0"/>
              <a:t>Here, complete correctness means that all required nodes and directed, labelled connections match the reference. A single incorrect connection is enough to lose an exact match, even if most of the diagram remains correct.</a:t>
            </a:r>
          </a:p>
          <a:p>
            <a:r>
              <a:rPr lang="en-US" dirty="0"/>
              <a:t>None of the initially incorrect graphs became completely correct after editing. Some edits improved individual connections, but these improvements did not produce a fully correct graph. Meanwhile, the visual feedback modes damaged some initially correct outputs.</a:t>
            </a:r>
          </a:p>
          <a:p>
            <a:r>
              <a:rPr lang="en-US" dirty="0"/>
              <a:t>The conclusion is limited to this configuration: adding feedback did not improve semantic correctness. These results alone do not tell us whether the main problem lies in the critic or the editor. This motivated the next experiment with a larger visual critic.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raised a possible explanation: perhaps the visual critic was too small to inspect the diagrams reliably. I therefore tested a larger visual model.</a:t>
            </a:r>
          </a:p>
          <a:p>
            <a:r>
              <a:rPr lang="en-US" dirty="0"/>
              <a:t>I replaced </a:t>
            </a:r>
            <a:r>
              <a:rPr lang="en-US" dirty="0" err="1"/>
              <a:t>SmolVLM</a:t>
            </a:r>
            <a:r>
              <a:rPr lang="en-US" dirty="0"/>
              <a:t> with Qwen2.5-VL-3B-Instruct, running in FP16 on an RTX 3060 with twelve gigabytes of video memory. The measured peak </a:t>
            </a:r>
            <a:r>
              <a:rPr lang="en-US" dirty="0" err="1"/>
              <a:t>PyTorch</a:t>
            </a:r>
            <a:r>
              <a:rPr lang="en-US" dirty="0"/>
              <a:t> allocation was approximately 7.33 </a:t>
            </a:r>
            <a:r>
              <a:rPr lang="en-US" dirty="0" err="1"/>
              <a:t>GiB.</a:t>
            </a:r>
            <a:endParaRPr lang="en-US" dirty="0"/>
          </a:p>
          <a:p>
            <a:r>
              <a:rPr lang="en-US" dirty="0"/>
              <a:t>Importantly, I reused the same initial graphs and images. The text editor also remained unchanged and continued running on the CPU. I generated new visual feedback and used it to produce new B2 and B3 outputs.</a:t>
            </a:r>
          </a:p>
          <a:p>
            <a:r>
              <a:rPr lang="en-US" dirty="0"/>
              <a:t>This keeps the starting diagrams and editor consistent, making the comparison easier to interpret. However, the replacement changes the model family, numerical precision, and image-processing backend as well as model size. It is therefore a comparison of critic configurations.</a:t>
            </a:r>
          </a:p>
          <a:p>
            <a:r>
              <a:rPr lang="en-US" dirty="0"/>
              <a:t>This was also an exploratory rerun on the same fifteen tasks after inspecting the original results, rather than an independent evaluation on a new test set. The next slide shows whether the replacement improved the final graphs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final graph quality with the original and the larger visual critic. The darker bars show </a:t>
            </a:r>
            <a:r>
              <a:rPr lang="en-US" dirty="0" err="1"/>
              <a:t>SmolVLM</a:t>
            </a:r>
            <a:r>
              <a:rPr lang="en-US" dirty="0"/>
              <a:t>, and the lighter bars show </a:t>
            </a:r>
            <a:r>
              <a:rPr lang="en-US" dirty="0" err="1"/>
              <a:t>Qwen</a:t>
            </a:r>
            <a:r>
              <a:rPr lang="en-US" dirty="0"/>
              <a:t>-VL.</a:t>
            </a:r>
          </a:p>
          <a:p>
            <a:r>
              <a:rPr lang="en-US" dirty="0"/>
              <a:t>In B2, the number of completely correct graphs fell from nine to five out of fifteen. In B3, it fell from seven to five.</a:t>
            </a:r>
          </a:p>
          <a:p>
            <a:r>
              <a:rPr lang="en-US" dirty="0"/>
              <a:t>Mean edge F1 also decreased: from approximately 0.912 to 0.810 in B2, and from 0.899 to 0.810 in B3. Therefore, the decline appears both in complete graph correctness and in the accuracy of individual connections.</a:t>
            </a:r>
          </a:p>
          <a:p>
            <a:r>
              <a:rPr lang="en-US" dirty="0"/>
              <a:t>Each new mode also produced one invalid output. These failures receive zero semantic scores rather than being excluded from the evaluation.</a:t>
            </a:r>
          </a:p>
          <a:p>
            <a:r>
              <a:rPr lang="en-US" dirty="0"/>
              <a:t>The key distinction is that we measure the final outcome of the critic-and-editor pipeline. We have not independently scored every criticism, so this does not establish that </a:t>
            </a:r>
            <a:r>
              <a:rPr lang="en-US" dirty="0" err="1"/>
              <a:t>Qwen</a:t>
            </a:r>
            <a:r>
              <a:rPr lang="en-US" dirty="0"/>
              <a:t>-VL is generally a worse visual model.</a:t>
            </a:r>
          </a:p>
          <a:p>
            <a:r>
              <a:rPr lang="en-US" dirty="0"/>
              <a:t>What we can say is that replacing the critic did not improve this system on these tasks. The next slide shows a concrete example of how incorrect feedback can damage a correct graph.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how false criticism can damage a correct diagram.</a:t>
            </a:r>
          </a:p>
          <a:p>
            <a:r>
              <a:rPr lang="en-US" dirty="0"/>
              <a:t>On the left is the initial graph for a parcel-handling process. The task explicitly requires the start node, ‘Parcel workflow begins’. The complete initial graph matches the reference, with an edge F1 of one.</a:t>
            </a:r>
          </a:p>
          <a:p>
            <a:r>
              <a:rPr lang="en-US" dirty="0"/>
              <a:t>However, the new visual critic recommends removing this node because it considers the block redundant. The exact instruction appears on the right.</a:t>
            </a:r>
          </a:p>
          <a:p>
            <a:r>
              <a:rPr lang="en-US" dirty="0"/>
              <a:t>In the subsequent B3 output, shown in the middle, the required start node is missing. The diagram now begins directly with ‘Receive parcel’.</a:t>
            </a:r>
          </a:p>
          <a:p>
            <a:r>
              <a:rPr lang="en-US" dirty="0"/>
              <a:t>As a result, the graph loses one required node and its outgoing connection. Edge F1 falls from 1.000 to approximately 0.909, and the graph no longer achieves an exact match.</a:t>
            </a:r>
          </a:p>
          <a:p>
            <a:r>
              <a:rPr lang="en-US" dirty="0"/>
              <a:t>This gives us a concrete failure trace: incorrect feedback followed by a corresponding harmful edit. It illustrates one mechanism behind the regression, although it does not explain every failed example.</a:t>
            </a:r>
          </a:p>
          <a:p>
            <a:r>
              <a:rPr lang="en-US" dirty="0"/>
              <a:t>It also shows why feedback needs verification before application: a correction can remove information that the original graph represented correctly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interpret this result, I separate observations from possible explanations.</a:t>
            </a:r>
          </a:p>
          <a:p>
            <a:r>
              <a:rPr lang="en-US" dirty="0"/>
              <a:t>On the left are failures that we can verify in the saved outputs. In the previous example, the critic gives an incorrect instruction, and the editor makes the corresponding harmful change.</a:t>
            </a:r>
          </a:p>
          <a:p>
            <a:r>
              <a:rPr lang="en-US" dirty="0"/>
              <a:t>We also observe the opposite problem. In a software-testing process, the critic correctly identifies a missing connection from ‘Fix implementation’ back to ‘Run test suite’. However, the editor still does not add it.</a:t>
            </a:r>
          </a:p>
          <a:p>
            <a:r>
              <a:rPr lang="en-US" dirty="0"/>
              <a:t>These examples reveal two failure points: producing reliable feedback and correctly applying that feedback.</a:t>
            </a:r>
          </a:p>
          <a:p>
            <a:r>
              <a:rPr lang="en-US" dirty="0"/>
              <a:t>The right-hand side presents possible explanations. A general-purpose visual model may not reliably verify individual graph connections. Also, our editor regenerates the complete graph, which allows unrelated mistakes to appear during correction. Finally, the unchanged text editor may limit the benefit of a larger critic.</a:t>
            </a:r>
          </a:p>
          <a:p>
            <a:r>
              <a:rPr lang="en-US" dirty="0"/>
              <a:t>This experiment does not isolate the contribution of each mechanism. We would need separate evaluations of criticism quality and editing accuracy.</a:t>
            </a:r>
          </a:p>
          <a:p>
            <a:r>
              <a:rPr lang="en-US" dirty="0"/>
              <a:t>The practical conclusion is that increasing the critic’s size alone is insufficient. We also need to verify its recommendations and control how the editor changes the graph.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demonstrates a working local pipeline for generating editable flowcharts. It connects text generation, rendering, verification, correction, and evaluation, and the original configuration runs entirely on a CPU.</a:t>
            </a:r>
          </a:p>
          <a:p>
            <a:r>
              <a:rPr lang="en-US" dirty="0"/>
              <a:t>However, technical feasibility does not guarantee reliable correction. In the first experiment, feedback did not improve semantic correctness. Replacing the visual critic with a larger model also failed to improve the final graphs in this pipeline.</a:t>
            </a:r>
          </a:p>
          <a:p>
            <a:r>
              <a:rPr lang="en-US" dirty="0"/>
              <a:t>The saved examples show why both components matter: the critic can recommend an incorrect change, and the editor can fail to apply a useful recommendation.</a:t>
            </a:r>
          </a:p>
          <a:p>
            <a:r>
              <a:rPr lang="en-US" dirty="0"/>
              <a:t>My next step would therefore be to verify feedback before applying it and constrain editing to specific graph elements. This could help protect parts of the diagram that are already correct, although that improvement still needs experimental validation.</a:t>
            </a:r>
          </a:p>
          <a:p>
            <a:r>
              <a:rPr lang="en-US" dirty="0"/>
              <a:t>A broader evaluation would also require new held-out tasks and repeated runs. For oil and gas applications, we would need realistic process descriptions and review by domain specialists.</a:t>
            </a:r>
          </a:p>
          <a:p>
            <a:r>
              <a:rPr lang="en-US" dirty="0"/>
              <a:t>The project provides a working prototype and identifies concrete reliability problems to investigate further. Thank you. I would be happy to take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Справочный слайд для вопросов. Модели предобученные, обучение в проекте не выполнялось. Нефтегазовое применение служит мотивацией, эксперимент использует общие синтетические задачи.</a:t>
            </a:r>
          </a:p>
          <a:p>
            <a:endParaRPr/>
          </a:p>
          <a:p>
            <a:r>
              <a:t>Appendix A   Source files and official model cards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Удачный исходный результат: ветвление заказа. Покажите весь граф слева и увеличенный фрагмент справа. Yes ведёт к Reserve item, No к Request replenishment; обе ветви объединяются в Notify customer. Node F1=1, edge F1=1, exact=1; zero hard geometry errors. This is a selected success, not a representative estimate. No improvement claim.</a:t>
            </a:r>
          </a:p>
          <a:p>
            <a:r>
              <a:t>Images are unmodified saved PNGs. PowerPoint cropping removes only the indicated margins/stages. No new inference or reference-guided editing.</a:t>
            </a:r>
          </a:p>
          <a:p>
            <a:r>
              <a:t>Source: test_branch_01/B0/chart.png and scene.json. Enlarged branch detail at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Сложный цикл заявки: условие Application complete? должно отправлять No на Request missing documents с возвратом к Review application, а Yes на Submit application и далее к концу. B0 не содержит Submit to end и содержит лишний прямой выход из условия. B3 добавляет нужное Submit to end, но также неверное Submit to Request missing documents; прежний лишний выход остаётся. F1 0.857142857 to 0.875. Both graphs incorrect; geometry errors 1 to 1. Selected partial improvement, not a successful full correction. Crops omit initial start and Collect documents stages.</a:t>
            </a:r>
          </a:p>
          <a:p>
            <a:r>
              <a:t>Images are unmodified saved PNGs. PowerPoint cropping removes only the indicated margins/stages. No new inference or reference-guided editing.</a:t>
            </a:r>
          </a:p>
          <a:p>
            <a:r>
              <a:t>Source: test_loop_02/B0 and B3 chart.png. Detail: review, decision, loop and exit.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873484C-70DC-486A-997E-D2266E0BCAF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933F71D-BCE1-4924-BE98-F0C41BBCEAC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4B7A650-2EA4-4220-9187-6B631194A2A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CBDBDA-AA77-4BCD-9B20-2FEFF801692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A7B2F37-9ADE-44C5-AC30-6714C045C85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BADB037-7A34-4021-9562-7C36DEACB4A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C124860-3BBF-414B-AC50-C30FA4154B8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C8B961F-9BE8-44A9-986D-6BF605B0B4C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24964BF-7B08-4FCE-8CBA-F0C31781EC0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2565FE8-E9DC-4A81-B5B8-CF9977968CF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7B750B5F-7809-46D9-8EF3-111766397923}"/>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FlowRefine</a:t>
            </a:r>
          </a:p>
        </p:txBody>
      </p:sp>
      <p:sp>
        <p:nvSpPr>
          <p:cNvPr id="2" name="Прямоугольник 1">
            <a:extLst>
              <a:ext uri="{FF2B5EF4-FFF2-40B4-BE49-F238E27FC236}">
                <a16:creationId xmlns:a16="http://schemas.microsoft.com/office/drawing/2014/main" id="{C1B6F4CF-B1FA-43C3-B3C7-A5F16493408A}"/>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Generative AI final project   25 October 2026</a:t>
            </a:r>
          </a:p>
        </p:txBody>
      </p:sp>
      <p:sp>
        <p:nvSpPr>
          <p:cNvPr id="3" name="Прямоугольник 2">
            <a:extLst>
              <a:ext uri="{FF2B5EF4-FFF2-40B4-BE49-F238E27FC236}">
                <a16:creationId xmlns:a16="http://schemas.microsoft.com/office/drawing/2014/main" id="{24570ADD-D703-4348-958D-860B44D7150C}"/>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1</a:t>
            </a:r>
          </a:p>
        </p:txBody>
      </p:sp>
      <p:sp>
        <p:nvSpPr>
          <p:cNvPr id="4" name="Прямоугольник 3">
            <a:extLst>
              <a:ext uri="{FF2B5EF4-FFF2-40B4-BE49-F238E27FC236}">
                <a16:creationId xmlns:a16="http://schemas.microsoft.com/office/drawing/2014/main" id="{40A61E12-D5A1-43FC-996D-7F81DC34F1A0}"/>
              </a:ext>
            </a:extLst>
          </p:cNvPr>
          <p:cNvSpPr>
            <a:spLocks noGrp="1"/>
          </p:cNvSpPr>
          <p:nvPr/>
        </p:nvSpPr>
        <p:spPr>
          <a:xfrm>
            <a:off x="609600" y="1752600"/>
            <a:ext cx="10972800" cy="1476375"/>
          </a:xfrm>
          <a:prstGeom prst="rect">
            <a:avLst/>
          </a:prstGeom>
          <a:noFill/>
          <a:ln w="0">
            <a:noFill/>
          </a:ln>
        </p:spPr>
        <p:txBody>
          <a:bodyPr lIns="0" tIns="0" rIns="0" bIns="0" anchor="t"/>
          <a:lstStyle>
            <a:defPPr>
              <a:defRPr sz="3675" b="1">
                <a:solidFill>
                  <a:srgbClr val="1F4E79"/>
                </a:solidFill>
                <a:latin typeface="Arial"/>
                <a:ea typeface="Arial"/>
                <a:cs typeface="Arial"/>
              </a:defRPr>
            </a:defPPr>
            <a:lvl1pPr>
              <a:defRPr sz="3675" b="1">
                <a:solidFill>
                  <a:srgbClr val="1F4E79"/>
                </a:solidFill>
                <a:latin typeface="Arial"/>
                <a:ea typeface="Arial"/>
                <a:cs typeface="Arial"/>
              </a:defRPr>
            </a:lvl1pPr>
            <a:lvl2pPr>
              <a:defRPr sz="3675" b="1">
                <a:solidFill>
                  <a:srgbClr val="1F4E79"/>
                </a:solidFill>
                <a:latin typeface="Arial"/>
                <a:ea typeface="Arial"/>
                <a:cs typeface="Arial"/>
              </a:defRPr>
            </a:lvl2pPr>
            <a:lvl3pPr>
              <a:defRPr sz="3675" b="1">
                <a:solidFill>
                  <a:srgbClr val="1F4E79"/>
                </a:solidFill>
                <a:latin typeface="Arial"/>
                <a:ea typeface="Arial"/>
                <a:cs typeface="Arial"/>
              </a:defRPr>
            </a:lvl3pPr>
            <a:lvl4pPr>
              <a:defRPr sz="3675" b="1">
                <a:solidFill>
                  <a:srgbClr val="1F4E79"/>
                </a:solidFill>
                <a:latin typeface="Arial"/>
                <a:ea typeface="Arial"/>
                <a:cs typeface="Arial"/>
              </a:defRPr>
            </a:lvl4pPr>
            <a:lvl5pPr>
              <a:defRPr sz="3675" b="1">
                <a:solidFill>
                  <a:srgbClr val="1F4E79"/>
                </a:solidFill>
                <a:latin typeface="Arial"/>
                <a:ea typeface="Arial"/>
                <a:cs typeface="Arial"/>
              </a:defRPr>
            </a:lvl5pPr>
            <a:lvl6pPr>
              <a:defRPr sz="3675" b="1">
                <a:solidFill>
                  <a:srgbClr val="1F4E79"/>
                </a:solidFill>
                <a:latin typeface="Arial"/>
                <a:ea typeface="Arial"/>
                <a:cs typeface="Arial"/>
              </a:defRPr>
            </a:lvl6pPr>
            <a:lvl7pPr>
              <a:defRPr sz="3675" b="1">
                <a:solidFill>
                  <a:srgbClr val="1F4E79"/>
                </a:solidFill>
                <a:latin typeface="Arial"/>
                <a:ea typeface="Arial"/>
                <a:cs typeface="Arial"/>
              </a:defRPr>
            </a:lvl7pPr>
            <a:lvl8pPr>
              <a:defRPr sz="3675" b="1">
                <a:solidFill>
                  <a:srgbClr val="1F4E79"/>
                </a:solidFill>
                <a:latin typeface="Arial"/>
                <a:ea typeface="Arial"/>
                <a:cs typeface="Arial"/>
              </a:defRPr>
            </a:lvl8pPr>
            <a:lvl9pPr>
              <a:defRPr sz="3675" b="1">
                <a:solidFill>
                  <a:srgbClr val="1F4E79"/>
                </a:solidFill>
                <a:latin typeface="Arial"/>
                <a:ea typeface="Arial"/>
                <a:cs typeface="Arial"/>
              </a:defRPr>
            </a:lvl9pPr>
          </a:lstStyle>
          <a:p>
            <a:pPr>
              <a:defRPr sz="3675" b="1">
                <a:solidFill>
                  <a:srgbClr val="1F4E79"/>
                </a:solidFill>
                <a:latin typeface="Arial"/>
                <a:ea typeface="Arial"/>
                <a:cs typeface="Arial"/>
              </a:defRPr>
            </a:pPr>
            <a:r>
              <a:rPr sz="3675" b="1">
                <a:solidFill>
                  <a:srgbClr val="1F4E79"/>
                </a:solidFill>
                <a:latin typeface="Arial"/>
                <a:ea typeface="Arial"/>
                <a:cs typeface="Arial"/>
              </a:rPr>
              <a:t>Local generation and verification</a:t>
            </a:r>
          </a:p>
          <a:p>
            <a:pPr>
              <a:defRPr sz="3675" b="1">
                <a:solidFill>
                  <a:srgbClr val="1F4E79"/>
                </a:solidFill>
                <a:latin typeface="Arial"/>
                <a:ea typeface="Arial"/>
                <a:cs typeface="Arial"/>
              </a:defRPr>
            </a:pPr>
            <a:r>
              <a:rPr sz="3675" b="1">
                <a:solidFill>
                  <a:srgbClr val="1F4E79"/>
                </a:solidFill>
                <a:latin typeface="Arial"/>
                <a:ea typeface="Arial"/>
                <a:cs typeface="Arial"/>
              </a:rPr>
              <a:t>of editable process flowcharts</a:t>
            </a:r>
          </a:p>
        </p:txBody>
      </p:sp>
      <p:sp>
        <p:nvSpPr>
          <p:cNvPr id="5" name="Прямоугольник 4">
            <a:extLst>
              <a:ext uri="{FF2B5EF4-FFF2-40B4-BE49-F238E27FC236}">
                <a16:creationId xmlns:a16="http://schemas.microsoft.com/office/drawing/2014/main" id="{FF841009-E033-4AD9-B397-E14BA30482B9}"/>
              </a:ext>
            </a:extLst>
          </p:cNvPr>
          <p:cNvSpPr>
            <a:spLocks noGrp="1"/>
          </p:cNvSpPr>
          <p:nvPr/>
        </p:nvSpPr>
        <p:spPr>
          <a:xfrm>
            <a:off x="609600" y="3895725"/>
            <a:ext cx="10972800" cy="990600"/>
          </a:xfrm>
          <a:prstGeom prst="rect">
            <a:avLst/>
          </a:prstGeom>
          <a:noFill/>
          <a:ln w="0">
            <a:noFill/>
          </a:ln>
        </p:spPr>
        <p:txBody>
          <a:bodyPr lIns="0" tIns="0" rIns="0" bIns="0" anchor="t"/>
          <a:lstStyle>
            <a:defPPr>
              <a:defRPr sz="2400" b="0">
                <a:solidFill>
                  <a:srgbClr val="1F4E79"/>
                </a:solidFill>
                <a:latin typeface="Arial"/>
                <a:ea typeface="Arial"/>
                <a:cs typeface="Arial"/>
              </a:defRPr>
            </a:defPPr>
            <a:lvl1pPr>
              <a:defRPr sz="2400" b="0">
                <a:solidFill>
                  <a:srgbClr val="1F4E79"/>
                </a:solidFill>
                <a:latin typeface="Arial"/>
                <a:ea typeface="Arial"/>
                <a:cs typeface="Arial"/>
              </a:defRPr>
            </a:lvl1pPr>
            <a:lvl2pPr>
              <a:defRPr sz="2400" b="0">
                <a:solidFill>
                  <a:srgbClr val="1F4E79"/>
                </a:solidFill>
                <a:latin typeface="Arial"/>
                <a:ea typeface="Arial"/>
                <a:cs typeface="Arial"/>
              </a:defRPr>
            </a:lvl2pPr>
            <a:lvl3pPr>
              <a:defRPr sz="2400" b="0">
                <a:solidFill>
                  <a:srgbClr val="1F4E79"/>
                </a:solidFill>
                <a:latin typeface="Arial"/>
                <a:ea typeface="Arial"/>
                <a:cs typeface="Arial"/>
              </a:defRPr>
            </a:lvl3pPr>
            <a:lvl4pPr>
              <a:defRPr sz="2400" b="0">
                <a:solidFill>
                  <a:srgbClr val="1F4E79"/>
                </a:solidFill>
                <a:latin typeface="Arial"/>
                <a:ea typeface="Arial"/>
                <a:cs typeface="Arial"/>
              </a:defRPr>
            </a:lvl4pPr>
            <a:lvl5pPr>
              <a:defRPr sz="2400" b="0">
                <a:solidFill>
                  <a:srgbClr val="1F4E79"/>
                </a:solidFill>
                <a:latin typeface="Arial"/>
                <a:ea typeface="Arial"/>
                <a:cs typeface="Arial"/>
              </a:defRPr>
            </a:lvl5pPr>
            <a:lvl6pPr>
              <a:defRPr sz="2400" b="0">
                <a:solidFill>
                  <a:srgbClr val="1F4E79"/>
                </a:solidFill>
                <a:latin typeface="Arial"/>
                <a:ea typeface="Arial"/>
                <a:cs typeface="Arial"/>
              </a:defRPr>
            </a:lvl6pPr>
            <a:lvl7pPr>
              <a:defRPr sz="2400" b="0">
                <a:solidFill>
                  <a:srgbClr val="1F4E79"/>
                </a:solidFill>
                <a:latin typeface="Arial"/>
                <a:ea typeface="Arial"/>
                <a:cs typeface="Arial"/>
              </a:defRPr>
            </a:lvl7pPr>
            <a:lvl8pPr>
              <a:defRPr sz="2400" b="0">
                <a:solidFill>
                  <a:srgbClr val="1F4E79"/>
                </a:solidFill>
                <a:latin typeface="Arial"/>
                <a:ea typeface="Arial"/>
                <a:cs typeface="Arial"/>
              </a:defRPr>
            </a:lvl8pPr>
            <a:lvl9pPr>
              <a:defRPr sz="2400" b="0">
                <a:solidFill>
                  <a:srgbClr val="1F4E79"/>
                </a:solidFill>
                <a:latin typeface="Arial"/>
                <a:ea typeface="Arial"/>
                <a:cs typeface="Arial"/>
              </a:defRPr>
            </a:lvl9pPr>
          </a:lstStyle>
          <a:p>
            <a:pPr>
              <a:defRPr sz="2400" b="0">
                <a:solidFill>
                  <a:srgbClr val="1F4E79"/>
                </a:solidFill>
                <a:latin typeface="Arial"/>
                <a:ea typeface="Arial"/>
                <a:cs typeface="Arial"/>
              </a:defRPr>
            </a:pPr>
            <a:r>
              <a:rPr sz="2400" b="0">
                <a:solidFill>
                  <a:srgbClr val="1F4E79"/>
                </a:solidFill>
                <a:latin typeface="Arial"/>
                <a:ea typeface="Arial"/>
                <a:cs typeface="Arial"/>
              </a:rPr>
              <a:t>Motivation: process documentation</a:t>
            </a:r>
          </a:p>
          <a:p>
            <a:pPr>
              <a:defRPr sz="2400" b="0">
                <a:solidFill>
                  <a:srgbClr val="1F4E79"/>
                </a:solidFill>
                <a:latin typeface="Arial"/>
                <a:ea typeface="Arial"/>
                <a:cs typeface="Arial"/>
              </a:defRPr>
            </a:pPr>
            <a:r>
              <a:rPr sz="2400" b="0">
                <a:solidFill>
                  <a:srgbClr val="1F4E79"/>
                </a:solidFill>
                <a:latin typeface="Arial"/>
                <a:ea typeface="Arial"/>
                <a:cs typeface="Arial"/>
              </a:rPr>
              <a:t>in my oil and gas engineering field</a:t>
            </a:r>
          </a:p>
        </p:txBody>
      </p:sp>
      <p:sp>
        <p:nvSpPr>
          <p:cNvPr id="6" name="Прямоугольник 5">
            <a:extLst>
              <a:ext uri="{FF2B5EF4-FFF2-40B4-BE49-F238E27FC236}">
                <a16:creationId xmlns:a16="http://schemas.microsoft.com/office/drawing/2014/main" id="{1AD2DE87-9681-42C4-84BB-4968B3DBE249}"/>
              </a:ext>
            </a:extLst>
          </p:cNvPr>
          <p:cNvSpPr>
            <a:spLocks noGrp="1"/>
          </p:cNvSpPr>
          <p:nvPr/>
        </p:nvSpPr>
        <p:spPr>
          <a:xfrm>
            <a:off x="609600" y="5286375"/>
            <a:ext cx="10972800" cy="457200"/>
          </a:xfrm>
          <a:prstGeom prst="rect">
            <a:avLst/>
          </a:prstGeom>
          <a:noFill/>
          <a:ln w="0">
            <a:noFill/>
          </a:ln>
        </p:spPr>
        <p:txBody>
          <a:bodyPr lIns="0" tIns="0" rIns="0" bIns="0" anchor="t"/>
          <a:lstStyle>
            <a:defPPr>
              <a:defRPr sz="1950" b="0">
                <a:solidFill>
                  <a:srgbClr val="1F4E79"/>
                </a:solidFill>
                <a:latin typeface="Arial"/>
                <a:ea typeface="Arial"/>
                <a:cs typeface="Arial"/>
              </a:defRPr>
            </a:defPPr>
            <a:lvl1pPr>
              <a:defRPr sz="1950" b="0">
                <a:solidFill>
                  <a:srgbClr val="1F4E79"/>
                </a:solidFill>
                <a:latin typeface="Arial"/>
                <a:ea typeface="Arial"/>
                <a:cs typeface="Arial"/>
              </a:defRPr>
            </a:lvl1pPr>
            <a:lvl2pPr>
              <a:defRPr sz="1950" b="0">
                <a:solidFill>
                  <a:srgbClr val="1F4E79"/>
                </a:solidFill>
                <a:latin typeface="Arial"/>
                <a:ea typeface="Arial"/>
                <a:cs typeface="Arial"/>
              </a:defRPr>
            </a:lvl2pPr>
            <a:lvl3pPr>
              <a:defRPr sz="1950" b="0">
                <a:solidFill>
                  <a:srgbClr val="1F4E79"/>
                </a:solidFill>
                <a:latin typeface="Arial"/>
                <a:ea typeface="Arial"/>
                <a:cs typeface="Arial"/>
              </a:defRPr>
            </a:lvl3pPr>
            <a:lvl4pPr>
              <a:defRPr sz="1950" b="0">
                <a:solidFill>
                  <a:srgbClr val="1F4E79"/>
                </a:solidFill>
                <a:latin typeface="Arial"/>
                <a:ea typeface="Arial"/>
                <a:cs typeface="Arial"/>
              </a:defRPr>
            </a:lvl4pPr>
            <a:lvl5pPr>
              <a:defRPr sz="1950" b="0">
                <a:solidFill>
                  <a:srgbClr val="1F4E79"/>
                </a:solidFill>
                <a:latin typeface="Arial"/>
                <a:ea typeface="Arial"/>
                <a:cs typeface="Arial"/>
              </a:defRPr>
            </a:lvl5pPr>
            <a:lvl6pPr>
              <a:defRPr sz="1950" b="0">
                <a:solidFill>
                  <a:srgbClr val="1F4E79"/>
                </a:solidFill>
                <a:latin typeface="Arial"/>
                <a:ea typeface="Arial"/>
                <a:cs typeface="Arial"/>
              </a:defRPr>
            </a:lvl6pPr>
            <a:lvl7pPr>
              <a:defRPr sz="1950" b="0">
                <a:solidFill>
                  <a:srgbClr val="1F4E79"/>
                </a:solidFill>
                <a:latin typeface="Arial"/>
                <a:ea typeface="Arial"/>
                <a:cs typeface="Arial"/>
              </a:defRPr>
            </a:lvl7pPr>
            <a:lvl8pPr>
              <a:defRPr sz="1950" b="0">
                <a:solidFill>
                  <a:srgbClr val="1F4E79"/>
                </a:solidFill>
                <a:latin typeface="Arial"/>
                <a:ea typeface="Arial"/>
                <a:cs typeface="Arial"/>
              </a:defRPr>
            </a:lvl8pPr>
            <a:lvl9pPr>
              <a:defRPr sz="1950" b="0">
                <a:solidFill>
                  <a:srgbClr val="1F4E79"/>
                </a:solidFill>
                <a:latin typeface="Arial"/>
                <a:ea typeface="Arial"/>
                <a:cs typeface="Arial"/>
              </a:defRPr>
            </a:lvl9pPr>
          </a:lstStyle>
          <a:p>
            <a:pPr>
              <a:defRPr sz="1950" b="0">
                <a:solidFill>
                  <a:srgbClr val="1F4E79"/>
                </a:solidFill>
                <a:latin typeface="Arial"/>
                <a:ea typeface="Arial"/>
                <a:cs typeface="Arial"/>
              </a:defRPr>
            </a:pPr>
            <a:r>
              <a:rPr sz="1950" b="0">
                <a:solidFill>
                  <a:srgbClr val="1F4E79"/>
                </a:solidFill>
                <a:latin typeface="Arial"/>
                <a:ea typeface="Arial"/>
                <a:cs typeface="Arial"/>
              </a:rPr>
              <a:t>General synthetic tasks, with CPU and GPU experiments</a:t>
            </a:r>
          </a:p>
        </p:txBody>
      </p:sp>
    </p:spTree>
    <p:extLst>
      <p:ext uri="{BB962C8B-B14F-4D97-AF65-F5344CB8AC3E}">
        <p14:creationId xmlns:p14="http://schemas.microsoft.com/office/powerpoint/2010/main" val="2074224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Прямоугольник 11">
            <a:extLst>
              <a:ext uri="{FF2B5EF4-FFF2-40B4-BE49-F238E27FC236}">
                <a16:creationId xmlns:a16="http://schemas.microsoft.com/office/drawing/2014/main" id="{829EE45C-833A-4009-B94C-C08C3FA92EB3}"/>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Can feedback improve a generated flowchart?</a:t>
            </a:r>
          </a:p>
        </p:txBody>
      </p:sp>
      <p:sp>
        <p:nvSpPr>
          <p:cNvPr id="2" name="Прямоугольник 1">
            <a:extLst>
              <a:ext uri="{FF2B5EF4-FFF2-40B4-BE49-F238E27FC236}">
                <a16:creationId xmlns:a16="http://schemas.microsoft.com/office/drawing/2014/main" id="{82DD064B-5CD7-4C16-B0A1-1D828E74FCF1}"/>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Sources: frozen protocol and original task descriptions</a:t>
            </a:r>
          </a:p>
        </p:txBody>
      </p:sp>
      <p:sp>
        <p:nvSpPr>
          <p:cNvPr id="3" name="Прямоугольник 2">
            <a:extLst>
              <a:ext uri="{FF2B5EF4-FFF2-40B4-BE49-F238E27FC236}">
                <a16:creationId xmlns:a16="http://schemas.microsoft.com/office/drawing/2014/main" id="{A691C13B-FE45-43C7-903A-0547A4DD84E4}"/>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2</a:t>
            </a:r>
          </a:p>
        </p:txBody>
      </p:sp>
      <p:sp>
        <p:nvSpPr>
          <p:cNvPr id="4" name="Прямоугольник 3">
            <a:extLst>
              <a:ext uri="{FF2B5EF4-FFF2-40B4-BE49-F238E27FC236}">
                <a16:creationId xmlns:a16="http://schemas.microsoft.com/office/drawing/2014/main" id="{298FA055-6AD5-491C-B9CA-00FE6CF38123}"/>
              </a:ext>
            </a:extLst>
          </p:cNvPr>
          <p:cNvSpPr>
            <a:spLocks noGrp="1"/>
          </p:cNvSpPr>
          <p:nvPr/>
        </p:nvSpPr>
        <p:spPr>
          <a:xfrm>
            <a:off x="609600" y="1714500"/>
            <a:ext cx="5238750" cy="381000"/>
          </a:xfrm>
          <a:prstGeom prst="rect">
            <a:avLst/>
          </a:prstGeom>
          <a:noFill/>
          <a:ln w="0">
            <a:noFill/>
          </a:ln>
        </p:spPr>
        <p:txBody>
          <a:bodyPr lIns="0" tIns="0" rIns="0" bIns="0" anchor="t"/>
          <a:lstStyle>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a:pPr>
              <a:defRPr sz="2250" b="1">
                <a:solidFill>
                  <a:srgbClr val="1F4E79"/>
                </a:solidFill>
                <a:latin typeface="Arial"/>
                <a:ea typeface="Arial"/>
                <a:cs typeface="Arial"/>
              </a:defRPr>
            </a:pPr>
            <a:r>
              <a:rPr sz="2250" b="1">
                <a:solidFill>
                  <a:srgbClr val="1F4E79"/>
                </a:solidFill>
                <a:latin typeface="Arial"/>
                <a:ea typeface="Arial"/>
                <a:cs typeface="Arial"/>
              </a:rPr>
              <a:t>Editable graph</a:t>
            </a:r>
          </a:p>
        </p:txBody>
      </p:sp>
      <p:sp>
        <p:nvSpPr>
          <p:cNvPr id="5" name="Прямоугольник 4">
            <a:extLst>
              <a:ext uri="{FF2B5EF4-FFF2-40B4-BE49-F238E27FC236}">
                <a16:creationId xmlns:a16="http://schemas.microsoft.com/office/drawing/2014/main" id="{85DAFC3E-983A-4CD6-BCDB-183356383C06}"/>
              </a:ext>
            </a:extLst>
          </p:cNvPr>
          <p:cNvSpPr>
            <a:spLocks noGrp="1"/>
          </p:cNvSpPr>
          <p:nvPr/>
        </p:nvSpPr>
        <p:spPr>
          <a:xfrm>
            <a:off x="609600" y="2381250"/>
            <a:ext cx="5334000" cy="762000"/>
          </a:xfrm>
          <a:prstGeom prst="rect">
            <a:avLst/>
          </a:prstGeom>
          <a:noFill/>
          <a:ln w="0">
            <a:noFill/>
          </a:ln>
        </p:spPr>
        <p:txBody>
          <a:bodyPr lIns="0" tIns="0" rIns="0" bIns="0" anchor="t"/>
          <a:lstStyle>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a:pPr>
              <a:defRPr sz="2100" b="0">
                <a:solidFill>
                  <a:srgbClr val="1F4E79"/>
                </a:solidFill>
                <a:latin typeface="Arial"/>
                <a:ea typeface="Arial"/>
                <a:cs typeface="Arial"/>
              </a:defRPr>
            </a:pPr>
            <a:r>
              <a:rPr sz="2100" b="0">
                <a:solidFill>
                  <a:srgbClr val="1F4E79"/>
                </a:solidFill>
                <a:latin typeface="Arial"/>
                <a:ea typeface="Arial"/>
                <a:cs typeface="Arial"/>
              </a:rPr>
              <a:t>Nodes: steps and decisions</a:t>
            </a:r>
          </a:p>
        </p:txBody>
      </p:sp>
      <p:sp>
        <p:nvSpPr>
          <p:cNvPr id="6" name="Прямоугольник 5">
            <a:extLst>
              <a:ext uri="{FF2B5EF4-FFF2-40B4-BE49-F238E27FC236}">
                <a16:creationId xmlns:a16="http://schemas.microsoft.com/office/drawing/2014/main" id="{EE39DC64-8174-4D56-B568-73AC06F9752A}"/>
              </a:ext>
            </a:extLst>
          </p:cNvPr>
          <p:cNvSpPr>
            <a:spLocks noGrp="1"/>
          </p:cNvSpPr>
          <p:nvPr/>
        </p:nvSpPr>
        <p:spPr>
          <a:xfrm>
            <a:off x="609600" y="3257550"/>
            <a:ext cx="5334000" cy="762000"/>
          </a:xfrm>
          <a:prstGeom prst="rect">
            <a:avLst/>
          </a:prstGeom>
          <a:noFill/>
          <a:ln w="0">
            <a:noFill/>
          </a:ln>
        </p:spPr>
        <p:txBody>
          <a:bodyPr lIns="0" tIns="0" rIns="0" bIns="0" anchor="t"/>
          <a:lstStyle>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a:pPr>
              <a:defRPr sz="2100" b="0">
                <a:solidFill>
                  <a:srgbClr val="1F4E79"/>
                </a:solidFill>
                <a:latin typeface="Arial"/>
                <a:ea typeface="Arial"/>
                <a:cs typeface="Arial"/>
              </a:defRPr>
            </a:pPr>
            <a:r>
              <a:rPr sz="2100" b="0">
                <a:solidFill>
                  <a:srgbClr val="1F4E79"/>
                </a:solidFill>
                <a:latin typeface="Arial"/>
                <a:ea typeface="Arial"/>
                <a:cs typeface="Arial"/>
              </a:rPr>
              <a:t>Directed edges: process logic</a:t>
            </a:r>
          </a:p>
        </p:txBody>
      </p:sp>
      <p:sp>
        <p:nvSpPr>
          <p:cNvPr id="7" name="Прямоугольник 6">
            <a:extLst>
              <a:ext uri="{FF2B5EF4-FFF2-40B4-BE49-F238E27FC236}">
                <a16:creationId xmlns:a16="http://schemas.microsoft.com/office/drawing/2014/main" id="{B2A2CF72-8368-41F2-807B-40E2D51F7314}"/>
              </a:ext>
            </a:extLst>
          </p:cNvPr>
          <p:cNvSpPr>
            <a:spLocks noGrp="1"/>
          </p:cNvSpPr>
          <p:nvPr/>
        </p:nvSpPr>
        <p:spPr>
          <a:xfrm>
            <a:off x="609600" y="4133850"/>
            <a:ext cx="5334000" cy="762000"/>
          </a:xfrm>
          <a:prstGeom prst="rect">
            <a:avLst/>
          </a:prstGeom>
          <a:noFill/>
          <a:ln w="0">
            <a:noFill/>
          </a:ln>
        </p:spPr>
        <p:txBody>
          <a:bodyPr lIns="0" tIns="0" rIns="0" bIns="0" anchor="t"/>
          <a:lstStyle>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a:pPr>
              <a:defRPr sz="2100" b="0">
                <a:solidFill>
                  <a:srgbClr val="1F4E79"/>
                </a:solidFill>
                <a:latin typeface="Arial"/>
                <a:ea typeface="Arial"/>
                <a:cs typeface="Arial"/>
              </a:defRPr>
            </a:pPr>
            <a:r>
              <a:rPr sz="2100" b="0">
                <a:solidFill>
                  <a:srgbClr val="1F4E79"/>
                </a:solidFill>
                <a:latin typeface="Arial"/>
                <a:ea typeface="Arial"/>
                <a:cs typeface="Arial"/>
              </a:rPr>
              <a:t>JSON scene rendered as SVG / PNG</a:t>
            </a:r>
          </a:p>
        </p:txBody>
      </p:sp>
      <p:sp>
        <p:nvSpPr>
          <p:cNvPr id="8" name="Прямоугольник 7">
            <a:extLst>
              <a:ext uri="{FF2B5EF4-FFF2-40B4-BE49-F238E27FC236}">
                <a16:creationId xmlns:a16="http://schemas.microsoft.com/office/drawing/2014/main" id="{451F3783-3D0F-41C9-BA1D-C978E5C5ACF7}"/>
              </a:ext>
            </a:extLst>
          </p:cNvPr>
          <p:cNvSpPr>
            <a:spLocks noGrp="1"/>
          </p:cNvSpPr>
          <p:nvPr/>
        </p:nvSpPr>
        <p:spPr>
          <a:xfrm>
            <a:off x="6858000" y="1714500"/>
            <a:ext cx="4572000" cy="381000"/>
          </a:xfrm>
          <a:prstGeom prst="rect">
            <a:avLst/>
          </a:prstGeom>
          <a:noFill/>
          <a:ln w="0">
            <a:noFill/>
          </a:ln>
        </p:spPr>
        <p:txBody>
          <a:bodyPr lIns="0" tIns="0" rIns="0" bIns="0" anchor="t"/>
          <a:lstStyle>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a:pPr>
              <a:defRPr sz="2250" b="1">
                <a:solidFill>
                  <a:srgbClr val="1F4E79"/>
                </a:solidFill>
                <a:latin typeface="Arial"/>
                <a:ea typeface="Arial"/>
                <a:cs typeface="Arial"/>
              </a:defRPr>
            </a:pPr>
            <a:r>
              <a:rPr sz="2250" b="1">
                <a:solidFill>
                  <a:srgbClr val="1F4E79"/>
                </a:solidFill>
                <a:latin typeface="Arial"/>
                <a:ea typeface="Arial"/>
                <a:cs typeface="Arial"/>
              </a:rPr>
              <a:t>Evaluation after one edit</a:t>
            </a:r>
          </a:p>
        </p:txBody>
      </p:sp>
      <p:sp>
        <p:nvSpPr>
          <p:cNvPr id="9" name="Прямоугольник 8">
            <a:extLst>
              <a:ext uri="{FF2B5EF4-FFF2-40B4-BE49-F238E27FC236}">
                <a16:creationId xmlns:a16="http://schemas.microsoft.com/office/drawing/2014/main" id="{EF56B179-8270-4774-879F-5105A1B38F46}"/>
              </a:ext>
            </a:extLst>
          </p:cNvPr>
          <p:cNvSpPr>
            <a:spLocks noGrp="1"/>
          </p:cNvSpPr>
          <p:nvPr/>
        </p:nvSpPr>
        <p:spPr>
          <a:xfrm>
            <a:off x="6858000" y="2381250"/>
            <a:ext cx="4572000" cy="762000"/>
          </a:xfrm>
          <a:prstGeom prst="rect">
            <a:avLst/>
          </a:prstGeom>
          <a:noFill/>
          <a:ln w="0">
            <a:noFill/>
          </a:ln>
        </p:spPr>
        <p:txBody>
          <a:bodyPr lIns="0" tIns="0" rIns="0" bIns="0" anchor="t"/>
          <a:lstStyle>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a:pPr>
              <a:defRPr sz="2100" b="0">
                <a:solidFill>
                  <a:srgbClr val="1F4E79"/>
                </a:solidFill>
                <a:latin typeface="Arial"/>
                <a:ea typeface="Arial"/>
                <a:cs typeface="Arial"/>
              </a:defRPr>
            </a:pPr>
            <a:r>
              <a:rPr sz="2100" b="0">
                <a:solidFill>
                  <a:srgbClr val="1F4E79"/>
                </a:solidFill>
                <a:latin typeface="Arial"/>
                <a:ea typeface="Arial"/>
                <a:cs typeface="Arial"/>
              </a:rPr>
              <a:t>Exact graph match</a:t>
            </a:r>
          </a:p>
        </p:txBody>
      </p:sp>
      <p:sp>
        <p:nvSpPr>
          <p:cNvPr id="10" name="Прямоугольник 9">
            <a:extLst>
              <a:ext uri="{FF2B5EF4-FFF2-40B4-BE49-F238E27FC236}">
                <a16:creationId xmlns:a16="http://schemas.microsoft.com/office/drawing/2014/main" id="{54BE0C17-E1CB-4FB2-A7EC-2E7A85020975}"/>
              </a:ext>
            </a:extLst>
          </p:cNvPr>
          <p:cNvSpPr>
            <a:spLocks noGrp="1"/>
          </p:cNvSpPr>
          <p:nvPr/>
        </p:nvSpPr>
        <p:spPr>
          <a:xfrm>
            <a:off x="6858000" y="3257550"/>
            <a:ext cx="4572000" cy="762000"/>
          </a:xfrm>
          <a:prstGeom prst="rect">
            <a:avLst/>
          </a:prstGeom>
          <a:noFill/>
          <a:ln w="0">
            <a:noFill/>
          </a:ln>
        </p:spPr>
        <p:txBody>
          <a:bodyPr lIns="0" tIns="0" rIns="0" bIns="0" anchor="t"/>
          <a:lstStyle>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a:pPr>
              <a:defRPr sz="2100" b="0">
                <a:solidFill>
                  <a:srgbClr val="1F4E79"/>
                </a:solidFill>
                <a:latin typeface="Arial"/>
                <a:ea typeface="Arial"/>
                <a:cs typeface="Arial"/>
              </a:defRPr>
            </a:pPr>
            <a:r>
              <a:rPr sz="2100" b="0">
                <a:solidFill>
                  <a:srgbClr val="1F4E79"/>
                </a:solidFill>
                <a:latin typeface="Arial"/>
                <a:ea typeface="Arial"/>
                <a:cs typeface="Arial"/>
              </a:rPr>
              <a:t>Node F1 and edge F1</a:t>
            </a:r>
          </a:p>
        </p:txBody>
      </p:sp>
      <p:sp>
        <p:nvSpPr>
          <p:cNvPr id="11" name="Прямоугольник 10">
            <a:extLst>
              <a:ext uri="{FF2B5EF4-FFF2-40B4-BE49-F238E27FC236}">
                <a16:creationId xmlns:a16="http://schemas.microsoft.com/office/drawing/2014/main" id="{E8849B89-2AE6-41EF-A820-47DBD40B1CB4}"/>
              </a:ext>
            </a:extLst>
          </p:cNvPr>
          <p:cNvSpPr>
            <a:spLocks noGrp="1"/>
          </p:cNvSpPr>
          <p:nvPr/>
        </p:nvSpPr>
        <p:spPr>
          <a:xfrm>
            <a:off x="6858000" y="4133850"/>
            <a:ext cx="4572000" cy="762000"/>
          </a:xfrm>
          <a:prstGeom prst="rect">
            <a:avLst/>
          </a:prstGeom>
          <a:noFill/>
          <a:ln w="0">
            <a:noFill/>
          </a:ln>
        </p:spPr>
        <p:txBody>
          <a:bodyPr lIns="0" tIns="0" rIns="0" bIns="0" anchor="t"/>
          <a:lstStyle>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a:pPr>
              <a:defRPr sz="2100" b="0">
                <a:solidFill>
                  <a:srgbClr val="1F4E79"/>
                </a:solidFill>
                <a:latin typeface="Arial"/>
                <a:ea typeface="Arial"/>
                <a:cs typeface="Arial"/>
              </a:defRPr>
            </a:pPr>
            <a:r>
              <a:rPr sz="2100" b="0">
                <a:solidFill>
                  <a:srgbClr val="1F4E79"/>
                </a:solidFill>
                <a:latin typeface="Arial"/>
                <a:ea typeface="Arial"/>
                <a:cs typeface="Arial"/>
              </a:rPr>
              <a:t>Separate geometry checks</a:t>
            </a:r>
          </a:p>
        </p:txBody>
      </p:sp>
    </p:spTree>
    <p:extLst>
      <p:ext uri="{BB962C8B-B14F-4D97-AF65-F5344CB8AC3E}">
        <p14:creationId xmlns:p14="http://schemas.microsoft.com/office/powerpoint/2010/main" val="1564986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Прямоугольник 26">
            <a:extLst>
              <a:ext uri="{FF2B5EF4-FFF2-40B4-BE49-F238E27FC236}">
                <a16:creationId xmlns:a16="http://schemas.microsoft.com/office/drawing/2014/main" id="{09FE1B65-A563-4CE1-8FAC-9F4290A29B78}"/>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The architecture separates generation and verification</a:t>
            </a:r>
          </a:p>
        </p:txBody>
      </p:sp>
      <p:sp>
        <p:nvSpPr>
          <p:cNvPr id="2" name="Прямоугольник 1">
            <a:extLst>
              <a:ext uri="{FF2B5EF4-FFF2-40B4-BE49-F238E27FC236}">
                <a16:creationId xmlns:a16="http://schemas.microsoft.com/office/drawing/2014/main" id="{055C72F0-3F0F-446F-A0FE-B79E9A4F19FE}"/>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 pipeline implementation and frozen_protocol.json</a:t>
            </a:r>
          </a:p>
        </p:txBody>
      </p:sp>
      <p:sp>
        <p:nvSpPr>
          <p:cNvPr id="3" name="Прямоугольник 2">
            <a:extLst>
              <a:ext uri="{FF2B5EF4-FFF2-40B4-BE49-F238E27FC236}">
                <a16:creationId xmlns:a16="http://schemas.microsoft.com/office/drawing/2014/main" id="{708BF2C6-508F-440D-BA73-8D312F9675FA}"/>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3</a:t>
            </a:r>
          </a:p>
        </p:txBody>
      </p:sp>
      <p:sp>
        <p:nvSpPr>
          <p:cNvPr id="4" name="Прямоугольник 3">
            <a:extLst>
              <a:ext uri="{FF2B5EF4-FFF2-40B4-BE49-F238E27FC236}">
                <a16:creationId xmlns:a16="http://schemas.microsoft.com/office/drawing/2014/main" id="{FA6CA88F-4ECE-424E-9A3B-4D9FFE987710}"/>
              </a:ext>
            </a:extLst>
          </p:cNvPr>
          <p:cNvSpPr>
            <a:spLocks noGrp="1"/>
          </p:cNvSpPr>
          <p:nvPr/>
        </p:nvSpPr>
        <p:spPr>
          <a:xfrm>
            <a:off x="609600" y="1809750"/>
            <a:ext cx="3143250" cy="714375"/>
          </a:xfrm>
          <a:prstGeom prst="rect">
            <a:avLst/>
          </a:prstGeom>
          <a:solidFill>
            <a:srgbClr val="FFFFFF"/>
          </a:solidFill>
          <a:ln w="12383">
            <a:solidFill>
              <a:srgbClr val="1F4E79"/>
            </a:solidFill>
          </a:ln>
        </p:spPr>
        <p:txBody>
          <a:bodyPr lIns="76200" tIns="76200" rIns="76200" bIns="76200" anchor="ctr"/>
          <a:lstStyle>
            <a:defPPr algn="ctr">
              <a:defRPr sz="1950">
                <a:solidFill>
                  <a:srgbClr val="1F4E79"/>
                </a:solidFill>
                <a:latin typeface="Arial"/>
                <a:ea typeface="Arial"/>
                <a:cs typeface="Arial"/>
              </a:defRPr>
            </a:defPPr>
            <a:lvl1pPr algn="ctr">
              <a:defRPr sz="1950">
                <a:solidFill>
                  <a:srgbClr val="1F4E79"/>
                </a:solidFill>
                <a:latin typeface="Arial"/>
                <a:ea typeface="Arial"/>
                <a:cs typeface="Arial"/>
              </a:defRPr>
            </a:lvl1pPr>
            <a:lvl2pPr algn="ctr">
              <a:defRPr sz="1950">
                <a:solidFill>
                  <a:srgbClr val="1F4E79"/>
                </a:solidFill>
                <a:latin typeface="Arial"/>
                <a:ea typeface="Arial"/>
                <a:cs typeface="Arial"/>
              </a:defRPr>
            </a:lvl2pPr>
            <a:lvl3pPr algn="ctr">
              <a:defRPr sz="1950">
                <a:solidFill>
                  <a:srgbClr val="1F4E79"/>
                </a:solidFill>
                <a:latin typeface="Arial"/>
                <a:ea typeface="Arial"/>
                <a:cs typeface="Arial"/>
              </a:defRPr>
            </a:lvl3pPr>
            <a:lvl4pPr algn="ctr">
              <a:defRPr sz="1950">
                <a:solidFill>
                  <a:srgbClr val="1F4E79"/>
                </a:solidFill>
                <a:latin typeface="Arial"/>
                <a:ea typeface="Arial"/>
                <a:cs typeface="Arial"/>
              </a:defRPr>
            </a:lvl4pPr>
            <a:lvl5pPr algn="ctr">
              <a:defRPr sz="1950">
                <a:solidFill>
                  <a:srgbClr val="1F4E79"/>
                </a:solidFill>
                <a:latin typeface="Arial"/>
                <a:ea typeface="Arial"/>
                <a:cs typeface="Arial"/>
              </a:defRPr>
            </a:lvl5pPr>
            <a:lvl6pPr algn="ctr">
              <a:defRPr sz="1950">
                <a:solidFill>
                  <a:srgbClr val="1F4E79"/>
                </a:solidFill>
                <a:latin typeface="Arial"/>
                <a:ea typeface="Arial"/>
                <a:cs typeface="Arial"/>
              </a:defRPr>
            </a:lvl6pPr>
            <a:lvl7pPr algn="ctr">
              <a:defRPr sz="1950">
                <a:solidFill>
                  <a:srgbClr val="1F4E79"/>
                </a:solidFill>
                <a:latin typeface="Arial"/>
                <a:ea typeface="Arial"/>
                <a:cs typeface="Arial"/>
              </a:defRPr>
            </a:lvl7pPr>
            <a:lvl8pPr algn="ctr">
              <a:defRPr sz="1950">
                <a:solidFill>
                  <a:srgbClr val="1F4E79"/>
                </a:solidFill>
                <a:latin typeface="Arial"/>
                <a:ea typeface="Arial"/>
                <a:cs typeface="Arial"/>
              </a:defRPr>
            </a:lvl8pPr>
            <a:lvl9pPr algn="ctr">
              <a:defRPr sz="1950">
                <a:solidFill>
                  <a:srgbClr val="1F4E79"/>
                </a:solidFill>
                <a:latin typeface="Arial"/>
                <a:ea typeface="Arial"/>
                <a:cs typeface="Arial"/>
              </a:defRPr>
            </a:lvl9pPr>
          </a:lstStyle>
          <a:p>
            <a:pPr algn="ctr">
              <a:defRPr sz="1950">
                <a:solidFill>
                  <a:srgbClr val="1F4E79"/>
                </a:solidFill>
                <a:latin typeface="Arial"/>
                <a:ea typeface="Arial"/>
                <a:cs typeface="Arial"/>
              </a:defRPr>
            </a:pPr>
            <a:r>
              <a:rPr sz="1950">
                <a:solidFill>
                  <a:srgbClr val="1F4E79"/>
                </a:solidFill>
                <a:latin typeface="Arial"/>
                <a:ea typeface="Arial"/>
                <a:cs typeface="Arial"/>
              </a:rPr>
              <a:t>Process description</a:t>
            </a:r>
          </a:p>
        </p:txBody>
      </p:sp>
      <p:sp>
        <p:nvSpPr>
          <p:cNvPr id="5" name="Прямоугольник 4">
            <a:extLst>
              <a:ext uri="{FF2B5EF4-FFF2-40B4-BE49-F238E27FC236}">
                <a16:creationId xmlns:a16="http://schemas.microsoft.com/office/drawing/2014/main" id="{A0828F44-A4B0-4CE7-BDEB-7F5E8EB7D47F}"/>
              </a:ext>
            </a:extLst>
          </p:cNvPr>
          <p:cNvSpPr>
            <a:spLocks noGrp="1"/>
          </p:cNvSpPr>
          <p:nvPr/>
        </p:nvSpPr>
        <p:spPr>
          <a:xfrm>
            <a:off x="4476750" y="1809750"/>
            <a:ext cx="3143250" cy="857250"/>
          </a:xfrm>
          <a:prstGeom prst="rect">
            <a:avLst/>
          </a:prstGeom>
          <a:solidFill>
            <a:srgbClr val="FFFFFF"/>
          </a:solidFill>
          <a:ln w="12383">
            <a:solidFill>
              <a:srgbClr val="1F4E79"/>
            </a:solidFill>
          </a:ln>
        </p:spPr>
        <p:txBody>
          <a:bodyPr lIns="76200" tIns="76200" rIns="76200" bIns="76200" anchor="ctr"/>
          <a:lstStyle>
            <a:defPPr algn="ctr">
              <a:defRPr sz="1950">
                <a:solidFill>
                  <a:srgbClr val="1F4E79"/>
                </a:solidFill>
                <a:latin typeface="Arial"/>
                <a:ea typeface="Arial"/>
                <a:cs typeface="Arial"/>
              </a:defRPr>
            </a:defPPr>
            <a:lvl1pPr algn="ctr">
              <a:defRPr sz="1950">
                <a:solidFill>
                  <a:srgbClr val="1F4E79"/>
                </a:solidFill>
                <a:latin typeface="Arial"/>
                <a:ea typeface="Arial"/>
                <a:cs typeface="Arial"/>
              </a:defRPr>
            </a:lvl1pPr>
            <a:lvl2pPr algn="ctr">
              <a:defRPr sz="1950">
                <a:solidFill>
                  <a:srgbClr val="1F4E79"/>
                </a:solidFill>
                <a:latin typeface="Arial"/>
                <a:ea typeface="Arial"/>
                <a:cs typeface="Arial"/>
              </a:defRPr>
            </a:lvl2pPr>
            <a:lvl3pPr algn="ctr">
              <a:defRPr sz="1950">
                <a:solidFill>
                  <a:srgbClr val="1F4E79"/>
                </a:solidFill>
                <a:latin typeface="Arial"/>
                <a:ea typeface="Arial"/>
                <a:cs typeface="Arial"/>
              </a:defRPr>
            </a:lvl3pPr>
            <a:lvl4pPr algn="ctr">
              <a:defRPr sz="1950">
                <a:solidFill>
                  <a:srgbClr val="1F4E79"/>
                </a:solidFill>
                <a:latin typeface="Arial"/>
                <a:ea typeface="Arial"/>
                <a:cs typeface="Arial"/>
              </a:defRPr>
            </a:lvl4pPr>
            <a:lvl5pPr algn="ctr">
              <a:defRPr sz="1950">
                <a:solidFill>
                  <a:srgbClr val="1F4E79"/>
                </a:solidFill>
                <a:latin typeface="Arial"/>
                <a:ea typeface="Arial"/>
                <a:cs typeface="Arial"/>
              </a:defRPr>
            </a:lvl5pPr>
            <a:lvl6pPr algn="ctr">
              <a:defRPr sz="1950">
                <a:solidFill>
                  <a:srgbClr val="1F4E79"/>
                </a:solidFill>
                <a:latin typeface="Arial"/>
                <a:ea typeface="Arial"/>
                <a:cs typeface="Arial"/>
              </a:defRPr>
            </a:lvl6pPr>
            <a:lvl7pPr algn="ctr">
              <a:defRPr sz="1950">
                <a:solidFill>
                  <a:srgbClr val="1F4E79"/>
                </a:solidFill>
                <a:latin typeface="Arial"/>
                <a:ea typeface="Arial"/>
                <a:cs typeface="Arial"/>
              </a:defRPr>
            </a:lvl7pPr>
            <a:lvl8pPr algn="ctr">
              <a:defRPr sz="1950">
                <a:solidFill>
                  <a:srgbClr val="1F4E79"/>
                </a:solidFill>
                <a:latin typeface="Arial"/>
                <a:ea typeface="Arial"/>
                <a:cs typeface="Arial"/>
              </a:defRPr>
            </a:lvl8pPr>
            <a:lvl9pPr algn="ctr">
              <a:defRPr sz="1950">
                <a:solidFill>
                  <a:srgbClr val="1F4E79"/>
                </a:solidFill>
                <a:latin typeface="Arial"/>
                <a:ea typeface="Arial"/>
                <a:cs typeface="Arial"/>
              </a:defRPr>
            </a:lvl9pPr>
          </a:lstStyle>
          <a:p>
            <a:pPr algn="ctr">
              <a:defRPr sz="1950">
                <a:solidFill>
                  <a:srgbClr val="1F4E79"/>
                </a:solidFill>
                <a:latin typeface="Arial"/>
                <a:ea typeface="Arial"/>
                <a:cs typeface="Arial"/>
              </a:defRPr>
            </a:pPr>
            <a:r>
              <a:rPr sz="1950">
                <a:solidFill>
                  <a:srgbClr val="1F4E79"/>
                </a:solidFill>
                <a:latin typeface="Arial"/>
                <a:ea typeface="Arial"/>
                <a:cs typeface="Arial"/>
              </a:rPr>
              <a:t>Text model</a:t>
            </a:r>
          </a:p>
          <a:p>
            <a:pPr algn="ctr">
              <a:defRPr sz="1950">
                <a:solidFill>
                  <a:srgbClr val="1F4E79"/>
                </a:solidFill>
                <a:latin typeface="Arial"/>
                <a:ea typeface="Arial"/>
                <a:cs typeface="Arial"/>
              </a:defRPr>
            </a:pPr>
            <a:r>
              <a:rPr sz="1950">
                <a:solidFill>
                  <a:srgbClr val="1F4E79"/>
                </a:solidFill>
                <a:latin typeface="Arial"/>
                <a:ea typeface="Arial"/>
                <a:cs typeface="Arial"/>
              </a:rPr>
              <a:t>JSON graph B0</a:t>
            </a:r>
          </a:p>
        </p:txBody>
      </p:sp>
      <p:sp>
        <p:nvSpPr>
          <p:cNvPr id="6" name="Прямоугольник 5">
            <a:extLst>
              <a:ext uri="{FF2B5EF4-FFF2-40B4-BE49-F238E27FC236}">
                <a16:creationId xmlns:a16="http://schemas.microsoft.com/office/drawing/2014/main" id="{1BC49814-5578-44EE-95D9-8B8EDD3BF712}"/>
              </a:ext>
            </a:extLst>
          </p:cNvPr>
          <p:cNvSpPr>
            <a:spLocks noGrp="1"/>
          </p:cNvSpPr>
          <p:nvPr/>
        </p:nvSpPr>
        <p:spPr>
          <a:xfrm>
            <a:off x="8343900" y="1809750"/>
            <a:ext cx="3143250" cy="857250"/>
          </a:xfrm>
          <a:prstGeom prst="rect">
            <a:avLst/>
          </a:prstGeom>
          <a:solidFill>
            <a:srgbClr val="FFFFFF"/>
          </a:solidFill>
          <a:ln w="12383">
            <a:solidFill>
              <a:srgbClr val="1F4E79"/>
            </a:solidFill>
          </a:ln>
        </p:spPr>
        <p:txBody>
          <a:bodyPr lIns="76200" tIns="76200" rIns="76200" bIns="76200" anchor="ctr"/>
          <a:lstStyle>
            <a:defPPr algn="ctr">
              <a:defRPr sz="1950">
                <a:solidFill>
                  <a:srgbClr val="1F4E79"/>
                </a:solidFill>
                <a:latin typeface="Arial"/>
                <a:ea typeface="Arial"/>
                <a:cs typeface="Arial"/>
              </a:defRPr>
            </a:defPPr>
            <a:lvl1pPr algn="ctr">
              <a:defRPr sz="1950">
                <a:solidFill>
                  <a:srgbClr val="1F4E79"/>
                </a:solidFill>
                <a:latin typeface="Arial"/>
                <a:ea typeface="Arial"/>
                <a:cs typeface="Arial"/>
              </a:defRPr>
            </a:lvl1pPr>
            <a:lvl2pPr algn="ctr">
              <a:defRPr sz="1950">
                <a:solidFill>
                  <a:srgbClr val="1F4E79"/>
                </a:solidFill>
                <a:latin typeface="Arial"/>
                <a:ea typeface="Arial"/>
                <a:cs typeface="Arial"/>
              </a:defRPr>
            </a:lvl2pPr>
            <a:lvl3pPr algn="ctr">
              <a:defRPr sz="1950">
                <a:solidFill>
                  <a:srgbClr val="1F4E79"/>
                </a:solidFill>
                <a:latin typeface="Arial"/>
                <a:ea typeface="Arial"/>
                <a:cs typeface="Arial"/>
              </a:defRPr>
            </a:lvl3pPr>
            <a:lvl4pPr algn="ctr">
              <a:defRPr sz="1950">
                <a:solidFill>
                  <a:srgbClr val="1F4E79"/>
                </a:solidFill>
                <a:latin typeface="Arial"/>
                <a:ea typeface="Arial"/>
                <a:cs typeface="Arial"/>
              </a:defRPr>
            </a:lvl4pPr>
            <a:lvl5pPr algn="ctr">
              <a:defRPr sz="1950">
                <a:solidFill>
                  <a:srgbClr val="1F4E79"/>
                </a:solidFill>
                <a:latin typeface="Arial"/>
                <a:ea typeface="Arial"/>
                <a:cs typeface="Arial"/>
              </a:defRPr>
            </a:lvl5pPr>
            <a:lvl6pPr algn="ctr">
              <a:defRPr sz="1950">
                <a:solidFill>
                  <a:srgbClr val="1F4E79"/>
                </a:solidFill>
                <a:latin typeface="Arial"/>
                <a:ea typeface="Arial"/>
                <a:cs typeface="Arial"/>
              </a:defRPr>
            </a:lvl6pPr>
            <a:lvl7pPr algn="ctr">
              <a:defRPr sz="1950">
                <a:solidFill>
                  <a:srgbClr val="1F4E79"/>
                </a:solidFill>
                <a:latin typeface="Arial"/>
                <a:ea typeface="Arial"/>
                <a:cs typeface="Arial"/>
              </a:defRPr>
            </a:lvl7pPr>
            <a:lvl8pPr algn="ctr">
              <a:defRPr sz="1950">
                <a:solidFill>
                  <a:srgbClr val="1F4E79"/>
                </a:solidFill>
                <a:latin typeface="Arial"/>
                <a:ea typeface="Arial"/>
                <a:cs typeface="Arial"/>
              </a:defRPr>
            </a:lvl8pPr>
            <a:lvl9pPr algn="ctr">
              <a:defRPr sz="1950">
                <a:solidFill>
                  <a:srgbClr val="1F4E79"/>
                </a:solidFill>
                <a:latin typeface="Arial"/>
                <a:ea typeface="Arial"/>
                <a:cs typeface="Arial"/>
              </a:defRPr>
            </a:lvl9pPr>
          </a:lstStyle>
          <a:p>
            <a:pPr algn="ctr">
              <a:defRPr sz="1950">
                <a:solidFill>
                  <a:srgbClr val="1F4E79"/>
                </a:solidFill>
                <a:latin typeface="Arial"/>
                <a:ea typeface="Arial"/>
                <a:cs typeface="Arial"/>
              </a:defRPr>
            </a:pPr>
            <a:r>
              <a:rPr sz="1950">
                <a:solidFill>
                  <a:srgbClr val="1F4E79"/>
                </a:solidFill>
                <a:latin typeface="Arial"/>
                <a:ea typeface="Arial"/>
                <a:cs typeface="Arial"/>
              </a:rPr>
              <a:t>Renderer</a:t>
            </a:r>
          </a:p>
          <a:p>
            <a:pPr algn="ctr">
              <a:defRPr sz="1950">
                <a:solidFill>
                  <a:srgbClr val="1F4E79"/>
                </a:solidFill>
                <a:latin typeface="Arial"/>
                <a:ea typeface="Arial"/>
                <a:cs typeface="Arial"/>
              </a:defRPr>
            </a:pPr>
            <a:r>
              <a:rPr sz="1950">
                <a:solidFill>
                  <a:srgbClr val="1F4E79"/>
                </a:solidFill>
                <a:latin typeface="Arial"/>
                <a:ea typeface="Arial"/>
                <a:cs typeface="Arial"/>
              </a:rPr>
              <a:t>SVG and PNG</a:t>
            </a:r>
          </a:p>
        </p:txBody>
      </p:sp>
      <p:sp>
        <p:nvSpPr>
          <p:cNvPr id="7" name="Прямоугольник 6">
            <a:extLst>
              <a:ext uri="{FF2B5EF4-FFF2-40B4-BE49-F238E27FC236}">
                <a16:creationId xmlns:a16="http://schemas.microsoft.com/office/drawing/2014/main" id="{CB85F1B7-0DD2-43C9-84B3-F8A35F7E302B}"/>
              </a:ext>
            </a:extLst>
          </p:cNvPr>
          <p:cNvSpPr>
            <a:spLocks noGrp="1"/>
          </p:cNvSpPr>
          <p:nvPr/>
        </p:nvSpPr>
        <p:spPr>
          <a:xfrm>
            <a:off x="609600" y="3381375"/>
            <a:ext cx="3143250" cy="762000"/>
          </a:xfrm>
          <a:prstGeom prst="rect">
            <a:avLst/>
          </a:prstGeom>
          <a:solidFill>
            <a:srgbClr val="FFFFFF"/>
          </a:solidFill>
          <a:ln w="12383">
            <a:solidFill>
              <a:srgbClr val="1F4E79"/>
            </a:solidFill>
          </a:ln>
        </p:spPr>
        <p:txBody>
          <a:bodyPr lIns="76200" tIns="76200" rIns="76200" bIns="76200" anchor="ctr"/>
          <a:lstStyle>
            <a:defPPr algn="ctr">
              <a:defRPr sz="1950">
                <a:solidFill>
                  <a:srgbClr val="1F4E79"/>
                </a:solidFill>
                <a:latin typeface="Arial"/>
                <a:ea typeface="Arial"/>
                <a:cs typeface="Arial"/>
              </a:defRPr>
            </a:defPPr>
            <a:lvl1pPr algn="ctr">
              <a:defRPr sz="1950">
                <a:solidFill>
                  <a:srgbClr val="1F4E79"/>
                </a:solidFill>
                <a:latin typeface="Arial"/>
                <a:ea typeface="Arial"/>
                <a:cs typeface="Arial"/>
              </a:defRPr>
            </a:lvl1pPr>
            <a:lvl2pPr algn="ctr">
              <a:defRPr sz="1950">
                <a:solidFill>
                  <a:srgbClr val="1F4E79"/>
                </a:solidFill>
                <a:latin typeface="Arial"/>
                <a:ea typeface="Arial"/>
                <a:cs typeface="Arial"/>
              </a:defRPr>
            </a:lvl2pPr>
            <a:lvl3pPr algn="ctr">
              <a:defRPr sz="1950">
                <a:solidFill>
                  <a:srgbClr val="1F4E79"/>
                </a:solidFill>
                <a:latin typeface="Arial"/>
                <a:ea typeface="Arial"/>
                <a:cs typeface="Arial"/>
              </a:defRPr>
            </a:lvl3pPr>
            <a:lvl4pPr algn="ctr">
              <a:defRPr sz="1950">
                <a:solidFill>
                  <a:srgbClr val="1F4E79"/>
                </a:solidFill>
                <a:latin typeface="Arial"/>
                <a:ea typeface="Arial"/>
                <a:cs typeface="Arial"/>
              </a:defRPr>
            </a:lvl4pPr>
            <a:lvl5pPr algn="ctr">
              <a:defRPr sz="1950">
                <a:solidFill>
                  <a:srgbClr val="1F4E79"/>
                </a:solidFill>
                <a:latin typeface="Arial"/>
                <a:ea typeface="Arial"/>
                <a:cs typeface="Arial"/>
              </a:defRPr>
            </a:lvl5pPr>
            <a:lvl6pPr algn="ctr">
              <a:defRPr sz="1950">
                <a:solidFill>
                  <a:srgbClr val="1F4E79"/>
                </a:solidFill>
                <a:latin typeface="Arial"/>
                <a:ea typeface="Arial"/>
                <a:cs typeface="Arial"/>
              </a:defRPr>
            </a:lvl6pPr>
            <a:lvl7pPr algn="ctr">
              <a:defRPr sz="1950">
                <a:solidFill>
                  <a:srgbClr val="1F4E79"/>
                </a:solidFill>
                <a:latin typeface="Arial"/>
                <a:ea typeface="Arial"/>
                <a:cs typeface="Arial"/>
              </a:defRPr>
            </a:lvl7pPr>
            <a:lvl8pPr algn="ctr">
              <a:defRPr sz="1950">
                <a:solidFill>
                  <a:srgbClr val="1F4E79"/>
                </a:solidFill>
                <a:latin typeface="Arial"/>
                <a:ea typeface="Arial"/>
                <a:cs typeface="Arial"/>
              </a:defRPr>
            </a:lvl8pPr>
            <a:lvl9pPr algn="ctr">
              <a:defRPr sz="1950">
                <a:solidFill>
                  <a:srgbClr val="1F4E79"/>
                </a:solidFill>
                <a:latin typeface="Arial"/>
                <a:ea typeface="Arial"/>
                <a:cs typeface="Arial"/>
              </a:defRPr>
            </a:lvl9pPr>
          </a:lstStyle>
          <a:p>
            <a:pPr algn="ctr">
              <a:defRPr sz="1950">
                <a:solidFill>
                  <a:srgbClr val="1F4E79"/>
                </a:solidFill>
                <a:latin typeface="Arial"/>
                <a:ea typeface="Arial"/>
                <a:cs typeface="Arial"/>
              </a:defRPr>
            </a:pPr>
            <a:r>
              <a:rPr sz="1950">
                <a:solidFill>
                  <a:srgbClr val="1F4E79"/>
                </a:solidFill>
                <a:latin typeface="Arial"/>
                <a:ea typeface="Arial"/>
                <a:cs typeface="Arial"/>
              </a:rPr>
              <a:t>Programmatic checks</a:t>
            </a:r>
          </a:p>
        </p:txBody>
      </p:sp>
      <p:sp>
        <p:nvSpPr>
          <p:cNvPr id="8" name="Прямоугольник 7">
            <a:extLst>
              <a:ext uri="{FF2B5EF4-FFF2-40B4-BE49-F238E27FC236}">
                <a16:creationId xmlns:a16="http://schemas.microsoft.com/office/drawing/2014/main" id="{C61AB7E6-308A-4FAE-819A-C8F04ED33758}"/>
              </a:ext>
            </a:extLst>
          </p:cNvPr>
          <p:cNvSpPr>
            <a:spLocks noGrp="1"/>
          </p:cNvSpPr>
          <p:nvPr/>
        </p:nvSpPr>
        <p:spPr>
          <a:xfrm>
            <a:off x="4476750" y="3381375"/>
            <a:ext cx="3143250" cy="762000"/>
          </a:xfrm>
          <a:prstGeom prst="rect">
            <a:avLst/>
          </a:prstGeom>
          <a:solidFill>
            <a:srgbClr val="FFFFFF"/>
          </a:solidFill>
          <a:ln w="12383">
            <a:solidFill>
              <a:srgbClr val="1F4E79"/>
            </a:solidFill>
          </a:ln>
        </p:spPr>
        <p:txBody>
          <a:bodyPr lIns="76200" tIns="76200" rIns="76200" bIns="76200" anchor="ctr"/>
          <a:lstStyle>
            <a:defPPr algn="ctr">
              <a:defRPr sz="1950">
                <a:solidFill>
                  <a:srgbClr val="1F4E79"/>
                </a:solidFill>
                <a:latin typeface="Arial"/>
                <a:ea typeface="Arial"/>
                <a:cs typeface="Arial"/>
              </a:defRPr>
            </a:defPPr>
            <a:lvl1pPr algn="ctr">
              <a:defRPr sz="1950">
                <a:solidFill>
                  <a:srgbClr val="1F4E79"/>
                </a:solidFill>
                <a:latin typeface="Arial"/>
                <a:ea typeface="Arial"/>
                <a:cs typeface="Arial"/>
              </a:defRPr>
            </a:lvl1pPr>
            <a:lvl2pPr algn="ctr">
              <a:defRPr sz="1950">
                <a:solidFill>
                  <a:srgbClr val="1F4E79"/>
                </a:solidFill>
                <a:latin typeface="Arial"/>
                <a:ea typeface="Arial"/>
                <a:cs typeface="Arial"/>
              </a:defRPr>
            </a:lvl2pPr>
            <a:lvl3pPr algn="ctr">
              <a:defRPr sz="1950">
                <a:solidFill>
                  <a:srgbClr val="1F4E79"/>
                </a:solidFill>
                <a:latin typeface="Arial"/>
                <a:ea typeface="Arial"/>
                <a:cs typeface="Arial"/>
              </a:defRPr>
            </a:lvl3pPr>
            <a:lvl4pPr algn="ctr">
              <a:defRPr sz="1950">
                <a:solidFill>
                  <a:srgbClr val="1F4E79"/>
                </a:solidFill>
                <a:latin typeface="Arial"/>
                <a:ea typeface="Arial"/>
                <a:cs typeface="Arial"/>
              </a:defRPr>
            </a:lvl4pPr>
            <a:lvl5pPr algn="ctr">
              <a:defRPr sz="1950">
                <a:solidFill>
                  <a:srgbClr val="1F4E79"/>
                </a:solidFill>
                <a:latin typeface="Arial"/>
                <a:ea typeface="Arial"/>
                <a:cs typeface="Arial"/>
              </a:defRPr>
            </a:lvl5pPr>
            <a:lvl6pPr algn="ctr">
              <a:defRPr sz="1950">
                <a:solidFill>
                  <a:srgbClr val="1F4E79"/>
                </a:solidFill>
                <a:latin typeface="Arial"/>
                <a:ea typeface="Arial"/>
                <a:cs typeface="Arial"/>
              </a:defRPr>
            </a:lvl6pPr>
            <a:lvl7pPr algn="ctr">
              <a:defRPr sz="1950">
                <a:solidFill>
                  <a:srgbClr val="1F4E79"/>
                </a:solidFill>
                <a:latin typeface="Arial"/>
                <a:ea typeface="Arial"/>
                <a:cs typeface="Arial"/>
              </a:defRPr>
            </a:lvl7pPr>
            <a:lvl8pPr algn="ctr">
              <a:defRPr sz="1950">
                <a:solidFill>
                  <a:srgbClr val="1F4E79"/>
                </a:solidFill>
                <a:latin typeface="Arial"/>
                <a:ea typeface="Arial"/>
                <a:cs typeface="Arial"/>
              </a:defRPr>
            </a:lvl8pPr>
            <a:lvl9pPr algn="ctr">
              <a:defRPr sz="1950">
                <a:solidFill>
                  <a:srgbClr val="1F4E79"/>
                </a:solidFill>
                <a:latin typeface="Arial"/>
                <a:ea typeface="Arial"/>
                <a:cs typeface="Arial"/>
              </a:defRPr>
            </a:lvl9pPr>
          </a:lstStyle>
          <a:p>
            <a:pPr algn="ctr">
              <a:defRPr sz="1950">
                <a:solidFill>
                  <a:srgbClr val="1F4E79"/>
                </a:solidFill>
                <a:latin typeface="Arial"/>
                <a:ea typeface="Arial"/>
                <a:cs typeface="Arial"/>
              </a:defRPr>
            </a:pPr>
            <a:r>
              <a:rPr sz="1950">
                <a:solidFill>
                  <a:srgbClr val="1F4E79"/>
                </a:solidFill>
                <a:latin typeface="Arial"/>
                <a:ea typeface="Arial"/>
                <a:cs typeface="Arial"/>
              </a:rPr>
              <a:t>Visual critic</a:t>
            </a:r>
          </a:p>
        </p:txBody>
      </p:sp>
      <p:sp>
        <p:nvSpPr>
          <p:cNvPr id="9" name="Прямоугольник 8">
            <a:extLst>
              <a:ext uri="{FF2B5EF4-FFF2-40B4-BE49-F238E27FC236}">
                <a16:creationId xmlns:a16="http://schemas.microsoft.com/office/drawing/2014/main" id="{47A5496E-5694-40F7-8A26-8EA90F548321}"/>
              </a:ext>
            </a:extLst>
          </p:cNvPr>
          <p:cNvSpPr>
            <a:spLocks noGrp="1"/>
          </p:cNvSpPr>
          <p:nvPr/>
        </p:nvSpPr>
        <p:spPr>
          <a:xfrm>
            <a:off x="8343900" y="3381375"/>
            <a:ext cx="3143250" cy="762000"/>
          </a:xfrm>
          <a:prstGeom prst="rect">
            <a:avLst/>
          </a:prstGeom>
          <a:solidFill>
            <a:srgbClr val="FFFFFF"/>
          </a:solidFill>
          <a:ln w="12383">
            <a:solidFill>
              <a:srgbClr val="1F4E79"/>
            </a:solidFill>
          </a:ln>
        </p:spPr>
        <p:txBody>
          <a:bodyPr lIns="76200" tIns="76200" rIns="76200" bIns="76200" anchor="ctr"/>
          <a:lstStyle>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a:pPr algn="ctr">
              <a:defRPr sz="1800">
                <a:solidFill>
                  <a:srgbClr val="1F4E79"/>
                </a:solidFill>
                <a:latin typeface="Arial"/>
                <a:ea typeface="Arial"/>
                <a:cs typeface="Arial"/>
              </a:defRPr>
            </a:pPr>
            <a:r>
              <a:rPr sz="1800">
                <a:solidFill>
                  <a:srgbClr val="1F4E79"/>
                </a:solidFill>
                <a:latin typeface="Arial"/>
                <a:ea typeface="Arial"/>
                <a:cs typeface="Arial"/>
              </a:rPr>
              <a:t>Text editor</a:t>
            </a:r>
          </a:p>
          <a:p>
            <a:pPr algn="ctr">
              <a:defRPr sz="1800">
                <a:solidFill>
                  <a:srgbClr val="1F4E79"/>
                </a:solidFill>
                <a:latin typeface="Arial"/>
                <a:ea typeface="Arial"/>
                <a:cs typeface="Arial"/>
              </a:defRPr>
            </a:pPr>
            <a:r>
              <a:rPr sz="1800">
                <a:solidFill>
                  <a:srgbClr val="1F4E79"/>
                </a:solidFill>
                <a:latin typeface="Arial"/>
                <a:ea typeface="Arial"/>
                <a:cs typeface="Arial"/>
              </a:rPr>
              <a:t>B0 + selected feedback</a:t>
            </a:r>
          </a:p>
        </p:txBody>
      </p:sp>
      <p:sp>
        <p:nvSpPr>
          <p:cNvPr id="10" name="Прямоугольник 9">
            <a:extLst>
              <a:ext uri="{FF2B5EF4-FFF2-40B4-BE49-F238E27FC236}">
                <a16:creationId xmlns:a16="http://schemas.microsoft.com/office/drawing/2014/main" id="{F77A32BF-0880-42D6-B941-EB6CFFDB9F1C}"/>
              </a:ext>
            </a:extLst>
          </p:cNvPr>
          <p:cNvSpPr>
            <a:spLocks noGrp="1"/>
          </p:cNvSpPr>
          <p:nvPr/>
        </p:nvSpPr>
        <p:spPr>
          <a:xfrm>
            <a:off x="8343900" y="4953000"/>
            <a:ext cx="3143250" cy="714375"/>
          </a:xfrm>
          <a:prstGeom prst="rect">
            <a:avLst/>
          </a:prstGeom>
          <a:solidFill>
            <a:srgbClr val="FFFFFF"/>
          </a:solidFill>
          <a:ln w="12383">
            <a:solidFill>
              <a:srgbClr val="1F4E79"/>
            </a:solidFill>
          </a:ln>
        </p:spPr>
        <p:txBody>
          <a:bodyPr lIns="76200" tIns="76200" rIns="76200" bIns="76200" anchor="ctr"/>
          <a:lstStyle>
            <a:defPPr algn="ctr">
              <a:defRPr sz="1950">
                <a:solidFill>
                  <a:srgbClr val="1F4E79"/>
                </a:solidFill>
                <a:latin typeface="Arial"/>
                <a:ea typeface="Arial"/>
                <a:cs typeface="Arial"/>
              </a:defRPr>
            </a:defPPr>
            <a:lvl1pPr algn="ctr">
              <a:defRPr sz="1950">
                <a:solidFill>
                  <a:srgbClr val="1F4E79"/>
                </a:solidFill>
                <a:latin typeface="Arial"/>
                <a:ea typeface="Arial"/>
                <a:cs typeface="Arial"/>
              </a:defRPr>
            </a:lvl1pPr>
            <a:lvl2pPr algn="ctr">
              <a:defRPr sz="1950">
                <a:solidFill>
                  <a:srgbClr val="1F4E79"/>
                </a:solidFill>
                <a:latin typeface="Arial"/>
                <a:ea typeface="Arial"/>
                <a:cs typeface="Arial"/>
              </a:defRPr>
            </a:lvl2pPr>
            <a:lvl3pPr algn="ctr">
              <a:defRPr sz="1950">
                <a:solidFill>
                  <a:srgbClr val="1F4E79"/>
                </a:solidFill>
                <a:latin typeface="Arial"/>
                <a:ea typeface="Arial"/>
                <a:cs typeface="Arial"/>
              </a:defRPr>
            </a:lvl3pPr>
            <a:lvl4pPr algn="ctr">
              <a:defRPr sz="1950">
                <a:solidFill>
                  <a:srgbClr val="1F4E79"/>
                </a:solidFill>
                <a:latin typeface="Arial"/>
                <a:ea typeface="Arial"/>
                <a:cs typeface="Arial"/>
              </a:defRPr>
            </a:lvl4pPr>
            <a:lvl5pPr algn="ctr">
              <a:defRPr sz="1950">
                <a:solidFill>
                  <a:srgbClr val="1F4E79"/>
                </a:solidFill>
                <a:latin typeface="Arial"/>
                <a:ea typeface="Arial"/>
                <a:cs typeface="Arial"/>
              </a:defRPr>
            </a:lvl5pPr>
            <a:lvl6pPr algn="ctr">
              <a:defRPr sz="1950">
                <a:solidFill>
                  <a:srgbClr val="1F4E79"/>
                </a:solidFill>
                <a:latin typeface="Arial"/>
                <a:ea typeface="Arial"/>
                <a:cs typeface="Arial"/>
              </a:defRPr>
            </a:lvl6pPr>
            <a:lvl7pPr algn="ctr">
              <a:defRPr sz="1950">
                <a:solidFill>
                  <a:srgbClr val="1F4E79"/>
                </a:solidFill>
                <a:latin typeface="Arial"/>
                <a:ea typeface="Arial"/>
                <a:cs typeface="Arial"/>
              </a:defRPr>
            </a:lvl7pPr>
            <a:lvl8pPr algn="ctr">
              <a:defRPr sz="1950">
                <a:solidFill>
                  <a:srgbClr val="1F4E79"/>
                </a:solidFill>
                <a:latin typeface="Arial"/>
                <a:ea typeface="Arial"/>
                <a:cs typeface="Arial"/>
              </a:defRPr>
            </a:lvl8pPr>
            <a:lvl9pPr algn="ctr">
              <a:defRPr sz="1950">
                <a:solidFill>
                  <a:srgbClr val="1F4E79"/>
                </a:solidFill>
                <a:latin typeface="Arial"/>
                <a:ea typeface="Arial"/>
                <a:cs typeface="Arial"/>
              </a:defRPr>
            </a:lvl9pPr>
          </a:lstStyle>
          <a:p>
            <a:pPr algn="ctr">
              <a:defRPr sz="1950">
                <a:solidFill>
                  <a:srgbClr val="1F4E79"/>
                </a:solidFill>
                <a:latin typeface="Arial"/>
                <a:ea typeface="Arial"/>
                <a:cs typeface="Arial"/>
              </a:defRPr>
            </a:pPr>
            <a:r>
              <a:rPr sz="1950">
                <a:solidFill>
                  <a:srgbClr val="1F4E79"/>
                </a:solidFill>
                <a:latin typeface="Arial"/>
                <a:ea typeface="Arial"/>
                <a:cs typeface="Arial"/>
              </a:rPr>
              <a:t>Saved graph and metrics</a:t>
            </a:r>
          </a:p>
        </p:txBody>
      </p:sp>
      <p:cxnSp>
        <p:nvCxnSpPr>
          <p:cNvPr id="11" name="Прямая со стрелкой 10">
            <a:extLst>
              <a:ext uri="{FF2B5EF4-FFF2-40B4-BE49-F238E27FC236}">
                <a16:creationId xmlns:a16="http://schemas.microsoft.com/office/drawing/2014/main" id="{370B76D2-0325-4769-9B79-AB35C27A1541}"/>
              </a:ext>
            </a:extLst>
          </p:cNvPr>
          <p:cNvCxnSpPr/>
          <p:nvPr/>
        </p:nvCxnSpPr>
        <p:spPr>
          <a:xfrm>
            <a:off x="3752850" y="2190750"/>
            <a:ext cx="723900" cy="0"/>
          </a:xfrm>
          <a:prstGeom prst="straightConnector1">
            <a:avLst/>
          </a:prstGeom>
          <a:ln w="19050">
            <a:solidFill>
              <a:srgbClr val="1F4E79"/>
            </a:solidFill>
            <a:tailEnd type="triangle" w="med" len="med"/>
          </a:ln>
        </p:spPr>
      </p:cxnSp>
      <p:cxnSp>
        <p:nvCxnSpPr>
          <p:cNvPr id="12" name="Прямая со стрелкой 11">
            <a:extLst>
              <a:ext uri="{FF2B5EF4-FFF2-40B4-BE49-F238E27FC236}">
                <a16:creationId xmlns:a16="http://schemas.microsoft.com/office/drawing/2014/main" id="{064F7206-EB37-4064-9EDF-09C5C6A8980E}"/>
              </a:ext>
            </a:extLst>
          </p:cNvPr>
          <p:cNvCxnSpPr/>
          <p:nvPr/>
        </p:nvCxnSpPr>
        <p:spPr>
          <a:xfrm>
            <a:off x="7620000" y="2190750"/>
            <a:ext cx="723900" cy="0"/>
          </a:xfrm>
          <a:prstGeom prst="straightConnector1">
            <a:avLst/>
          </a:prstGeom>
          <a:ln w="19050">
            <a:solidFill>
              <a:srgbClr val="1F4E79"/>
            </a:solidFill>
            <a:tailEnd type="triangle" w="med" len="med"/>
          </a:ln>
        </p:spPr>
      </p:cxnSp>
      <p:cxnSp>
        <p:nvCxnSpPr>
          <p:cNvPr id="13" name="Прямая со стрелкой 12">
            <a:extLst>
              <a:ext uri="{FF2B5EF4-FFF2-40B4-BE49-F238E27FC236}">
                <a16:creationId xmlns:a16="http://schemas.microsoft.com/office/drawing/2014/main" id="{77DF9078-6701-4384-AAE5-14FC3A67E895}"/>
              </a:ext>
            </a:extLst>
          </p:cNvPr>
          <p:cNvCxnSpPr/>
          <p:nvPr/>
        </p:nvCxnSpPr>
        <p:spPr>
          <a:xfrm>
            <a:off x="4000500" y="2543175"/>
            <a:ext cx="476250" cy="0"/>
          </a:xfrm>
          <a:prstGeom prst="straightConnector1">
            <a:avLst/>
          </a:prstGeom>
          <a:ln w="19050">
            <a:solidFill>
              <a:srgbClr val="1F4E79"/>
            </a:solidFill>
            <a:headEnd type="triangle" w="med" len="med"/>
          </a:ln>
        </p:spPr>
      </p:cxnSp>
      <p:cxnSp>
        <p:nvCxnSpPr>
          <p:cNvPr id="14" name="Прямая со стрелкой 13">
            <a:extLst>
              <a:ext uri="{FF2B5EF4-FFF2-40B4-BE49-F238E27FC236}">
                <a16:creationId xmlns:a16="http://schemas.microsoft.com/office/drawing/2014/main" id="{DAF129E9-247F-4B6F-A7DA-5BDF47579EF1}"/>
              </a:ext>
            </a:extLst>
          </p:cNvPr>
          <p:cNvCxnSpPr/>
          <p:nvPr/>
        </p:nvCxnSpPr>
        <p:spPr>
          <a:xfrm>
            <a:off x="4000500" y="2543175"/>
            <a:ext cx="0" cy="476250"/>
          </a:xfrm>
          <a:prstGeom prst="straightConnector1">
            <a:avLst/>
          </a:prstGeom>
          <a:ln w="19050">
            <a:solidFill>
              <a:srgbClr val="1F4E79"/>
            </a:solidFill>
            <a:tailEnd type="triangle" w="med" len="med"/>
          </a:ln>
        </p:spPr>
      </p:cxnSp>
      <p:cxnSp>
        <p:nvCxnSpPr>
          <p:cNvPr id="15" name="Прямая со стрелкой 14">
            <a:extLst>
              <a:ext uri="{FF2B5EF4-FFF2-40B4-BE49-F238E27FC236}">
                <a16:creationId xmlns:a16="http://schemas.microsoft.com/office/drawing/2014/main" id="{4CCF1FD9-0C5C-497D-92C8-A6F0B747177B}"/>
              </a:ext>
            </a:extLst>
          </p:cNvPr>
          <p:cNvCxnSpPr/>
          <p:nvPr/>
        </p:nvCxnSpPr>
        <p:spPr>
          <a:xfrm>
            <a:off x="2181225" y="3019425"/>
            <a:ext cx="1819275" cy="0"/>
          </a:xfrm>
          <a:prstGeom prst="straightConnector1">
            <a:avLst/>
          </a:prstGeom>
          <a:ln w="19050">
            <a:solidFill>
              <a:srgbClr val="1F4E79"/>
            </a:solidFill>
            <a:headEnd type="triangle" w="med" len="med"/>
          </a:ln>
        </p:spPr>
      </p:cxnSp>
      <p:cxnSp>
        <p:nvCxnSpPr>
          <p:cNvPr id="16" name="Прямая со стрелкой 15">
            <a:extLst>
              <a:ext uri="{FF2B5EF4-FFF2-40B4-BE49-F238E27FC236}">
                <a16:creationId xmlns:a16="http://schemas.microsoft.com/office/drawing/2014/main" id="{897A65D8-9AEC-406E-B2FC-2A9161BD966B}"/>
              </a:ext>
            </a:extLst>
          </p:cNvPr>
          <p:cNvCxnSpPr/>
          <p:nvPr/>
        </p:nvCxnSpPr>
        <p:spPr>
          <a:xfrm>
            <a:off x="2181225" y="3019425"/>
            <a:ext cx="0" cy="361950"/>
          </a:xfrm>
          <a:prstGeom prst="straightConnector1">
            <a:avLst/>
          </a:prstGeom>
          <a:ln w="19050">
            <a:solidFill>
              <a:srgbClr val="1F4E79"/>
            </a:solidFill>
            <a:tailEnd type="triangle" w="med" len="med"/>
          </a:ln>
        </p:spPr>
      </p:cxnSp>
      <p:cxnSp>
        <p:nvCxnSpPr>
          <p:cNvPr id="17" name="Прямая со стрелкой 16">
            <a:extLst>
              <a:ext uri="{FF2B5EF4-FFF2-40B4-BE49-F238E27FC236}">
                <a16:creationId xmlns:a16="http://schemas.microsoft.com/office/drawing/2014/main" id="{C2C4B9E6-0BD9-48A2-BCBC-CD44858C237F}"/>
              </a:ext>
            </a:extLst>
          </p:cNvPr>
          <p:cNvCxnSpPr/>
          <p:nvPr/>
        </p:nvCxnSpPr>
        <p:spPr>
          <a:xfrm>
            <a:off x="9858375" y="2667000"/>
            <a:ext cx="0" cy="314325"/>
          </a:xfrm>
          <a:prstGeom prst="straightConnector1">
            <a:avLst/>
          </a:prstGeom>
          <a:ln w="19050">
            <a:solidFill>
              <a:srgbClr val="1F4E79"/>
            </a:solidFill>
            <a:tailEnd type="triangle" w="med" len="med"/>
          </a:ln>
        </p:spPr>
      </p:cxnSp>
      <p:cxnSp>
        <p:nvCxnSpPr>
          <p:cNvPr id="18" name="Прямая со стрелкой 17">
            <a:extLst>
              <a:ext uri="{FF2B5EF4-FFF2-40B4-BE49-F238E27FC236}">
                <a16:creationId xmlns:a16="http://schemas.microsoft.com/office/drawing/2014/main" id="{3EBCB589-6439-42FA-9C33-A02F2CFA4144}"/>
              </a:ext>
            </a:extLst>
          </p:cNvPr>
          <p:cNvCxnSpPr/>
          <p:nvPr/>
        </p:nvCxnSpPr>
        <p:spPr>
          <a:xfrm>
            <a:off x="6048375" y="2981325"/>
            <a:ext cx="3810000" cy="0"/>
          </a:xfrm>
          <a:prstGeom prst="straightConnector1">
            <a:avLst/>
          </a:prstGeom>
          <a:ln w="19050">
            <a:solidFill>
              <a:srgbClr val="1F4E79"/>
            </a:solidFill>
            <a:headEnd type="triangle" w="med" len="med"/>
          </a:ln>
        </p:spPr>
      </p:cxnSp>
      <p:cxnSp>
        <p:nvCxnSpPr>
          <p:cNvPr id="19" name="Прямая со стрелкой 18">
            <a:extLst>
              <a:ext uri="{FF2B5EF4-FFF2-40B4-BE49-F238E27FC236}">
                <a16:creationId xmlns:a16="http://schemas.microsoft.com/office/drawing/2014/main" id="{DB51359D-0258-41CD-8A4E-3D54EDD68426}"/>
              </a:ext>
            </a:extLst>
          </p:cNvPr>
          <p:cNvCxnSpPr/>
          <p:nvPr/>
        </p:nvCxnSpPr>
        <p:spPr>
          <a:xfrm>
            <a:off x="6048375" y="2981325"/>
            <a:ext cx="0" cy="400050"/>
          </a:xfrm>
          <a:prstGeom prst="straightConnector1">
            <a:avLst/>
          </a:prstGeom>
          <a:ln w="19050">
            <a:solidFill>
              <a:srgbClr val="1F4E79"/>
            </a:solidFill>
            <a:tailEnd type="triangle" w="med" len="med"/>
          </a:ln>
        </p:spPr>
      </p:cxnSp>
      <p:cxnSp>
        <p:nvCxnSpPr>
          <p:cNvPr id="20" name="Прямая со стрелкой 19">
            <a:extLst>
              <a:ext uri="{FF2B5EF4-FFF2-40B4-BE49-F238E27FC236}">
                <a16:creationId xmlns:a16="http://schemas.microsoft.com/office/drawing/2014/main" id="{BE35AA32-CFF7-4502-B6BC-AF56DE02ED5D}"/>
              </a:ext>
            </a:extLst>
          </p:cNvPr>
          <p:cNvCxnSpPr/>
          <p:nvPr/>
        </p:nvCxnSpPr>
        <p:spPr>
          <a:xfrm>
            <a:off x="2181225" y="4143375"/>
            <a:ext cx="0" cy="419100"/>
          </a:xfrm>
          <a:prstGeom prst="straightConnector1">
            <a:avLst/>
          </a:prstGeom>
          <a:ln w="19050">
            <a:solidFill>
              <a:srgbClr val="1F4E79"/>
            </a:solidFill>
            <a:tailEnd type="triangle" w="med" len="med"/>
          </a:ln>
        </p:spPr>
      </p:cxnSp>
      <p:cxnSp>
        <p:nvCxnSpPr>
          <p:cNvPr id="21" name="Прямая со стрелкой 20">
            <a:extLst>
              <a:ext uri="{FF2B5EF4-FFF2-40B4-BE49-F238E27FC236}">
                <a16:creationId xmlns:a16="http://schemas.microsoft.com/office/drawing/2014/main" id="{F8C24F0C-9BB2-4D55-8185-1807DC1CE2AB}"/>
              </a:ext>
            </a:extLst>
          </p:cNvPr>
          <p:cNvCxnSpPr/>
          <p:nvPr/>
        </p:nvCxnSpPr>
        <p:spPr>
          <a:xfrm>
            <a:off x="2181225" y="4562475"/>
            <a:ext cx="5915025" cy="0"/>
          </a:xfrm>
          <a:prstGeom prst="straightConnector1">
            <a:avLst/>
          </a:prstGeom>
          <a:ln w="19050">
            <a:solidFill>
              <a:srgbClr val="1F4E79"/>
            </a:solidFill>
            <a:tailEnd type="triangle" w="med" len="med"/>
          </a:ln>
        </p:spPr>
      </p:cxnSp>
      <p:cxnSp>
        <p:nvCxnSpPr>
          <p:cNvPr id="22" name="Прямая со стрелкой 21">
            <a:extLst>
              <a:ext uri="{FF2B5EF4-FFF2-40B4-BE49-F238E27FC236}">
                <a16:creationId xmlns:a16="http://schemas.microsoft.com/office/drawing/2014/main" id="{67775A6F-210E-44D7-B767-5EF72D61AF56}"/>
              </a:ext>
            </a:extLst>
          </p:cNvPr>
          <p:cNvCxnSpPr/>
          <p:nvPr/>
        </p:nvCxnSpPr>
        <p:spPr>
          <a:xfrm>
            <a:off x="8096250" y="3762375"/>
            <a:ext cx="0" cy="800100"/>
          </a:xfrm>
          <a:prstGeom prst="straightConnector1">
            <a:avLst/>
          </a:prstGeom>
          <a:ln w="19050">
            <a:solidFill>
              <a:srgbClr val="1F4E79"/>
            </a:solidFill>
            <a:headEnd type="triangle" w="med" len="med"/>
          </a:ln>
        </p:spPr>
      </p:cxnSp>
      <p:cxnSp>
        <p:nvCxnSpPr>
          <p:cNvPr id="23" name="Прямая со стрелкой 22">
            <a:extLst>
              <a:ext uri="{FF2B5EF4-FFF2-40B4-BE49-F238E27FC236}">
                <a16:creationId xmlns:a16="http://schemas.microsoft.com/office/drawing/2014/main" id="{A936CA6B-4536-4027-B8D3-6E4F6C8C496E}"/>
              </a:ext>
            </a:extLst>
          </p:cNvPr>
          <p:cNvCxnSpPr/>
          <p:nvPr/>
        </p:nvCxnSpPr>
        <p:spPr>
          <a:xfrm>
            <a:off x="8096250" y="3762375"/>
            <a:ext cx="247650" cy="0"/>
          </a:xfrm>
          <a:prstGeom prst="straightConnector1">
            <a:avLst/>
          </a:prstGeom>
          <a:ln w="19050">
            <a:solidFill>
              <a:srgbClr val="1F4E79"/>
            </a:solidFill>
            <a:tailEnd type="triangle" w="med" len="med"/>
          </a:ln>
        </p:spPr>
      </p:cxnSp>
      <p:cxnSp>
        <p:nvCxnSpPr>
          <p:cNvPr id="24" name="Прямая со стрелкой 23">
            <a:extLst>
              <a:ext uri="{FF2B5EF4-FFF2-40B4-BE49-F238E27FC236}">
                <a16:creationId xmlns:a16="http://schemas.microsoft.com/office/drawing/2014/main" id="{A7A9B06B-B042-49E7-AFD7-080E8BFC16E0}"/>
              </a:ext>
            </a:extLst>
          </p:cNvPr>
          <p:cNvCxnSpPr/>
          <p:nvPr/>
        </p:nvCxnSpPr>
        <p:spPr>
          <a:xfrm>
            <a:off x="7620000" y="3762375"/>
            <a:ext cx="723900" cy="0"/>
          </a:xfrm>
          <a:prstGeom prst="straightConnector1">
            <a:avLst/>
          </a:prstGeom>
          <a:ln w="19050">
            <a:solidFill>
              <a:srgbClr val="1F4E79"/>
            </a:solidFill>
            <a:tailEnd type="triangle" w="med" len="med"/>
          </a:ln>
        </p:spPr>
      </p:cxnSp>
      <p:cxnSp>
        <p:nvCxnSpPr>
          <p:cNvPr id="25" name="Прямая со стрелкой 24">
            <a:extLst>
              <a:ext uri="{FF2B5EF4-FFF2-40B4-BE49-F238E27FC236}">
                <a16:creationId xmlns:a16="http://schemas.microsoft.com/office/drawing/2014/main" id="{5FA6D809-6488-4297-B413-4A66AA376102}"/>
              </a:ext>
            </a:extLst>
          </p:cNvPr>
          <p:cNvCxnSpPr/>
          <p:nvPr/>
        </p:nvCxnSpPr>
        <p:spPr>
          <a:xfrm>
            <a:off x="9906000" y="4143375"/>
            <a:ext cx="0" cy="809625"/>
          </a:xfrm>
          <a:prstGeom prst="straightConnector1">
            <a:avLst/>
          </a:prstGeom>
          <a:ln w="19050">
            <a:solidFill>
              <a:srgbClr val="1F4E79"/>
            </a:solidFill>
            <a:tailEnd type="triangle" w="med" len="med"/>
          </a:ln>
        </p:spPr>
      </p:cxnSp>
      <p:sp>
        <p:nvSpPr>
          <p:cNvPr id="26" name="Прямоугольник 25">
            <a:extLst>
              <a:ext uri="{FF2B5EF4-FFF2-40B4-BE49-F238E27FC236}">
                <a16:creationId xmlns:a16="http://schemas.microsoft.com/office/drawing/2014/main" id="{6BC4351F-5FD2-499B-9AE4-D5B0029876BA}"/>
              </a:ext>
            </a:extLst>
          </p:cNvPr>
          <p:cNvSpPr>
            <a:spLocks noGrp="1"/>
          </p:cNvSpPr>
          <p:nvPr/>
        </p:nvSpPr>
        <p:spPr>
          <a:xfrm>
            <a:off x="609600" y="5095875"/>
            <a:ext cx="7000875" cy="571500"/>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a:pPr>
              <a:defRPr sz="1875" b="1">
                <a:solidFill>
                  <a:srgbClr val="1F4E79"/>
                </a:solidFill>
                <a:latin typeface="Arial"/>
                <a:ea typeface="Arial"/>
                <a:cs typeface="Arial"/>
              </a:defRPr>
            </a:pPr>
            <a:r>
              <a:rPr sz="1875" b="1">
                <a:solidFill>
                  <a:srgbClr val="1F4E79"/>
                </a:solidFill>
                <a:latin typeface="Arial"/>
                <a:ea typeface="Arial"/>
                <a:cs typeface="Arial"/>
              </a:rPr>
              <a:t>B1 checks / B2 visual / B3 both</a:t>
            </a:r>
          </a:p>
        </p:txBody>
      </p:sp>
    </p:spTree>
    <p:extLst>
      <p:ext uri="{BB962C8B-B14F-4D97-AF65-F5344CB8AC3E}">
        <p14:creationId xmlns:p14="http://schemas.microsoft.com/office/powerpoint/2010/main" val="929737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333AF934-D946-4B63-872C-DB74D51FE352}"/>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Compact models test local execution on a CPU</a:t>
            </a:r>
          </a:p>
        </p:txBody>
      </p:sp>
      <p:sp>
        <p:nvSpPr>
          <p:cNvPr id="2" name="Прямоугольник 1">
            <a:extLst>
              <a:ext uri="{FF2B5EF4-FFF2-40B4-BE49-F238E27FC236}">
                <a16:creationId xmlns:a16="http://schemas.microsoft.com/office/drawing/2014/main" id="{7209CC46-E846-4A09-B8F8-3C5F2CF14BBB}"/>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Sources: model manifests, dataset card, frozen protocol</a:t>
            </a:r>
          </a:p>
        </p:txBody>
      </p:sp>
      <p:sp>
        <p:nvSpPr>
          <p:cNvPr id="3" name="Прямоугольник 2">
            <a:extLst>
              <a:ext uri="{FF2B5EF4-FFF2-40B4-BE49-F238E27FC236}">
                <a16:creationId xmlns:a16="http://schemas.microsoft.com/office/drawing/2014/main" id="{31DC2B89-AB0D-4968-B957-1C8A818BB18F}"/>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4</a:t>
            </a:r>
          </a:p>
        </p:txBody>
      </p:sp>
      <p:graphicFrame>
        <p:nvGraphicFramePr>
          <p:cNvPr id="4" name="Таблица 3">
            <a:extLst>
              <a:ext uri="{FF2B5EF4-FFF2-40B4-BE49-F238E27FC236}">
                <a16:creationId xmlns:a16="http://schemas.microsoft.com/office/drawing/2014/main" id="{4E465951-22A5-490E-84C5-D6FFF9DF0FD8}"/>
              </a:ext>
            </a:extLst>
          </p:cNvPr>
          <p:cNvGraphicFramePr/>
          <p:nvPr/>
        </p:nvGraphicFramePr>
        <p:xfrm>
          <a:off x="609600" y="1685925"/>
          <a:ext cx="10953750" cy="3505200"/>
        </p:xfrm>
        <a:graphic>
          <a:graphicData uri="http://schemas.openxmlformats.org/drawingml/2006/table">
            <a:tbl>
              <a:tblPr/>
              <a:tblGrid>
                <a:gridCol w="361950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701040">
                <a:tc>
                  <a:txBody>
                    <a:bodyPr/>
                    <a:lstStyle/>
                    <a:p>
                      <a:r>
                        <a:rPr sz="1950" b="1">
                          <a:solidFill>
                            <a:srgbClr val="1F4E79"/>
                          </a:solidFill>
                          <a:latin typeface="Arial"/>
                          <a:ea typeface="Arial"/>
                          <a:cs typeface="Arial"/>
                        </a:rPr>
                        <a:t>Role / control</a:t>
                      </a:r>
                    </a:p>
                  </a:txBody>
                  <a:tcPr>
                    <a:solidFill>
                      <a:srgbClr val="FFFFFF"/>
                    </a:solidFill>
                  </a:tcPr>
                </a:tc>
                <a:tc>
                  <a:txBody>
                    <a:bodyPr/>
                    <a:lstStyle/>
                    <a:p>
                      <a:r>
                        <a:rPr sz="1950" b="1">
                          <a:solidFill>
                            <a:srgbClr val="1F4E79"/>
                          </a:solidFill>
                          <a:latin typeface="Arial"/>
                          <a:ea typeface="Arial"/>
                          <a:cs typeface="Arial"/>
                        </a:rPr>
                        <a:t>Original CPU configuration</a:t>
                      </a:r>
                    </a:p>
                  </a:txBody>
                  <a:tcPr>
                    <a:solidFill>
                      <a:srgbClr val="FFFFFF"/>
                    </a:solidFill>
                  </a:tcPr>
                </a:tc>
                <a:extLst>
                  <a:ext uri="{0D108BD9-81ED-4DB2-BD59-A6C34878D82A}">
                    <a16:rowId xmlns:a16="http://schemas.microsoft.com/office/drawing/2014/main" val="10000"/>
                  </a:ext>
                </a:extLst>
              </a:tr>
              <a:tr h="701040">
                <a:tc>
                  <a:txBody>
                    <a:bodyPr/>
                    <a:lstStyle/>
                    <a:p>
                      <a:r>
                        <a:rPr sz="1950" b="0">
                          <a:solidFill>
                            <a:srgbClr val="1F4E79"/>
                          </a:solidFill>
                          <a:latin typeface="Arial"/>
                          <a:ea typeface="Arial"/>
                          <a:cs typeface="Arial"/>
                        </a:rPr>
                        <a:t>Generator and editor</a:t>
                      </a:r>
                    </a:p>
                  </a:txBody>
                  <a:tcPr>
                    <a:solidFill>
                      <a:srgbClr val="FFFFFF"/>
                    </a:solidFill>
                  </a:tcPr>
                </a:tc>
                <a:tc>
                  <a:txBody>
                    <a:bodyPr/>
                    <a:lstStyle/>
                    <a:p>
                      <a:r>
                        <a:rPr sz="1950" b="0">
                          <a:solidFill>
                            <a:srgbClr val="1F4E79"/>
                          </a:solidFill>
                          <a:latin typeface="Arial"/>
                          <a:ea typeface="Arial"/>
                          <a:cs typeface="Arial"/>
                        </a:rPr>
                        <a:t>Qwen2.5-3B-Instruct, Q4_K_M</a:t>
                      </a:r>
                    </a:p>
                  </a:txBody>
                  <a:tcPr>
                    <a:solidFill>
                      <a:srgbClr val="FFFFFF"/>
                    </a:solidFill>
                  </a:tcPr>
                </a:tc>
                <a:extLst>
                  <a:ext uri="{0D108BD9-81ED-4DB2-BD59-A6C34878D82A}">
                    <a16:rowId xmlns:a16="http://schemas.microsoft.com/office/drawing/2014/main" val="10001"/>
                  </a:ext>
                </a:extLst>
              </a:tr>
              <a:tr h="701040">
                <a:tc>
                  <a:txBody>
                    <a:bodyPr/>
                    <a:lstStyle/>
                    <a:p>
                      <a:r>
                        <a:rPr sz="1950" b="0">
                          <a:solidFill>
                            <a:srgbClr val="1F4E79"/>
                          </a:solidFill>
                          <a:latin typeface="Arial"/>
                          <a:ea typeface="Arial"/>
                          <a:cs typeface="Arial"/>
                        </a:rPr>
                        <a:t>Visual critic</a:t>
                      </a:r>
                    </a:p>
                  </a:txBody>
                  <a:tcPr>
                    <a:solidFill>
                      <a:srgbClr val="FFFFFF"/>
                    </a:solidFill>
                  </a:tcPr>
                </a:tc>
                <a:tc>
                  <a:txBody>
                    <a:bodyPr/>
                    <a:lstStyle/>
                    <a:p>
                      <a:r>
                        <a:rPr sz="1950" b="0">
                          <a:solidFill>
                            <a:srgbClr val="1F4E79"/>
                          </a:solidFill>
                          <a:latin typeface="Arial"/>
                          <a:ea typeface="Arial"/>
                          <a:cs typeface="Arial"/>
                        </a:rPr>
                        <a:t>SmolVLM-256M-Instruct, Q8_0</a:t>
                      </a:r>
                    </a:p>
                  </a:txBody>
                  <a:tcPr>
                    <a:solidFill>
                      <a:srgbClr val="FFFFFF"/>
                    </a:solidFill>
                  </a:tcPr>
                </a:tc>
                <a:extLst>
                  <a:ext uri="{0D108BD9-81ED-4DB2-BD59-A6C34878D82A}">
                    <a16:rowId xmlns:a16="http://schemas.microsoft.com/office/drawing/2014/main" val="10002"/>
                  </a:ext>
                </a:extLst>
              </a:tr>
              <a:tr h="701040">
                <a:tc>
                  <a:txBody>
                    <a:bodyPr/>
                    <a:lstStyle/>
                    <a:p>
                      <a:r>
                        <a:rPr sz="1950" b="0">
                          <a:solidFill>
                            <a:srgbClr val="1F4E79"/>
                          </a:solidFill>
                          <a:latin typeface="Arial"/>
                          <a:ea typeface="Arial"/>
                          <a:cs typeface="Arial"/>
                        </a:rPr>
                        <a:t>Data</a:t>
                      </a:r>
                    </a:p>
                  </a:txBody>
                  <a:tcPr>
                    <a:solidFill>
                      <a:srgbClr val="FFFFFF"/>
                    </a:solidFill>
                  </a:tcPr>
                </a:tc>
                <a:tc>
                  <a:txBody>
                    <a:bodyPr/>
                    <a:lstStyle/>
                    <a:p>
                      <a:r>
                        <a:rPr sz="1950" b="0">
                          <a:solidFill>
                            <a:srgbClr val="1F4E79"/>
                          </a:solidFill>
                          <a:latin typeface="Arial"/>
                          <a:ea typeface="Arial"/>
                          <a:cs typeface="Arial"/>
                        </a:rPr>
                        <a:t>5 development + 15 synthetic test tasks</a:t>
                      </a:r>
                    </a:p>
                  </a:txBody>
                  <a:tcPr>
                    <a:solidFill>
                      <a:srgbClr val="FFFFFF"/>
                    </a:solidFill>
                  </a:tcPr>
                </a:tc>
                <a:extLst>
                  <a:ext uri="{0D108BD9-81ED-4DB2-BD59-A6C34878D82A}">
                    <a16:rowId xmlns:a16="http://schemas.microsoft.com/office/drawing/2014/main" val="10003"/>
                  </a:ext>
                </a:extLst>
              </a:tr>
              <a:tr h="701040">
                <a:tc>
                  <a:txBody>
                    <a:bodyPr/>
                    <a:lstStyle/>
                    <a:p>
                      <a:r>
                        <a:rPr sz="1950" b="0">
                          <a:solidFill>
                            <a:srgbClr val="1F4E79"/>
                          </a:solidFill>
                          <a:latin typeface="Arial"/>
                          <a:ea typeface="Arial"/>
                          <a:cs typeface="Arial"/>
                        </a:rPr>
                        <a:t>Comparison</a:t>
                      </a:r>
                    </a:p>
                  </a:txBody>
                  <a:tcPr>
                    <a:solidFill>
                      <a:srgbClr val="FFFFFF"/>
                    </a:solidFill>
                  </a:tcPr>
                </a:tc>
                <a:tc>
                  <a:txBody>
                    <a:bodyPr/>
                    <a:lstStyle/>
                    <a:p>
                      <a:r>
                        <a:rPr sz="1950" b="0">
                          <a:solidFill>
                            <a:srgbClr val="1F4E79"/>
                          </a:solidFill>
                          <a:latin typeface="Arial"/>
                          <a:ea typeface="Arial"/>
                          <a:cs typeface="Arial"/>
                        </a:rPr>
                        <a:t>Same saved B0, one correction round</a:t>
                      </a:r>
                    </a:p>
                  </a:txBody>
                  <a:tcPr>
                    <a:solidFill>
                      <a:srgbClr val="FFFFFF"/>
                    </a:solidFill>
                  </a:tcPr>
                </a:tc>
                <a:extLst>
                  <a:ext uri="{0D108BD9-81ED-4DB2-BD59-A6C34878D82A}">
                    <a16:rowId xmlns:a16="http://schemas.microsoft.com/office/drawing/2014/main" val="10004"/>
                  </a:ext>
                </a:extLst>
              </a:tr>
            </a:tbl>
          </a:graphicData>
        </a:graphic>
      </p:graphicFrame>
      <p:sp>
        <p:nvSpPr>
          <p:cNvPr id="5" name="Прямоугольник 4">
            <a:extLst>
              <a:ext uri="{FF2B5EF4-FFF2-40B4-BE49-F238E27FC236}">
                <a16:creationId xmlns:a16="http://schemas.microsoft.com/office/drawing/2014/main" id="{860ED368-53C5-433C-AFF9-59B24F162CA8}"/>
              </a:ext>
            </a:extLst>
          </p:cNvPr>
          <p:cNvSpPr>
            <a:spLocks noGrp="1"/>
          </p:cNvSpPr>
          <p:nvPr/>
        </p:nvSpPr>
        <p:spPr>
          <a:xfrm>
            <a:off x="609600" y="5467350"/>
            <a:ext cx="10953750" cy="409575"/>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a:pPr>
              <a:defRPr sz="1875" b="1">
                <a:solidFill>
                  <a:srgbClr val="1F4E79"/>
                </a:solidFill>
                <a:latin typeface="Arial"/>
                <a:ea typeface="Arial"/>
                <a:cs typeface="Arial"/>
              </a:defRPr>
            </a:pPr>
            <a:r>
              <a:rPr sz="1875" b="1">
                <a:solidFill>
                  <a:srgbClr val="1F4E79"/>
                </a:solidFill>
                <a:latin typeface="Arial"/>
                <a:ea typeface="Arial"/>
                <a:cs typeface="Arial"/>
              </a:rPr>
              <a:t>Office-PC feasibility was the motivation. No hardware-wide benchmark.</a:t>
            </a:r>
          </a:p>
        </p:txBody>
      </p:sp>
    </p:spTree>
    <p:extLst>
      <p:ext uri="{BB962C8B-B14F-4D97-AF65-F5344CB8AC3E}">
        <p14:creationId xmlns:p14="http://schemas.microsoft.com/office/powerpoint/2010/main" val="290337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DAAE73E9-42F0-451D-B15F-3DBFB7782A5B}"/>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The original feedback modes reduce exact correctness</a:t>
            </a:r>
          </a:p>
        </p:txBody>
      </p:sp>
      <p:sp>
        <p:nvSpPr>
          <p:cNvPr id="2" name="Прямоугольник 1">
            <a:extLst>
              <a:ext uri="{FF2B5EF4-FFF2-40B4-BE49-F238E27FC236}">
                <a16:creationId xmlns:a16="http://schemas.microsoft.com/office/drawing/2014/main" id="{9FFD7FE5-3781-4DC5-9E41-0AF5CF191A7F}"/>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 analysis/test_v1/aggregate.json, all 15 test tasks</a:t>
            </a:r>
          </a:p>
        </p:txBody>
      </p:sp>
      <p:sp>
        <p:nvSpPr>
          <p:cNvPr id="3" name="Прямоугольник 2">
            <a:extLst>
              <a:ext uri="{FF2B5EF4-FFF2-40B4-BE49-F238E27FC236}">
                <a16:creationId xmlns:a16="http://schemas.microsoft.com/office/drawing/2014/main" id="{958BD75B-3A5B-48B4-8A00-0FC1E9D77968}"/>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5</a:t>
            </a:r>
          </a:p>
        </p:txBody>
      </p:sp>
      <p:sp>
        <p:nvSpPr>
          <p:cNvPr id="4" name="Прямоугольник 3">
            <a:extLst>
              <a:ext uri="{FF2B5EF4-FFF2-40B4-BE49-F238E27FC236}">
                <a16:creationId xmlns:a16="http://schemas.microsoft.com/office/drawing/2014/main" id="{47055545-814F-4175-8177-41B8C67390D9}"/>
              </a:ext>
            </a:extLst>
          </p:cNvPr>
          <p:cNvSpPr>
            <a:spLocks noGrp="1"/>
          </p:cNvSpPr>
          <p:nvPr/>
        </p:nvSpPr>
        <p:spPr>
          <a:xfrm>
            <a:off x="609600" y="1409700"/>
            <a:ext cx="7143750" cy="352425"/>
          </a:xfrm>
          <a:prstGeom prst="rect">
            <a:avLst/>
          </a:prstGeom>
          <a:noFill/>
          <a:ln w="0">
            <a:noFill/>
          </a:ln>
        </p:spPr>
        <p:txBody>
          <a:bodyPr lIns="0" tIns="0" rIns="0" bIns="0" anchor="t"/>
          <a:lstStyle>
            <a:defPPr>
              <a:defRPr sz="1875" b="0">
                <a:solidFill>
                  <a:srgbClr val="1F4E79"/>
                </a:solidFill>
                <a:latin typeface="Arial"/>
                <a:ea typeface="Arial"/>
                <a:cs typeface="Arial"/>
              </a:defRPr>
            </a:defPPr>
            <a:lvl1pPr>
              <a:defRPr sz="1875" b="0">
                <a:solidFill>
                  <a:srgbClr val="1F4E79"/>
                </a:solidFill>
                <a:latin typeface="Arial"/>
                <a:ea typeface="Arial"/>
                <a:cs typeface="Arial"/>
              </a:defRPr>
            </a:lvl1pPr>
            <a:lvl2pPr>
              <a:defRPr sz="1875" b="0">
                <a:solidFill>
                  <a:srgbClr val="1F4E79"/>
                </a:solidFill>
                <a:latin typeface="Arial"/>
                <a:ea typeface="Arial"/>
                <a:cs typeface="Arial"/>
              </a:defRPr>
            </a:lvl2pPr>
            <a:lvl3pPr>
              <a:defRPr sz="1875" b="0">
                <a:solidFill>
                  <a:srgbClr val="1F4E79"/>
                </a:solidFill>
                <a:latin typeface="Arial"/>
                <a:ea typeface="Arial"/>
                <a:cs typeface="Arial"/>
              </a:defRPr>
            </a:lvl3pPr>
            <a:lvl4pPr>
              <a:defRPr sz="1875" b="0">
                <a:solidFill>
                  <a:srgbClr val="1F4E79"/>
                </a:solidFill>
                <a:latin typeface="Arial"/>
                <a:ea typeface="Arial"/>
                <a:cs typeface="Arial"/>
              </a:defRPr>
            </a:lvl4pPr>
            <a:lvl5pPr>
              <a:defRPr sz="1875" b="0">
                <a:solidFill>
                  <a:srgbClr val="1F4E79"/>
                </a:solidFill>
                <a:latin typeface="Arial"/>
                <a:ea typeface="Arial"/>
                <a:cs typeface="Arial"/>
              </a:defRPr>
            </a:lvl5pPr>
            <a:lvl6pPr>
              <a:defRPr sz="1875" b="0">
                <a:solidFill>
                  <a:srgbClr val="1F4E79"/>
                </a:solidFill>
                <a:latin typeface="Arial"/>
                <a:ea typeface="Arial"/>
                <a:cs typeface="Arial"/>
              </a:defRPr>
            </a:lvl6pPr>
            <a:lvl7pPr>
              <a:defRPr sz="1875" b="0">
                <a:solidFill>
                  <a:srgbClr val="1F4E79"/>
                </a:solidFill>
                <a:latin typeface="Arial"/>
                <a:ea typeface="Arial"/>
                <a:cs typeface="Arial"/>
              </a:defRPr>
            </a:lvl7pPr>
            <a:lvl8pPr>
              <a:defRPr sz="1875" b="0">
                <a:solidFill>
                  <a:srgbClr val="1F4E79"/>
                </a:solidFill>
                <a:latin typeface="Arial"/>
                <a:ea typeface="Arial"/>
                <a:cs typeface="Arial"/>
              </a:defRPr>
            </a:lvl8pPr>
            <a:lvl9pPr>
              <a:defRPr sz="1875" b="0">
                <a:solidFill>
                  <a:srgbClr val="1F4E79"/>
                </a:solidFill>
                <a:latin typeface="Arial"/>
                <a:ea typeface="Arial"/>
                <a:cs typeface="Arial"/>
              </a:defRPr>
            </a:lvl9pPr>
          </a:lstStyle>
          <a:p>
            <a:pPr>
              <a:defRPr sz="1875" b="0">
                <a:solidFill>
                  <a:srgbClr val="1F4E79"/>
                </a:solidFill>
                <a:latin typeface="Arial"/>
                <a:ea typeface="Arial"/>
                <a:cs typeface="Arial"/>
              </a:defRPr>
            </a:pPr>
            <a:r>
              <a:rPr sz="1875" b="0">
                <a:solidFill>
                  <a:srgbClr val="1F4E79"/>
                </a:solidFill>
                <a:latin typeface="Arial"/>
                <a:ea typeface="Arial"/>
                <a:cs typeface="Arial"/>
              </a:rPr>
              <a:t>Exactly correct graphs out of 15</a:t>
            </a:r>
          </a:p>
        </p:txBody>
      </p:sp>
      <p:graphicFrame>
        <p:nvGraphicFramePr>
          <p:cNvPr id="5" name="Chart">
            <a:extLst>
              <a:ext uri="{FF2B5EF4-FFF2-40B4-BE49-F238E27FC236}">
                <a16:creationId xmlns:a16="http://schemas.microsoft.com/office/drawing/2014/main" id="{9D9C050E-F2F0-4B5A-945E-D9746D43554B}"/>
              </a:ext>
            </a:extLst>
          </p:cNvPr>
          <p:cNvGraphicFramePr/>
          <p:nvPr/>
        </p:nvGraphicFramePr>
        <p:xfrm>
          <a:off x="609600" y="1809750"/>
          <a:ext cx="714375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6" name="Прямоугольник 5">
            <a:extLst>
              <a:ext uri="{FF2B5EF4-FFF2-40B4-BE49-F238E27FC236}">
                <a16:creationId xmlns:a16="http://schemas.microsoft.com/office/drawing/2014/main" id="{2CAC8055-DA38-4C24-808B-1A4AFC9F083A}"/>
              </a:ext>
            </a:extLst>
          </p:cNvPr>
          <p:cNvSpPr>
            <a:spLocks noGrp="1"/>
          </p:cNvSpPr>
          <p:nvPr/>
        </p:nvSpPr>
        <p:spPr>
          <a:xfrm>
            <a:off x="8191500" y="1981200"/>
            <a:ext cx="3286125" cy="60960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B0  Initial</a:t>
            </a:r>
          </a:p>
        </p:txBody>
      </p:sp>
      <p:sp>
        <p:nvSpPr>
          <p:cNvPr id="7" name="Прямоугольник 6">
            <a:extLst>
              <a:ext uri="{FF2B5EF4-FFF2-40B4-BE49-F238E27FC236}">
                <a16:creationId xmlns:a16="http://schemas.microsoft.com/office/drawing/2014/main" id="{C74908F7-E2B8-41FB-866B-F1B4FFEBC536}"/>
              </a:ext>
            </a:extLst>
          </p:cNvPr>
          <p:cNvSpPr>
            <a:spLocks noGrp="1"/>
          </p:cNvSpPr>
          <p:nvPr/>
        </p:nvSpPr>
        <p:spPr>
          <a:xfrm>
            <a:off x="8191500" y="2705100"/>
            <a:ext cx="3286125" cy="60960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B1  Checks</a:t>
            </a:r>
          </a:p>
        </p:txBody>
      </p:sp>
      <p:sp>
        <p:nvSpPr>
          <p:cNvPr id="8" name="Прямоугольник 7">
            <a:extLst>
              <a:ext uri="{FF2B5EF4-FFF2-40B4-BE49-F238E27FC236}">
                <a16:creationId xmlns:a16="http://schemas.microsoft.com/office/drawing/2014/main" id="{961B3185-4697-415A-80A7-4DA0FFCA2866}"/>
              </a:ext>
            </a:extLst>
          </p:cNvPr>
          <p:cNvSpPr>
            <a:spLocks noGrp="1"/>
          </p:cNvSpPr>
          <p:nvPr/>
        </p:nvSpPr>
        <p:spPr>
          <a:xfrm>
            <a:off x="8191500" y="3429000"/>
            <a:ext cx="3286125" cy="60960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B2  Visual critique</a:t>
            </a:r>
          </a:p>
        </p:txBody>
      </p:sp>
      <p:sp>
        <p:nvSpPr>
          <p:cNvPr id="9" name="Прямоугольник 8">
            <a:extLst>
              <a:ext uri="{FF2B5EF4-FFF2-40B4-BE49-F238E27FC236}">
                <a16:creationId xmlns:a16="http://schemas.microsoft.com/office/drawing/2014/main" id="{9DA4D98A-8E15-4E07-B7F7-A706D5F70F2C}"/>
              </a:ext>
            </a:extLst>
          </p:cNvPr>
          <p:cNvSpPr>
            <a:spLocks noGrp="1"/>
          </p:cNvSpPr>
          <p:nvPr/>
        </p:nvSpPr>
        <p:spPr>
          <a:xfrm>
            <a:off x="8191500" y="4152900"/>
            <a:ext cx="3286125" cy="60960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B3  Both</a:t>
            </a:r>
          </a:p>
        </p:txBody>
      </p:sp>
      <p:sp>
        <p:nvSpPr>
          <p:cNvPr id="10" name="Прямоугольник 9">
            <a:extLst>
              <a:ext uri="{FF2B5EF4-FFF2-40B4-BE49-F238E27FC236}">
                <a16:creationId xmlns:a16="http://schemas.microsoft.com/office/drawing/2014/main" id="{BB761CCA-E672-4D97-9887-1C421489EC53}"/>
              </a:ext>
            </a:extLst>
          </p:cNvPr>
          <p:cNvSpPr>
            <a:spLocks noGrp="1"/>
          </p:cNvSpPr>
          <p:nvPr/>
        </p:nvSpPr>
        <p:spPr>
          <a:xfrm>
            <a:off x="8191500" y="4962525"/>
            <a:ext cx="3286125" cy="838200"/>
          </a:xfrm>
          <a:prstGeom prst="rect">
            <a:avLst/>
          </a:prstGeom>
          <a:noFill/>
          <a:ln w="0">
            <a:noFill/>
          </a:ln>
        </p:spPr>
        <p:txBody>
          <a:bodyPr lIns="0" tIns="0" rIns="0" bIns="0" anchor="t"/>
          <a:lstStyle>
            <a:defPPr>
              <a:defRPr sz="1950" b="1">
                <a:solidFill>
                  <a:srgbClr val="1F4E79"/>
                </a:solidFill>
                <a:latin typeface="Arial"/>
                <a:ea typeface="Arial"/>
                <a:cs typeface="Arial"/>
              </a:defRPr>
            </a:defPPr>
            <a:lvl1pPr>
              <a:defRPr sz="1950" b="1">
                <a:solidFill>
                  <a:srgbClr val="1F4E79"/>
                </a:solidFill>
                <a:latin typeface="Arial"/>
                <a:ea typeface="Arial"/>
                <a:cs typeface="Arial"/>
              </a:defRPr>
            </a:lvl1pPr>
            <a:lvl2pPr>
              <a:defRPr sz="1950" b="1">
                <a:solidFill>
                  <a:srgbClr val="1F4E79"/>
                </a:solidFill>
                <a:latin typeface="Arial"/>
                <a:ea typeface="Arial"/>
                <a:cs typeface="Arial"/>
              </a:defRPr>
            </a:lvl2pPr>
            <a:lvl3pPr>
              <a:defRPr sz="1950" b="1">
                <a:solidFill>
                  <a:srgbClr val="1F4E79"/>
                </a:solidFill>
                <a:latin typeface="Arial"/>
                <a:ea typeface="Arial"/>
                <a:cs typeface="Arial"/>
              </a:defRPr>
            </a:lvl3pPr>
            <a:lvl4pPr>
              <a:defRPr sz="1950" b="1">
                <a:solidFill>
                  <a:srgbClr val="1F4E79"/>
                </a:solidFill>
                <a:latin typeface="Arial"/>
                <a:ea typeface="Arial"/>
                <a:cs typeface="Arial"/>
              </a:defRPr>
            </a:lvl4pPr>
            <a:lvl5pPr>
              <a:defRPr sz="1950" b="1">
                <a:solidFill>
                  <a:srgbClr val="1F4E79"/>
                </a:solidFill>
                <a:latin typeface="Arial"/>
                <a:ea typeface="Arial"/>
                <a:cs typeface="Arial"/>
              </a:defRPr>
            </a:lvl5pPr>
            <a:lvl6pPr>
              <a:defRPr sz="1950" b="1">
                <a:solidFill>
                  <a:srgbClr val="1F4E79"/>
                </a:solidFill>
                <a:latin typeface="Arial"/>
                <a:ea typeface="Arial"/>
                <a:cs typeface="Arial"/>
              </a:defRPr>
            </a:lvl6pPr>
            <a:lvl7pPr>
              <a:defRPr sz="1950" b="1">
                <a:solidFill>
                  <a:srgbClr val="1F4E79"/>
                </a:solidFill>
                <a:latin typeface="Arial"/>
                <a:ea typeface="Arial"/>
                <a:cs typeface="Arial"/>
              </a:defRPr>
            </a:lvl7pPr>
            <a:lvl8pPr>
              <a:defRPr sz="1950" b="1">
                <a:solidFill>
                  <a:srgbClr val="1F4E79"/>
                </a:solidFill>
                <a:latin typeface="Arial"/>
                <a:ea typeface="Arial"/>
                <a:cs typeface="Arial"/>
              </a:defRPr>
            </a:lvl8pPr>
            <a:lvl9pPr>
              <a:defRPr sz="1950" b="1">
                <a:solidFill>
                  <a:srgbClr val="1F4E79"/>
                </a:solidFill>
                <a:latin typeface="Arial"/>
                <a:ea typeface="Arial"/>
                <a:cs typeface="Arial"/>
              </a:defRPr>
            </a:lvl9pPr>
          </a:lstStyle>
          <a:p>
            <a:pPr>
              <a:defRPr sz="1950" b="1">
                <a:solidFill>
                  <a:srgbClr val="1F4E79"/>
                </a:solidFill>
                <a:latin typeface="Arial"/>
                <a:ea typeface="Arial"/>
                <a:cs typeface="Arial"/>
              </a:defRPr>
            </a:pPr>
            <a:r>
              <a:rPr sz="1950" b="1">
                <a:solidFill>
                  <a:srgbClr val="1F4E79"/>
                </a:solidFill>
                <a:latin typeface="Arial"/>
                <a:ea typeface="Arial"/>
                <a:cs typeface="Arial"/>
              </a:rPr>
              <a:t>No edit fixes an incorrect B0 to exact correctness</a:t>
            </a:r>
          </a:p>
        </p:txBody>
      </p:sp>
    </p:spTree>
    <p:extLst>
      <p:ext uri="{BB962C8B-B14F-4D97-AF65-F5344CB8AC3E}">
        <p14:creationId xmlns:p14="http://schemas.microsoft.com/office/powerpoint/2010/main" val="1101074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B847D54B-C02E-4616-8BC2-FFAE52A85C1A}"/>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The GPU experiment replaces the visual critic</a:t>
            </a:r>
          </a:p>
        </p:txBody>
      </p:sp>
      <p:sp>
        <p:nvSpPr>
          <p:cNvPr id="2" name="Прямоугольник 1">
            <a:extLst>
              <a:ext uri="{FF2B5EF4-FFF2-40B4-BE49-F238E27FC236}">
                <a16:creationId xmlns:a16="http://schemas.microsoft.com/office/drawing/2014/main" id="{CA93AE2B-A6F8-4CF3-9B5E-27173BC04805}"/>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Sources: gpu_vlm_v1 manifest and execution metadata</a:t>
            </a:r>
          </a:p>
        </p:txBody>
      </p:sp>
      <p:sp>
        <p:nvSpPr>
          <p:cNvPr id="3" name="Прямоугольник 2">
            <a:extLst>
              <a:ext uri="{FF2B5EF4-FFF2-40B4-BE49-F238E27FC236}">
                <a16:creationId xmlns:a16="http://schemas.microsoft.com/office/drawing/2014/main" id="{862CF0FE-F730-4427-986F-5622FB879FEB}"/>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6</a:t>
            </a:r>
          </a:p>
        </p:txBody>
      </p:sp>
      <p:graphicFrame>
        <p:nvGraphicFramePr>
          <p:cNvPr id="4" name="Таблица 3">
            <a:extLst>
              <a:ext uri="{FF2B5EF4-FFF2-40B4-BE49-F238E27FC236}">
                <a16:creationId xmlns:a16="http://schemas.microsoft.com/office/drawing/2014/main" id="{5597C52D-DD98-4656-9D57-926DC56D4535}"/>
              </a:ext>
            </a:extLst>
          </p:cNvPr>
          <p:cNvGraphicFramePr/>
          <p:nvPr/>
        </p:nvGraphicFramePr>
        <p:xfrm>
          <a:off x="609600" y="1685925"/>
          <a:ext cx="10953750" cy="3524250"/>
        </p:xfrm>
        <a:graphic>
          <a:graphicData uri="http://schemas.openxmlformats.org/drawingml/2006/table">
            <a:tbl>
              <a:tblPr/>
              <a:tblGrid>
                <a:gridCol w="361950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704850">
                <a:tc>
                  <a:txBody>
                    <a:bodyPr/>
                    <a:lstStyle/>
                    <a:p>
                      <a:r>
                        <a:rPr sz="1950" b="1">
                          <a:solidFill>
                            <a:srgbClr val="1F4E79"/>
                          </a:solidFill>
                          <a:latin typeface="Arial"/>
                          <a:ea typeface="Arial"/>
                          <a:cs typeface="Arial"/>
                        </a:rPr>
                        <a:t>Component</a:t>
                      </a:r>
                    </a:p>
                  </a:txBody>
                  <a:tcPr>
                    <a:solidFill>
                      <a:srgbClr val="FFFFFF"/>
                    </a:solidFill>
                  </a:tcPr>
                </a:tc>
                <a:tc>
                  <a:txBody>
                    <a:bodyPr/>
                    <a:lstStyle/>
                    <a:p>
                      <a:r>
                        <a:rPr sz="1950" b="1">
                          <a:solidFill>
                            <a:srgbClr val="1F4E79"/>
                          </a:solidFill>
                          <a:latin typeface="Arial"/>
                          <a:ea typeface="Arial"/>
                          <a:cs typeface="Arial"/>
                        </a:rPr>
                        <a:t>GPU comparison</a:t>
                      </a:r>
                    </a:p>
                  </a:txBody>
                  <a:tcPr>
                    <a:solidFill>
                      <a:srgbClr val="FFFFFF"/>
                    </a:solidFill>
                  </a:tcPr>
                </a:tc>
                <a:extLst>
                  <a:ext uri="{0D108BD9-81ED-4DB2-BD59-A6C34878D82A}">
                    <a16:rowId xmlns:a16="http://schemas.microsoft.com/office/drawing/2014/main" val="10000"/>
                  </a:ext>
                </a:extLst>
              </a:tr>
              <a:tr h="704850">
                <a:tc>
                  <a:txBody>
                    <a:bodyPr/>
                    <a:lstStyle/>
                    <a:p>
                      <a:r>
                        <a:rPr sz="1950" b="0">
                          <a:solidFill>
                            <a:srgbClr val="1F4E79"/>
                          </a:solidFill>
                          <a:latin typeface="Arial"/>
                          <a:ea typeface="Arial"/>
                          <a:cs typeface="Arial"/>
                        </a:rPr>
                        <a:t>Visual critic</a:t>
                      </a:r>
                    </a:p>
                  </a:txBody>
                  <a:tcPr>
                    <a:solidFill>
                      <a:srgbClr val="FFFFFF"/>
                    </a:solidFill>
                  </a:tcPr>
                </a:tc>
                <a:tc>
                  <a:txBody>
                    <a:bodyPr/>
                    <a:lstStyle/>
                    <a:p>
                      <a:r>
                        <a:rPr sz="1950" b="0">
                          <a:solidFill>
                            <a:srgbClr val="1F4E79"/>
                          </a:solidFill>
                          <a:latin typeface="Arial"/>
                          <a:ea typeface="Arial"/>
                          <a:cs typeface="Arial"/>
                        </a:rPr>
                        <a:t>Qwen2.5-VL-3B-Instruct, FP16</a:t>
                      </a:r>
                    </a:p>
                  </a:txBody>
                  <a:tcPr>
                    <a:solidFill>
                      <a:srgbClr val="FFFFFF"/>
                    </a:solidFill>
                  </a:tcPr>
                </a:tc>
                <a:extLst>
                  <a:ext uri="{0D108BD9-81ED-4DB2-BD59-A6C34878D82A}">
                    <a16:rowId xmlns:a16="http://schemas.microsoft.com/office/drawing/2014/main" val="10001"/>
                  </a:ext>
                </a:extLst>
              </a:tr>
              <a:tr h="704850">
                <a:tc>
                  <a:txBody>
                    <a:bodyPr/>
                    <a:lstStyle/>
                    <a:p>
                      <a:r>
                        <a:rPr sz="1950" b="0">
                          <a:solidFill>
                            <a:srgbClr val="1F4E79"/>
                          </a:solidFill>
                          <a:latin typeface="Arial"/>
                          <a:ea typeface="Arial"/>
                          <a:cs typeface="Arial"/>
                        </a:rPr>
                        <a:t>Hardware</a:t>
                      </a:r>
                    </a:p>
                  </a:txBody>
                  <a:tcPr>
                    <a:solidFill>
                      <a:srgbClr val="FFFFFF"/>
                    </a:solidFill>
                  </a:tcPr>
                </a:tc>
                <a:tc>
                  <a:txBody>
                    <a:bodyPr/>
                    <a:lstStyle/>
                    <a:p>
                      <a:r>
                        <a:rPr sz="1950" b="0">
                          <a:solidFill>
                            <a:srgbClr val="1F4E79"/>
                          </a:solidFill>
                          <a:latin typeface="Arial"/>
                          <a:ea typeface="Arial"/>
                          <a:cs typeface="Arial"/>
                        </a:rPr>
                        <a:t>RTX 3060, 12 GB VRAM</a:t>
                      </a:r>
                    </a:p>
                  </a:txBody>
                  <a:tcPr>
                    <a:solidFill>
                      <a:srgbClr val="FFFFFF"/>
                    </a:solidFill>
                  </a:tcPr>
                </a:tc>
                <a:extLst>
                  <a:ext uri="{0D108BD9-81ED-4DB2-BD59-A6C34878D82A}">
                    <a16:rowId xmlns:a16="http://schemas.microsoft.com/office/drawing/2014/main" val="10002"/>
                  </a:ext>
                </a:extLst>
              </a:tr>
              <a:tr h="704850">
                <a:tc>
                  <a:txBody>
                    <a:bodyPr/>
                    <a:lstStyle/>
                    <a:p>
                      <a:r>
                        <a:rPr sz="1950" b="0">
                          <a:solidFill>
                            <a:srgbClr val="1F4E79"/>
                          </a:solidFill>
                          <a:latin typeface="Arial"/>
                          <a:ea typeface="Arial"/>
                          <a:cs typeface="Arial"/>
                        </a:rPr>
                        <a:t>Measured peak allocation</a:t>
                      </a:r>
                    </a:p>
                  </a:txBody>
                  <a:tcPr>
                    <a:solidFill>
                      <a:srgbClr val="FFFFFF"/>
                    </a:solidFill>
                  </a:tcPr>
                </a:tc>
                <a:tc>
                  <a:txBody>
                    <a:bodyPr/>
                    <a:lstStyle/>
                    <a:p>
                      <a:r>
                        <a:rPr sz="1950" b="0">
                          <a:solidFill>
                            <a:srgbClr val="1F4E79"/>
                          </a:solidFill>
                          <a:latin typeface="Arial"/>
                          <a:ea typeface="Arial"/>
                          <a:cs typeface="Arial"/>
                        </a:rPr>
                        <a:t>7.33 GiB</a:t>
                      </a:r>
                    </a:p>
                  </a:txBody>
                  <a:tcPr>
                    <a:solidFill>
                      <a:srgbClr val="FFFFFF"/>
                    </a:solidFill>
                  </a:tcPr>
                </a:tc>
                <a:extLst>
                  <a:ext uri="{0D108BD9-81ED-4DB2-BD59-A6C34878D82A}">
                    <a16:rowId xmlns:a16="http://schemas.microsoft.com/office/drawing/2014/main" val="10003"/>
                  </a:ext>
                </a:extLst>
              </a:tr>
              <a:tr h="704850">
                <a:tc>
                  <a:txBody>
                    <a:bodyPr/>
                    <a:lstStyle/>
                    <a:p>
                      <a:r>
                        <a:rPr sz="1950" b="0">
                          <a:solidFill>
                            <a:srgbClr val="1F4E79"/>
                          </a:solidFill>
                          <a:latin typeface="Arial"/>
                          <a:ea typeface="Arial"/>
                          <a:cs typeface="Arial"/>
                        </a:rPr>
                        <a:t>Reused controls</a:t>
                      </a:r>
                    </a:p>
                  </a:txBody>
                  <a:tcPr>
                    <a:solidFill>
                      <a:srgbClr val="FFFFFF"/>
                    </a:solidFill>
                  </a:tcPr>
                </a:tc>
                <a:tc>
                  <a:txBody>
                    <a:bodyPr/>
                    <a:lstStyle/>
                    <a:p>
                      <a:r>
                        <a:rPr sz="1950" b="0">
                          <a:solidFill>
                            <a:srgbClr val="1F4E79"/>
                          </a:solidFill>
                          <a:latin typeface="Arial"/>
                          <a:ea typeface="Arial"/>
                          <a:cs typeface="Arial"/>
                        </a:rPr>
                        <a:t>Same B0 / B1, text editor and 15 tasks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Прямоугольник 4">
            <a:extLst>
              <a:ext uri="{FF2B5EF4-FFF2-40B4-BE49-F238E27FC236}">
                <a16:creationId xmlns:a16="http://schemas.microsoft.com/office/drawing/2014/main" id="{898DB67D-BD08-412E-8F33-B95C99175A54}"/>
              </a:ext>
            </a:extLst>
          </p:cNvPr>
          <p:cNvSpPr>
            <a:spLocks noGrp="1"/>
          </p:cNvSpPr>
          <p:nvPr/>
        </p:nvSpPr>
        <p:spPr>
          <a:xfrm>
            <a:off x="609600" y="5495925"/>
            <a:ext cx="10953750" cy="400050"/>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a:pPr>
              <a:defRPr sz="1875" b="1">
                <a:solidFill>
                  <a:srgbClr val="1F4E79"/>
                </a:solidFill>
                <a:latin typeface="Arial"/>
                <a:ea typeface="Arial"/>
                <a:cs typeface="Arial"/>
              </a:defRPr>
            </a:pPr>
            <a:r>
              <a:rPr sz="1875" b="1">
                <a:solidFill>
                  <a:srgbClr val="1F4E79"/>
                </a:solidFill>
                <a:latin typeface="Arial"/>
                <a:ea typeface="Arial"/>
                <a:cs typeface="Arial"/>
              </a:rPr>
              <a:t>Exploratory rerun after viewing the original test results</a:t>
            </a:r>
          </a:p>
        </p:txBody>
      </p:sp>
    </p:spTree>
    <p:extLst>
      <p:ext uri="{BB962C8B-B14F-4D97-AF65-F5344CB8AC3E}">
        <p14:creationId xmlns:p14="http://schemas.microsoft.com/office/powerpoint/2010/main" val="740367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809106D4-688E-434B-B157-F7EA0A762EB6}"/>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The larger critic lowers downstream graph scores</a:t>
            </a:r>
          </a:p>
        </p:txBody>
      </p:sp>
      <p:sp>
        <p:nvSpPr>
          <p:cNvPr id="2" name="Прямоугольник 1">
            <a:extLst>
              <a:ext uri="{FF2B5EF4-FFF2-40B4-BE49-F238E27FC236}">
                <a16:creationId xmlns:a16="http://schemas.microsoft.com/office/drawing/2014/main" id="{321A9593-5F7B-485A-86E8-CE4CF252D5DF}"/>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Sources: test_v1 and gpu_vlm_v1 aggregate.json, same 15 saved tasks</a:t>
            </a:r>
          </a:p>
        </p:txBody>
      </p:sp>
      <p:sp>
        <p:nvSpPr>
          <p:cNvPr id="3" name="Прямоугольник 2">
            <a:extLst>
              <a:ext uri="{FF2B5EF4-FFF2-40B4-BE49-F238E27FC236}">
                <a16:creationId xmlns:a16="http://schemas.microsoft.com/office/drawing/2014/main" id="{4AFE7035-1573-4485-848A-DDBC4F7F405B}"/>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7</a:t>
            </a:r>
          </a:p>
        </p:txBody>
      </p:sp>
      <p:sp>
        <p:nvSpPr>
          <p:cNvPr id="4" name="Прямоугольник 3">
            <a:extLst>
              <a:ext uri="{FF2B5EF4-FFF2-40B4-BE49-F238E27FC236}">
                <a16:creationId xmlns:a16="http://schemas.microsoft.com/office/drawing/2014/main" id="{AB123426-0B08-4A82-BB65-A4319349C539}"/>
              </a:ext>
            </a:extLst>
          </p:cNvPr>
          <p:cNvSpPr>
            <a:spLocks noGrp="1"/>
          </p:cNvSpPr>
          <p:nvPr/>
        </p:nvSpPr>
        <p:spPr>
          <a:xfrm>
            <a:off x="609600" y="1409700"/>
            <a:ext cx="7143750" cy="352425"/>
          </a:xfrm>
          <a:prstGeom prst="rect">
            <a:avLst/>
          </a:prstGeom>
          <a:noFill/>
          <a:ln w="0">
            <a:noFill/>
          </a:ln>
        </p:spPr>
        <p:txBody>
          <a:bodyPr lIns="0" tIns="0" rIns="0" bIns="0" anchor="t"/>
          <a:lstStyle>
            <a:defPPr>
              <a:defRPr sz="1875" b="0">
                <a:solidFill>
                  <a:srgbClr val="1F4E79"/>
                </a:solidFill>
                <a:latin typeface="Arial"/>
                <a:ea typeface="Arial"/>
                <a:cs typeface="Arial"/>
              </a:defRPr>
            </a:defPPr>
            <a:lvl1pPr>
              <a:defRPr sz="1875" b="0">
                <a:solidFill>
                  <a:srgbClr val="1F4E79"/>
                </a:solidFill>
                <a:latin typeface="Arial"/>
                <a:ea typeface="Arial"/>
                <a:cs typeface="Arial"/>
              </a:defRPr>
            </a:lvl1pPr>
            <a:lvl2pPr>
              <a:defRPr sz="1875" b="0">
                <a:solidFill>
                  <a:srgbClr val="1F4E79"/>
                </a:solidFill>
                <a:latin typeface="Arial"/>
                <a:ea typeface="Arial"/>
                <a:cs typeface="Arial"/>
              </a:defRPr>
            </a:lvl2pPr>
            <a:lvl3pPr>
              <a:defRPr sz="1875" b="0">
                <a:solidFill>
                  <a:srgbClr val="1F4E79"/>
                </a:solidFill>
                <a:latin typeface="Arial"/>
                <a:ea typeface="Arial"/>
                <a:cs typeface="Arial"/>
              </a:defRPr>
            </a:lvl3pPr>
            <a:lvl4pPr>
              <a:defRPr sz="1875" b="0">
                <a:solidFill>
                  <a:srgbClr val="1F4E79"/>
                </a:solidFill>
                <a:latin typeface="Arial"/>
                <a:ea typeface="Arial"/>
                <a:cs typeface="Arial"/>
              </a:defRPr>
            </a:lvl4pPr>
            <a:lvl5pPr>
              <a:defRPr sz="1875" b="0">
                <a:solidFill>
                  <a:srgbClr val="1F4E79"/>
                </a:solidFill>
                <a:latin typeface="Arial"/>
                <a:ea typeface="Arial"/>
                <a:cs typeface="Arial"/>
              </a:defRPr>
            </a:lvl5pPr>
            <a:lvl6pPr>
              <a:defRPr sz="1875" b="0">
                <a:solidFill>
                  <a:srgbClr val="1F4E79"/>
                </a:solidFill>
                <a:latin typeface="Arial"/>
                <a:ea typeface="Arial"/>
                <a:cs typeface="Arial"/>
              </a:defRPr>
            </a:lvl6pPr>
            <a:lvl7pPr>
              <a:defRPr sz="1875" b="0">
                <a:solidFill>
                  <a:srgbClr val="1F4E79"/>
                </a:solidFill>
                <a:latin typeface="Arial"/>
                <a:ea typeface="Arial"/>
                <a:cs typeface="Arial"/>
              </a:defRPr>
            </a:lvl7pPr>
            <a:lvl8pPr>
              <a:defRPr sz="1875" b="0">
                <a:solidFill>
                  <a:srgbClr val="1F4E79"/>
                </a:solidFill>
                <a:latin typeface="Arial"/>
                <a:ea typeface="Arial"/>
                <a:cs typeface="Arial"/>
              </a:defRPr>
            </a:lvl8pPr>
            <a:lvl9pPr>
              <a:defRPr sz="1875" b="0">
                <a:solidFill>
                  <a:srgbClr val="1F4E79"/>
                </a:solidFill>
                <a:latin typeface="Arial"/>
                <a:ea typeface="Arial"/>
                <a:cs typeface="Arial"/>
              </a:defRPr>
            </a:lvl9pPr>
          </a:lstStyle>
          <a:p>
            <a:pPr>
              <a:defRPr sz="1875" b="0">
                <a:solidFill>
                  <a:srgbClr val="1F4E79"/>
                </a:solidFill>
                <a:latin typeface="Arial"/>
                <a:ea typeface="Arial"/>
                <a:cs typeface="Arial"/>
              </a:defRPr>
            </a:pPr>
            <a:r>
              <a:rPr sz="1875" b="0">
                <a:solidFill>
                  <a:srgbClr val="1F4E79"/>
                </a:solidFill>
                <a:latin typeface="Arial"/>
                <a:ea typeface="Arial"/>
                <a:cs typeface="Arial"/>
              </a:rPr>
              <a:t>Exactly correct graphs out of 15</a:t>
            </a:r>
          </a:p>
        </p:txBody>
      </p:sp>
      <p:graphicFrame>
        <p:nvGraphicFramePr>
          <p:cNvPr id="5" name="Chart">
            <a:extLst>
              <a:ext uri="{FF2B5EF4-FFF2-40B4-BE49-F238E27FC236}">
                <a16:creationId xmlns:a16="http://schemas.microsoft.com/office/drawing/2014/main" id="{CA97B850-9840-4CD3-A28E-A351284E5E73}"/>
              </a:ext>
            </a:extLst>
          </p:cNvPr>
          <p:cNvGraphicFramePr/>
          <p:nvPr/>
        </p:nvGraphicFramePr>
        <p:xfrm>
          <a:off x="609600" y="1809750"/>
          <a:ext cx="714375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6" name="Прямоугольник 5">
            <a:extLst>
              <a:ext uri="{FF2B5EF4-FFF2-40B4-BE49-F238E27FC236}">
                <a16:creationId xmlns:a16="http://schemas.microsoft.com/office/drawing/2014/main" id="{F1C7B22B-4C30-4FE4-A64C-5939D976A9A9}"/>
              </a:ext>
            </a:extLst>
          </p:cNvPr>
          <p:cNvSpPr>
            <a:spLocks noGrp="1"/>
          </p:cNvSpPr>
          <p:nvPr/>
        </p:nvSpPr>
        <p:spPr>
          <a:xfrm>
            <a:off x="8191500" y="1809750"/>
            <a:ext cx="3286125" cy="428625"/>
          </a:xfrm>
          <a:prstGeom prst="rect">
            <a:avLst/>
          </a:prstGeom>
          <a:noFill/>
          <a:ln w="0">
            <a:noFill/>
          </a:ln>
        </p:spPr>
        <p:txBody>
          <a:bodyPr lIns="0" tIns="0" rIns="0" bIns="0" anchor="t"/>
          <a:lstStyle>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a:pPr>
              <a:defRPr sz="2175" b="1">
                <a:solidFill>
                  <a:srgbClr val="1F4E79"/>
                </a:solidFill>
                <a:latin typeface="Arial"/>
                <a:ea typeface="Arial"/>
                <a:cs typeface="Arial"/>
              </a:defRPr>
            </a:pPr>
            <a:r>
              <a:rPr sz="2175" b="1">
                <a:solidFill>
                  <a:srgbClr val="1F4E79"/>
                </a:solidFill>
                <a:latin typeface="Arial"/>
                <a:ea typeface="Arial"/>
                <a:cs typeface="Arial"/>
              </a:rPr>
              <a:t>Mean edge F1</a:t>
            </a:r>
          </a:p>
        </p:txBody>
      </p:sp>
      <p:sp>
        <p:nvSpPr>
          <p:cNvPr id="7" name="Прямоугольник 6">
            <a:extLst>
              <a:ext uri="{FF2B5EF4-FFF2-40B4-BE49-F238E27FC236}">
                <a16:creationId xmlns:a16="http://schemas.microsoft.com/office/drawing/2014/main" id="{B4EC6EFB-86F1-4FC6-85EB-B96D5F9D5376}"/>
              </a:ext>
            </a:extLst>
          </p:cNvPr>
          <p:cNvSpPr>
            <a:spLocks noGrp="1"/>
          </p:cNvSpPr>
          <p:nvPr/>
        </p:nvSpPr>
        <p:spPr>
          <a:xfrm>
            <a:off x="8191500" y="2505075"/>
            <a:ext cx="3286125" cy="704850"/>
          </a:xfrm>
          <a:prstGeom prst="rect">
            <a:avLst/>
          </a:prstGeom>
          <a:noFill/>
          <a:ln w="0">
            <a:noFill/>
          </a:ln>
        </p:spPr>
        <p:txBody>
          <a:bodyPr lIns="0" tIns="0" rIns="0" bIns="0" anchor="t"/>
          <a:lstStyle>
            <a:defPPr>
              <a:defRPr sz="1950" b="0">
                <a:solidFill>
                  <a:srgbClr val="1F4E79"/>
                </a:solidFill>
                <a:latin typeface="Arial"/>
                <a:ea typeface="Arial"/>
                <a:cs typeface="Arial"/>
              </a:defRPr>
            </a:defPPr>
            <a:lvl1pPr>
              <a:defRPr sz="1950" b="0">
                <a:solidFill>
                  <a:srgbClr val="1F4E79"/>
                </a:solidFill>
                <a:latin typeface="Arial"/>
                <a:ea typeface="Arial"/>
                <a:cs typeface="Arial"/>
              </a:defRPr>
            </a:lvl1pPr>
            <a:lvl2pPr>
              <a:defRPr sz="1950" b="0">
                <a:solidFill>
                  <a:srgbClr val="1F4E79"/>
                </a:solidFill>
                <a:latin typeface="Arial"/>
                <a:ea typeface="Arial"/>
                <a:cs typeface="Arial"/>
              </a:defRPr>
            </a:lvl2pPr>
            <a:lvl3pPr>
              <a:defRPr sz="1950" b="0">
                <a:solidFill>
                  <a:srgbClr val="1F4E79"/>
                </a:solidFill>
                <a:latin typeface="Arial"/>
                <a:ea typeface="Arial"/>
                <a:cs typeface="Arial"/>
              </a:defRPr>
            </a:lvl3pPr>
            <a:lvl4pPr>
              <a:defRPr sz="1950" b="0">
                <a:solidFill>
                  <a:srgbClr val="1F4E79"/>
                </a:solidFill>
                <a:latin typeface="Arial"/>
                <a:ea typeface="Arial"/>
                <a:cs typeface="Arial"/>
              </a:defRPr>
            </a:lvl4pPr>
            <a:lvl5pPr>
              <a:defRPr sz="1950" b="0">
                <a:solidFill>
                  <a:srgbClr val="1F4E79"/>
                </a:solidFill>
                <a:latin typeface="Arial"/>
                <a:ea typeface="Arial"/>
                <a:cs typeface="Arial"/>
              </a:defRPr>
            </a:lvl5pPr>
            <a:lvl6pPr>
              <a:defRPr sz="1950" b="0">
                <a:solidFill>
                  <a:srgbClr val="1F4E79"/>
                </a:solidFill>
                <a:latin typeface="Arial"/>
                <a:ea typeface="Arial"/>
                <a:cs typeface="Arial"/>
              </a:defRPr>
            </a:lvl6pPr>
            <a:lvl7pPr>
              <a:defRPr sz="1950" b="0">
                <a:solidFill>
                  <a:srgbClr val="1F4E79"/>
                </a:solidFill>
                <a:latin typeface="Arial"/>
                <a:ea typeface="Arial"/>
                <a:cs typeface="Arial"/>
              </a:defRPr>
            </a:lvl7pPr>
            <a:lvl8pPr>
              <a:defRPr sz="1950" b="0">
                <a:solidFill>
                  <a:srgbClr val="1F4E79"/>
                </a:solidFill>
                <a:latin typeface="Arial"/>
                <a:ea typeface="Arial"/>
                <a:cs typeface="Arial"/>
              </a:defRPr>
            </a:lvl8pPr>
            <a:lvl9pPr>
              <a:defRPr sz="1950" b="0">
                <a:solidFill>
                  <a:srgbClr val="1F4E79"/>
                </a:solidFill>
                <a:latin typeface="Arial"/>
                <a:ea typeface="Arial"/>
                <a:cs typeface="Arial"/>
              </a:defRPr>
            </a:lvl9pPr>
          </a:lstStyle>
          <a:p>
            <a:pPr>
              <a:defRPr sz="1950" b="0">
                <a:solidFill>
                  <a:srgbClr val="1F4E79"/>
                </a:solidFill>
                <a:latin typeface="Arial"/>
                <a:ea typeface="Arial"/>
                <a:cs typeface="Arial"/>
              </a:defRPr>
            </a:pPr>
            <a:r>
              <a:rPr sz="1950" b="0">
                <a:solidFill>
                  <a:srgbClr val="1F4E79"/>
                </a:solidFill>
                <a:latin typeface="Arial"/>
                <a:ea typeface="Arial"/>
                <a:cs typeface="Arial"/>
              </a:rPr>
              <a:t>B2   0.912 to 0.810</a:t>
            </a:r>
          </a:p>
        </p:txBody>
      </p:sp>
      <p:sp>
        <p:nvSpPr>
          <p:cNvPr id="8" name="Прямоугольник 7">
            <a:extLst>
              <a:ext uri="{FF2B5EF4-FFF2-40B4-BE49-F238E27FC236}">
                <a16:creationId xmlns:a16="http://schemas.microsoft.com/office/drawing/2014/main" id="{A22566E1-EFDA-4A9B-B6B7-7EA07EE9DC2D}"/>
              </a:ext>
            </a:extLst>
          </p:cNvPr>
          <p:cNvSpPr>
            <a:spLocks noGrp="1"/>
          </p:cNvSpPr>
          <p:nvPr/>
        </p:nvSpPr>
        <p:spPr>
          <a:xfrm>
            <a:off x="8191500" y="3324225"/>
            <a:ext cx="3286125" cy="704850"/>
          </a:xfrm>
          <a:prstGeom prst="rect">
            <a:avLst/>
          </a:prstGeom>
          <a:noFill/>
          <a:ln w="0">
            <a:noFill/>
          </a:ln>
        </p:spPr>
        <p:txBody>
          <a:bodyPr lIns="0" tIns="0" rIns="0" bIns="0" anchor="t"/>
          <a:lstStyle>
            <a:defPPr>
              <a:defRPr sz="1950" b="0">
                <a:solidFill>
                  <a:srgbClr val="1F4E79"/>
                </a:solidFill>
                <a:latin typeface="Arial"/>
                <a:ea typeface="Arial"/>
                <a:cs typeface="Arial"/>
              </a:defRPr>
            </a:defPPr>
            <a:lvl1pPr>
              <a:defRPr sz="1950" b="0">
                <a:solidFill>
                  <a:srgbClr val="1F4E79"/>
                </a:solidFill>
                <a:latin typeface="Arial"/>
                <a:ea typeface="Arial"/>
                <a:cs typeface="Arial"/>
              </a:defRPr>
            </a:lvl1pPr>
            <a:lvl2pPr>
              <a:defRPr sz="1950" b="0">
                <a:solidFill>
                  <a:srgbClr val="1F4E79"/>
                </a:solidFill>
                <a:latin typeface="Arial"/>
                <a:ea typeface="Arial"/>
                <a:cs typeface="Arial"/>
              </a:defRPr>
            </a:lvl2pPr>
            <a:lvl3pPr>
              <a:defRPr sz="1950" b="0">
                <a:solidFill>
                  <a:srgbClr val="1F4E79"/>
                </a:solidFill>
                <a:latin typeface="Arial"/>
                <a:ea typeface="Arial"/>
                <a:cs typeface="Arial"/>
              </a:defRPr>
            </a:lvl3pPr>
            <a:lvl4pPr>
              <a:defRPr sz="1950" b="0">
                <a:solidFill>
                  <a:srgbClr val="1F4E79"/>
                </a:solidFill>
                <a:latin typeface="Arial"/>
                <a:ea typeface="Arial"/>
                <a:cs typeface="Arial"/>
              </a:defRPr>
            </a:lvl4pPr>
            <a:lvl5pPr>
              <a:defRPr sz="1950" b="0">
                <a:solidFill>
                  <a:srgbClr val="1F4E79"/>
                </a:solidFill>
                <a:latin typeface="Arial"/>
                <a:ea typeface="Arial"/>
                <a:cs typeface="Arial"/>
              </a:defRPr>
            </a:lvl5pPr>
            <a:lvl6pPr>
              <a:defRPr sz="1950" b="0">
                <a:solidFill>
                  <a:srgbClr val="1F4E79"/>
                </a:solidFill>
                <a:latin typeface="Arial"/>
                <a:ea typeface="Arial"/>
                <a:cs typeface="Arial"/>
              </a:defRPr>
            </a:lvl6pPr>
            <a:lvl7pPr>
              <a:defRPr sz="1950" b="0">
                <a:solidFill>
                  <a:srgbClr val="1F4E79"/>
                </a:solidFill>
                <a:latin typeface="Arial"/>
                <a:ea typeface="Arial"/>
                <a:cs typeface="Arial"/>
              </a:defRPr>
            </a:lvl7pPr>
            <a:lvl8pPr>
              <a:defRPr sz="1950" b="0">
                <a:solidFill>
                  <a:srgbClr val="1F4E79"/>
                </a:solidFill>
                <a:latin typeface="Arial"/>
                <a:ea typeface="Arial"/>
                <a:cs typeface="Arial"/>
              </a:defRPr>
            </a:lvl8pPr>
            <a:lvl9pPr>
              <a:defRPr sz="1950" b="0">
                <a:solidFill>
                  <a:srgbClr val="1F4E79"/>
                </a:solidFill>
                <a:latin typeface="Arial"/>
                <a:ea typeface="Arial"/>
                <a:cs typeface="Arial"/>
              </a:defRPr>
            </a:lvl9pPr>
          </a:lstStyle>
          <a:p>
            <a:pPr>
              <a:defRPr sz="1950" b="0">
                <a:solidFill>
                  <a:srgbClr val="1F4E79"/>
                </a:solidFill>
                <a:latin typeface="Arial"/>
                <a:ea typeface="Arial"/>
                <a:cs typeface="Arial"/>
              </a:defRPr>
            </a:pPr>
            <a:r>
              <a:rPr sz="1950" b="0">
                <a:solidFill>
                  <a:srgbClr val="1F4E79"/>
                </a:solidFill>
                <a:latin typeface="Arial"/>
                <a:ea typeface="Arial"/>
                <a:cs typeface="Arial"/>
              </a:rPr>
              <a:t>B3   0.899 to 0.810</a:t>
            </a:r>
          </a:p>
        </p:txBody>
      </p:sp>
      <p:sp>
        <p:nvSpPr>
          <p:cNvPr id="9" name="Прямоугольник 8">
            <a:extLst>
              <a:ext uri="{FF2B5EF4-FFF2-40B4-BE49-F238E27FC236}">
                <a16:creationId xmlns:a16="http://schemas.microsoft.com/office/drawing/2014/main" id="{D5E17CD9-63FA-4031-A8BB-282D58E62C50}"/>
              </a:ext>
            </a:extLst>
          </p:cNvPr>
          <p:cNvSpPr>
            <a:spLocks noGrp="1"/>
          </p:cNvSpPr>
          <p:nvPr/>
        </p:nvSpPr>
        <p:spPr>
          <a:xfrm>
            <a:off x="8191500" y="4143375"/>
            <a:ext cx="3286125" cy="704850"/>
          </a:xfrm>
          <a:prstGeom prst="rect">
            <a:avLst/>
          </a:prstGeom>
          <a:noFill/>
          <a:ln w="0">
            <a:noFill/>
          </a:ln>
        </p:spPr>
        <p:txBody>
          <a:bodyPr lIns="0" tIns="0" rIns="0" bIns="0" anchor="t"/>
          <a:lstStyle>
            <a:defPPr>
              <a:defRPr sz="1950" b="0">
                <a:solidFill>
                  <a:srgbClr val="1F4E79"/>
                </a:solidFill>
                <a:latin typeface="Arial"/>
                <a:ea typeface="Arial"/>
                <a:cs typeface="Arial"/>
              </a:defRPr>
            </a:defPPr>
            <a:lvl1pPr>
              <a:defRPr sz="1950" b="0">
                <a:solidFill>
                  <a:srgbClr val="1F4E79"/>
                </a:solidFill>
                <a:latin typeface="Arial"/>
                <a:ea typeface="Arial"/>
                <a:cs typeface="Arial"/>
              </a:defRPr>
            </a:lvl1pPr>
            <a:lvl2pPr>
              <a:defRPr sz="1950" b="0">
                <a:solidFill>
                  <a:srgbClr val="1F4E79"/>
                </a:solidFill>
                <a:latin typeface="Arial"/>
                <a:ea typeface="Arial"/>
                <a:cs typeface="Arial"/>
              </a:defRPr>
            </a:lvl2pPr>
            <a:lvl3pPr>
              <a:defRPr sz="1950" b="0">
                <a:solidFill>
                  <a:srgbClr val="1F4E79"/>
                </a:solidFill>
                <a:latin typeface="Arial"/>
                <a:ea typeface="Arial"/>
                <a:cs typeface="Arial"/>
              </a:defRPr>
            </a:lvl3pPr>
            <a:lvl4pPr>
              <a:defRPr sz="1950" b="0">
                <a:solidFill>
                  <a:srgbClr val="1F4E79"/>
                </a:solidFill>
                <a:latin typeface="Arial"/>
                <a:ea typeface="Arial"/>
                <a:cs typeface="Arial"/>
              </a:defRPr>
            </a:lvl4pPr>
            <a:lvl5pPr>
              <a:defRPr sz="1950" b="0">
                <a:solidFill>
                  <a:srgbClr val="1F4E79"/>
                </a:solidFill>
                <a:latin typeface="Arial"/>
                <a:ea typeface="Arial"/>
                <a:cs typeface="Arial"/>
              </a:defRPr>
            </a:lvl5pPr>
            <a:lvl6pPr>
              <a:defRPr sz="1950" b="0">
                <a:solidFill>
                  <a:srgbClr val="1F4E79"/>
                </a:solidFill>
                <a:latin typeface="Arial"/>
                <a:ea typeface="Arial"/>
                <a:cs typeface="Arial"/>
              </a:defRPr>
            </a:lvl6pPr>
            <a:lvl7pPr>
              <a:defRPr sz="1950" b="0">
                <a:solidFill>
                  <a:srgbClr val="1F4E79"/>
                </a:solidFill>
                <a:latin typeface="Arial"/>
                <a:ea typeface="Arial"/>
                <a:cs typeface="Arial"/>
              </a:defRPr>
            </a:lvl7pPr>
            <a:lvl8pPr>
              <a:defRPr sz="1950" b="0">
                <a:solidFill>
                  <a:srgbClr val="1F4E79"/>
                </a:solidFill>
                <a:latin typeface="Arial"/>
                <a:ea typeface="Arial"/>
                <a:cs typeface="Arial"/>
              </a:defRPr>
            </a:lvl8pPr>
            <a:lvl9pPr>
              <a:defRPr sz="1950" b="0">
                <a:solidFill>
                  <a:srgbClr val="1F4E79"/>
                </a:solidFill>
                <a:latin typeface="Arial"/>
                <a:ea typeface="Arial"/>
                <a:cs typeface="Arial"/>
              </a:defRPr>
            </a:lvl9pPr>
          </a:lstStyle>
          <a:p>
            <a:pPr>
              <a:defRPr sz="1950" b="0">
                <a:solidFill>
                  <a:srgbClr val="1F4E79"/>
                </a:solidFill>
                <a:latin typeface="Arial"/>
                <a:ea typeface="Arial"/>
                <a:cs typeface="Arial"/>
              </a:defRPr>
            </a:pPr>
            <a:r>
              <a:rPr sz="1950" b="0">
                <a:solidFill>
                  <a:srgbClr val="1F4E79"/>
                </a:solidFill>
                <a:latin typeface="Arial"/>
                <a:ea typeface="Arial"/>
                <a:cs typeface="Arial"/>
              </a:rPr>
              <a:t>New invalid: 1/15 each</a:t>
            </a:r>
          </a:p>
        </p:txBody>
      </p:sp>
      <p:sp>
        <p:nvSpPr>
          <p:cNvPr id="10" name="Прямоугольник 9">
            <a:extLst>
              <a:ext uri="{FF2B5EF4-FFF2-40B4-BE49-F238E27FC236}">
                <a16:creationId xmlns:a16="http://schemas.microsoft.com/office/drawing/2014/main" id="{8100BFD4-B6CD-4618-A75E-4C4374C64C04}"/>
              </a:ext>
            </a:extLst>
          </p:cNvPr>
          <p:cNvSpPr>
            <a:spLocks noGrp="1"/>
          </p:cNvSpPr>
          <p:nvPr/>
        </p:nvSpPr>
        <p:spPr>
          <a:xfrm>
            <a:off x="8191500" y="5000625"/>
            <a:ext cx="3286125" cy="809625"/>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a:pPr>
              <a:defRPr sz="1875" b="1">
                <a:solidFill>
                  <a:srgbClr val="1F4E79"/>
                </a:solidFill>
                <a:latin typeface="Arial"/>
                <a:ea typeface="Arial"/>
                <a:cs typeface="Arial"/>
              </a:defRPr>
            </a:pPr>
            <a:r>
              <a:rPr sz="1875" b="1">
                <a:solidFill>
                  <a:srgbClr val="1F4E79"/>
                </a:solidFill>
                <a:latin typeface="Arial"/>
                <a:ea typeface="Arial"/>
                <a:cs typeface="Arial"/>
              </a:rPr>
              <a:t>System outcome, including the unchanged text editor</a:t>
            </a:r>
          </a:p>
        </p:txBody>
      </p:sp>
    </p:spTree>
    <p:extLst>
      <p:ext uri="{BB962C8B-B14F-4D97-AF65-F5344CB8AC3E}">
        <p14:creationId xmlns:p14="http://schemas.microsoft.com/office/powerpoint/2010/main" val="1852500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A8A4DD63-2562-46B4-98E6-0376F5FCC3BA}"/>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False criticism removes a required start node</a:t>
            </a:r>
          </a:p>
        </p:txBody>
      </p:sp>
      <p:sp>
        <p:nvSpPr>
          <p:cNvPr id="2" name="Прямоугольник 1">
            <a:extLst>
              <a:ext uri="{FF2B5EF4-FFF2-40B4-BE49-F238E27FC236}">
                <a16:creationId xmlns:a16="http://schemas.microsoft.com/office/drawing/2014/main" id="{C2951F25-15A7-464C-A0A5-F59FB47BCBEC}"/>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 test_chain_01, saved B0, GPU visual critique and new B3</a:t>
            </a:r>
          </a:p>
        </p:txBody>
      </p:sp>
      <p:sp>
        <p:nvSpPr>
          <p:cNvPr id="3" name="Прямоугольник 2">
            <a:extLst>
              <a:ext uri="{FF2B5EF4-FFF2-40B4-BE49-F238E27FC236}">
                <a16:creationId xmlns:a16="http://schemas.microsoft.com/office/drawing/2014/main" id="{23475FA8-2012-4450-BB83-76A1960DF880}"/>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8</a:t>
            </a:r>
          </a:p>
        </p:txBody>
      </p:sp>
      <p:sp>
        <p:nvSpPr>
          <p:cNvPr id="4" name="Прямоугольник 3">
            <a:extLst>
              <a:ext uri="{FF2B5EF4-FFF2-40B4-BE49-F238E27FC236}">
                <a16:creationId xmlns:a16="http://schemas.microsoft.com/office/drawing/2014/main" id="{D21C28B3-4CE2-4F3C-B5EF-F5B493D5FB19}"/>
              </a:ext>
            </a:extLst>
          </p:cNvPr>
          <p:cNvSpPr>
            <a:spLocks noGrp="1"/>
          </p:cNvSpPr>
          <p:nvPr/>
        </p:nvSpPr>
        <p:spPr>
          <a:xfrm>
            <a:off x="609600" y="1485900"/>
            <a:ext cx="3714750" cy="342900"/>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a:pPr>
              <a:defRPr sz="2025" b="1">
                <a:solidFill>
                  <a:srgbClr val="1F4E79"/>
                </a:solidFill>
                <a:latin typeface="Arial"/>
                <a:ea typeface="Arial"/>
                <a:cs typeface="Arial"/>
              </a:defRPr>
            </a:pPr>
            <a:r>
              <a:rPr sz="2025" b="1">
                <a:solidFill>
                  <a:srgbClr val="1F4E79"/>
                </a:solidFill>
                <a:latin typeface="Arial"/>
                <a:ea typeface="Arial"/>
                <a:cs typeface="Arial"/>
              </a:rPr>
              <a:t>B0: required start</a:t>
            </a:r>
          </a:p>
        </p:txBody>
      </p:sp>
      <p:sp>
        <p:nvSpPr>
          <p:cNvPr id="5" name="Прямоугольник 4">
            <a:extLst>
              <a:ext uri="{FF2B5EF4-FFF2-40B4-BE49-F238E27FC236}">
                <a16:creationId xmlns:a16="http://schemas.microsoft.com/office/drawing/2014/main" id="{DC2027A1-637F-4283-95C9-5E1096BB382B}"/>
              </a:ext>
            </a:extLst>
          </p:cNvPr>
          <p:cNvSpPr>
            <a:spLocks noGrp="1"/>
          </p:cNvSpPr>
          <p:nvPr/>
        </p:nvSpPr>
        <p:spPr>
          <a:xfrm>
            <a:off x="4495800" y="1485900"/>
            <a:ext cx="3714750" cy="342900"/>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a:pPr>
              <a:defRPr sz="2025" b="1">
                <a:solidFill>
                  <a:srgbClr val="1F4E79"/>
                </a:solidFill>
                <a:latin typeface="Arial"/>
                <a:ea typeface="Arial"/>
                <a:cs typeface="Arial"/>
              </a:defRPr>
            </a:pPr>
            <a:r>
              <a:rPr sz="2025" b="1">
                <a:solidFill>
                  <a:srgbClr val="1F4E79"/>
                </a:solidFill>
                <a:latin typeface="Arial"/>
                <a:ea typeface="Arial"/>
                <a:cs typeface="Arial"/>
              </a:rPr>
              <a:t>New B3: start removed</a:t>
            </a:r>
          </a:p>
        </p:txBody>
      </p:sp>
      <p:pic>
        <p:nvPicPr>
          <p:cNvPr id="6" name="Рисунок 5">
            <a:extLst>
              <a:ext uri="{FF2B5EF4-FFF2-40B4-BE49-F238E27FC236}">
                <a16:creationId xmlns:a16="http://schemas.microsoft.com/office/drawing/2014/main" id="{A0E931A6-5316-4AD1-9BFE-0803740953CA}"/>
              </a:ext>
            </a:extLst>
          </p:cNvPr>
          <p:cNvPicPr>
            <a:picLocks noChangeAspect="1"/>
          </p:cNvPicPr>
          <p:nvPr/>
        </p:nvPicPr>
        <p:blipFill>
          <a:blip r:embed="rId3"/>
          <a:srcRect l="31646" t="694" r="30380" b="78472"/>
          <a:stretch/>
        </p:blipFill>
        <p:spPr>
          <a:xfrm>
            <a:off x="609600" y="1976438"/>
            <a:ext cx="3238500" cy="3238500"/>
          </a:xfrm>
          <a:prstGeom prst="rect">
            <a:avLst/>
          </a:prstGeom>
        </p:spPr>
      </p:pic>
      <p:pic>
        <p:nvPicPr>
          <p:cNvPr id="7" name="Рисунок 6">
            <a:extLst>
              <a:ext uri="{FF2B5EF4-FFF2-40B4-BE49-F238E27FC236}">
                <a16:creationId xmlns:a16="http://schemas.microsoft.com/office/drawing/2014/main" id="{44A3F390-7CE3-4493-8177-63BDCE19300A}"/>
              </a:ext>
            </a:extLst>
          </p:cNvPr>
          <p:cNvPicPr>
            <a:picLocks noChangeAspect="1"/>
          </p:cNvPicPr>
          <p:nvPr/>
        </p:nvPicPr>
        <p:blipFill>
          <a:blip r:embed="rId4"/>
          <a:srcRect l="31646" t="694" r="30380" b="78472"/>
          <a:stretch/>
        </p:blipFill>
        <p:spPr>
          <a:xfrm>
            <a:off x="4495800" y="1976438"/>
            <a:ext cx="3238500" cy="3238500"/>
          </a:xfrm>
          <a:prstGeom prst="rect">
            <a:avLst/>
          </a:prstGeom>
        </p:spPr>
      </p:pic>
      <p:sp>
        <p:nvSpPr>
          <p:cNvPr id="8" name="Прямоугольник 7">
            <a:extLst>
              <a:ext uri="{FF2B5EF4-FFF2-40B4-BE49-F238E27FC236}">
                <a16:creationId xmlns:a16="http://schemas.microsoft.com/office/drawing/2014/main" id="{CBB5DC97-4A41-4298-8F18-1987EB98D3F1}"/>
              </a:ext>
            </a:extLst>
          </p:cNvPr>
          <p:cNvSpPr>
            <a:spLocks noGrp="1"/>
          </p:cNvSpPr>
          <p:nvPr/>
        </p:nvSpPr>
        <p:spPr>
          <a:xfrm>
            <a:off x="8305800" y="1733550"/>
            <a:ext cx="3143250" cy="619125"/>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a:pPr>
              <a:defRPr sz="2025" b="1">
                <a:solidFill>
                  <a:srgbClr val="1F4E79"/>
                </a:solidFill>
                <a:latin typeface="Arial"/>
                <a:ea typeface="Arial"/>
                <a:cs typeface="Arial"/>
              </a:defRPr>
            </a:pPr>
            <a:r>
              <a:rPr sz="2025" b="1">
                <a:solidFill>
                  <a:srgbClr val="1F4E79"/>
                </a:solidFill>
                <a:latin typeface="Arial"/>
                <a:ea typeface="Arial"/>
                <a:cs typeface="Arial"/>
              </a:rPr>
              <a:t>Saved critic instruction</a:t>
            </a:r>
          </a:p>
        </p:txBody>
      </p:sp>
      <p:sp>
        <p:nvSpPr>
          <p:cNvPr id="9" name="Прямоугольник 8">
            <a:extLst>
              <a:ext uri="{FF2B5EF4-FFF2-40B4-BE49-F238E27FC236}">
                <a16:creationId xmlns:a16="http://schemas.microsoft.com/office/drawing/2014/main" id="{C023643C-638C-4CF4-85E1-FD64957D696B}"/>
              </a:ext>
            </a:extLst>
          </p:cNvPr>
          <p:cNvSpPr>
            <a:spLocks noGrp="1"/>
          </p:cNvSpPr>
          <p:nvPr/>
        </p:nvSpPr>
        <p:spPr>
          <a:xfrm>
            <a:off x="8305800" y="2543175"/>
            <a:ext cx="3143250" cy="1428750"/>
          </a:xfrm>
          <a:prstGeom prst="rect">
            <a:avLst/>
          </a:prstGeom>
          <a:noFill/>
          <a:ln w="0">
            <a:noFill/>
          </a:ln>
        </p:spPr>
        <p:txBody>
          <a:bodyPr lIns="0" tIns="0" rIns="0" bIns="0" anchor="t"/>
          <a:lstStyle>
            <a:defPPr>
              <a:defRPr sz="1950" b="0">
                <a:solidFill>
                  <a:srgbClr val="C43737"/>
                </a:solidFill>
                <a:latin typeface="Arial"/>
                <a:ea typeface="Arial"/>
                <a:cs typeface="Arial"/>
              </a:defRPr>
            </a:defPPr>
            <a:lvl1pPr>
              <a:defRPr sz="1950" b="0">
                <a:solidFill>
                  <a:srgbClr val="C43737"/>
                </a:solidFill>
                <a:latin typeface="Arial"/>
                <a:ea typeface="Arial"/>
                <a:cs typeface="Arial"/>
              </a:defRPr>
            </a:lvl1pPr>
            <a:lvl2pPr>
              <a:defRPr sz="1950" b="0">
                <a:solidFill>
                  <a:srgbClr val="C43737"/>
                </a:solidFill>
                <a:latin typeface="Arial"/>
                <a:ea typeface="Arial"/>
                <a:cs typeface="Arial"/>
              </a:defRPr>
            </a:lvl2pPr>
            <a:lvl3pPr>
              <a:defRPr sz="1950" b="0">
                <a:solidFill>
                  <a:srgbClr val="C43737"/>
                </a:solidFill>
                <a:latin typeface="Arial"/>
                <a:ea typeface="Arial"/>
                <a:cs typeface="Arial"/>
              </a:defRPr>
            </a:lvl3pPr>
            <a:lvl4pPr>
              <a:defRPr sz="1950" b="0">
                <a:solidFill>
                  <a:srgbClr val="C43737"/>
                </a:solidFill>
                <a:latin typeface="Arial"/>
                <a:ea typeface="Arial"/>
                <a:cs typeface="Arial"/>
              </a:defRPr>
            </a:lvl4pPr>
            <a:lvl5pPr>
              <a:defRPr sz="1950" b="0">
                <a:solidFill>
                  <a:srgbClr val="C43737"/>
                </a:solidFill>
                <a:latin typeface="Arial"/>
                <a:ea typeface="Arial"/>
                <a:cs typeface="Arial"/>
              </a:defRPr>
            </a:lvl5pPr>
            <a:lvl6pPr>
              <a:defRPr sz="1950" b="0">
                <a:solidFill>
                  <a:srgbClr val="C43737"/>
                </a:solidFill>
                <a:latin typeface="Arial"/>
                <a:ea typeface="Arial"/>
                <a:cs typeface="Arial"/>
              </a:defRPr>
            </a:lvl6pPr>
            <a:lvl7pPr>
              <a:defRPr sz="1950" b="0">
                <a:solidFill>
                  <a:srgbClr val="C43737"/>
                </a:solidFill>
                <a:latin typeface="Arial"/>
                <a:ea typeface="Arial"/>
                <a:cs typeface="Arial"/>
              </a:defRPr>
            </a:lvl7pPr>
            <a:lvl8pPr>
              <a:defRPr sz="1950" b="0">
                <a:solidFill>
                  <a:srgbClr val="C43737"/>
                </a:solidFill>
                <a:latin typeface="Arial"/>
                <a:ea typeface="Arial"/>
                <a:cs typeface="Arial"/>
              </a:defRPr>
            </a:lvl8pPr>
            <a:lvl9pPr>
              <a:defRPr sz="1950" b="0">
                <a:solidFill>
                  <a:srgbClr val="C43737"/>
                </a:solidFill>
                <a:latin typeface="Arial"/>
                <a:ea typeface="Arial"/>
                <a:cs typeface="Arial"/>
              </a:defRPr>
            </a:lvl9pPr>
          </a:lstStyle>
          <a:p>
            <a:pPr>
              <a:defRPr sz="1950" b="0">
                <a:solidFill>
                  <a:srgbClr val="C43737"/>
                </a:solidFill>
                <a:latin typeface="Arial"/>
                <a:ea typeface="Arial"/>
                <a:cs typeface="Arial"/>
              </a:defRPr>
            </a:pPr>
            <a:r>
              <a:rPr sz="1950" b="0">
                <a:solidFill>
                  <a:srgbClr val="C43737"/>
                </a:solidFill>
                <a:latin typeface="Arial"/>
                <a:ea typeface="Arial"/>
                <a:cs typeface="Arial"/>
              </a:rPr>
              <a:t>“Remove the</a:t>
            </a:r>
          </a:p>
          <a:p>
            <a:pPr>
              <a:defRPr sz="1950" b="0">
                <a:solidFill>
                  <a:srgbClr val="C43737"/>
                </a:solidFill>
                <a:latin typeface="Arial"/>
                <a:ea typeface="Arial"/>
                <a:cs typeface="Arial"/>
              </a:defRPr>
            </a:pPr>
            <a:r>
              <a:rPr sz="1950" b="0">
                <a:solidFill>
                  <a:srgbClr val="C43737"/>
                </a:solidFill>
                <a:latin typeface="Arial"/>
                <a:ea typeface="Arial"/>
                <a:cs typeface="Arial"/>
              </a:rPr>
              <a:t>"Parcel workflow begins"</a:t>
            </a:r>
          </a:p>
          <a:p>
            <a:pPr>
              <a:defRPr sz="1950" b="0">
                <a:solidFill>
                  <a:srgbClr val="C43737"/>
                </a:solidFill>
                <a:latin typeface="Arial"/>
                <a:ea typeface="Arial"/>
                <a:cs typeface="Arial"/>
              </a:defRPr>
            </a:pPr>
            <a:r>
              <a:rPr sz="1950" b="0">
                <a:solidFill>
                  <a:srgbClr val="C43737"/>
                </a:solidFill>
                <a:latin typeface="Arial"/>
                <a:ea typeface="Arial"/>
                <a:cs typeface="Arial"/>
              </a:rPr>
              <a:t>box as it is redundant.”</a:t>
            </a:r>
          </a:p>
        </p:txBody>
      </p:sp>
      <p:sp>
        <p:nvSpPr>
          <p:cNvPr id="10" name="Прямоугольник 9">
            <a:extLst>
              <a:ext uri="{FF2B5EF4-FFF2-40B4-BE49-F238E27FC236}">
                <a16:creationId xmlns:a16="http://schemas.microsoft.com/office/drawing/2014/main" id="{5A0E6781-68BD-4502-AAA0-920234E8EDB2}"/>
              </a:ext>
            </a:extLst>
          </p:cNvPr>
          <p:cNvSpPr>
            <a:spLocks noGrp="1"/>
          </p:cNvSpPr>
          <p:nvPr/>
        </p:nvSpPr>
        <p:spPr>
          <a:xfrm>
            <a:off x="8305800" y="4467225"/>
            <a:ext cx="3143250" cy="952500"/>
          </a:xfrm>
          <a:prstGeom prst="rect">
            <a:avLst/>
          </a:prstGeom>
          <a:noFill/>
          <a:ln w="0">
            <a:noFill/>
          </a:ln>
        </p:spPr>
        <p:txBody>
          <a:bodyPr lIns="0" tIns="0" rIns="0" bIns="0" anchor="t"/>
          <a:lstStyle>
            <a:defPPr>
              <a:defRPr sz="1950" b="1">
                <a:solidFill>
                  <a:srgbClr val="1F4E79"/>
                </a:solidFill>
                <a:latin typeface="Arial"/>
                <a:ea typeface="Arial"/>
                <a:cs typeface="Arial"/>
              </a:defRPr>
            </a:defPPr>
            <a:lvl1pPr>
              <a:defRPr sz="1950" b="1">
                <a:solidFill>
                  <a:srgbClr val="1F4E79"/>
                </a:solidFill>
                <a:latin typeface="Arial"/>
                <a:ea typeface="Arial"/>
                <a:cs typeface="Arial"/>
              </a:defRPr>
            </a:lvl1pPr>
            <a:lvl2pPr>
              <a:defRPr sz="1950" b="1">
                <a:solidFill>
                  <a:srgbClr val="1F4E79"/>
                </a:solidFill>
                <a:latin typeface="Arial"/>
                <a:ea typeface="Arial"/>
                <a:cs typeface="Arial"/>
              </a:defRPr>
            </a:lvl2pPr>
            <a:lvl3pPr>
              <a:defRPr sz="1950" b="1">
                <a:solidFill>
                  <a:srgbClr val="1F4E79"/>
                </a:solidFill>
                <a:latin typeface="Arial"/>
                <a:ea typeface="Arial"/>
                <a:cs typeface="Arial"/>
              </a:defRPr>
            </a:lvl3pPr>
            <a:lvl4pPr>
              <a:defRPr sz="1950" b="1">
                <a:solidFill>
                  <a:srgbClr val="1F4E79"/>
                </a:solidFill>
                <a:latin typeface="Arial"/>
                <a:ea typeface="Arial"/>
                <a:cs typeface="Arial"/>
              </a:defRPr>
            </a:lvl4pPr>
            <a:lvl5pPr>
              <a:defRPr sz="1950" b="1">
                <a:solidFill>
                  <a:srgbClr val="1F4E79"/>
                </a:solidFill>
                <a:latin typeface="Arial"/>
                <a:ea typeface="Arial"/>
                <a:cs typeface="Arial"/>
              </a:defRPr>
            </a:lvl5pPr>
            <a:lvl6pPr>
              <a:defRPr sz="1950" b="1">
                <a:solidFill>
                  <a:srgbClr val="1F4E79"/>
                </a:solidFill>
                <a:latin typeface="Arial"/>
                <a:ea typeface="Arial"/>
                <a:cs typeface="Arial"/>
              </a:defRPr>
            </a:lvl6pPr>
            <a:lvl7pPr>
              <a:defRPr sz="1950" b="1">
                <a:solidFill>
                  <a:srgbClr val="1F4E79"/>
                </a:solidFill>
                <a:latin typeface="Arial"/>
                <a:ea typeface="Arial"/>
                <a:cs typeface="Arial"/>
              </a:defRPr>
            </a:lvl7pPr>
            <a:lvl8pPr>
              <a:defRPr sz="1950" b="1">
                <a:solidFill>
                  <a:srgbClr val="1F4E79"/>
                </a:solidFill>
                <a:latin typeface="Arial"/>
                <a:ea typeface="Arial"/>
                <a:cs typeface="Arial"/>
              </a:defRPr>
            </a:lvl8pPr>
            <a:lvl9pPr>
              <a:defRPr sz="1950" b="1">
                <a:solidFill>
                  <a:srgbClr val="1F4E79"/>
                </a:solidFill>
                <a:latin typeface="Arial"/>
                <a:ea typeface="Arial"/>
                <a:cs typeface="Arial"/>
              </a:defRPr>
            </a:lvl9pPr>
          </a:lstStyle>
          <a:p>
            <a:pPr>
              <a:defRPr sz="1950" b="1">
                <a:solidFill>
                  <a:srgbClr val="1F4E79"/>
                </a:solidFill>
                <a:latin typeface="Arial"/>
                <a:ea typeface="Arial"/>
                <a:cs typeface="Arial"/>
              </a:defRPr>
            </a:pPr>
            <a:r>
              <a:rPr sz="1950" b="1">
                <a:solidFill>
                  <a:srgbClr val="1F4E79"/>
                </a:solidFill>
                <a:latin typeface="Arial"/>
                <a:ea typeface="Arial"/>
                <a:cs typeface="Arial"/>
              </a:rPr>
              <a:t>Exact: yes to no</a:t>
            </a:r>
          </a:p>
          <a:p>
            <a:pPr>
              <a:defRPr sz="1950" b="1">
                <a:solidFill>
                  <a:srgbClr val="1F4E79"/>
                </a:solidFill>
                <a:latin typeface="Arial"/>
                <a:ea typeface="Arial"/>
                <a:cs typeface="Arial"/>
              </a:defRPr>
            </a:pPr>
            <a:r>
              <a:rPr sz="1950" b="1">
                <a:solidFill>
                  <a:srgbClr val="1F4E79"/>
                </a:solidFill>
                <a:latin typeface="Arial"/>
                <a:ea typeface="Arial"/>
                <a:cs typeface="Arial"/>
              </a:rPr>
              <a:t>Edge F1: 1.000 to 0.909</a:t>
            </a:r>
          </a:p>
        </p:txBody>
      </p:sp>
    </p:spTree>
    <p:extLst>
      <p:ext uri="{BB962C8B-B14F-4D97-AF65-F5344CB8AC3E}">
        <p14:creationId xmlns:p14="http://schemas.microsoft.com/office/powerpoint/2010/main" val="119137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Прямоугольник 12">
            <a:extLst>
              <a:ext uri="{FF2B5EF4-FFF2-40B4-BE49-F238E27FC236}">
                <a16:creationId xmlns:a16="http://schemas.microsoft.com/office/drawing/2014/main" id="{37C171D3-191B-423B-AD50-91D9F6C8AC81}"/>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The evidence points to unreliable feedback and editing</a:t>
            </a:r>
          </a:p>
        </p:txBody>
      </p:sp>
      <p:sp>
        <p:nvSpPr>
          <p:cNvPr id="2" name="Прямоугольник 1">
            <a:extLst>
              <a:ext uri="{FF2B5EF4-FFF2-40B4-BE49-F238E27FC236}">
                <a16:creationId xmlns:a16="http://schemas.microsoft.com/office/drawing/2014/main" id="{C3FD1F83-6351-4B3D-8F6D-5055E4A8F105}"/>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Sources: saved critic outputs, edited graphs and validity errors</a:t>
            </a:r>
          </a:p>
        </p:txBody>
      </p:sp>
      <p:sp>
        <p:nvSpPr>
          <p:cNvPr id="3" name="Прямоугольник 2">
            <a:extLst>
              <a:ext uri="{FF2B5EF4-FFF2-40B4-BE49-F238E27FC236}">
                <a16:creationId xmlns:a16="http://schemas.microsoft.com/office/drawing/2014/main" id="{CBDC4FD7-EA95-4671-9E42-E9BFEF5ABEFF}"/>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9</a:t>
            </a:r>
          </a:p>
        </p:txBody>
      </p:sp>
      <p:sp>
        <p:nvSpPr>
          <p:cNvPr id="4" name="Прямоугольник 3">
            <a:extLst>
              <a:ext uri="{FF2B5EF4-FFF2-40B4-BE49-F238E27FC236}">
                <a16:creationId xmlns:a16="http://schemas.microsoft.com/office/drawing/2014/main" id="{1F18A64A-EA61-499C-8D76-1A082E84BF69}"/>
              </a:ext>
            </a:extLst>
          </p:cNvPr>
          <p:cNvSpPr>
            <a:spLocks noGrp="1"/>
          </p:cNvSpPr>
          <p:nvPr/>
        </p:nvSpPr>
        <p:spPr>
          <a:xfrm>
            <a:off x="609600" y="1685925"/>
            <a:ext cx="4762500" cy="400050"/>
          </a:xfrm>
          <a:prstGeom prst="rect">
            <a:avLst/>
          </a:prstGeom>
          <a:noFill/>
          <a:ln w="0">
            <a:noFill/>
          </a:ln>
        </p:spPr>
        <p:txBody>
          <a:bodyPr lIns="0" tIns="0" rIns="0" bIns="0" anchor="t"/>
          <a:lstStyle>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a:pPr>
              <a:defRPr sz="2250" b="1">
                <a:solidFill>
                  <a:srgbClr val="1F4E79"/>
                </a:solidFill>
                <a:latin typeface="Arial"/>
                <a:ea typeface="Arial"/>
                <a:cs typeface="Arial"/>
              </a:defRPr>
            </a:pPr>
            <a:r>
              <a:rPr sz="2250" b="1">
                <a:solidFill>
                  <a:srgbClr val="1F4E79"/>
                </a:solidFill>
                <a:latin typeface="Arial"/>
                <a:ea typeface="Arial"/>
                <a:cs typeface="Arial"/>
              </a:rPr>
              <a:t>Observed</a:t>
            </a:r>
          </a:p>
        </p:txBody>
      </p:sp>
      <p:sp>
        <p:nvSpPr>
          <p:cNvPr id="5" name="Прямоугольник 4">
            <a:extLst>
              <a:ext uri="{FF2B5EF4-FFF2-40B4-BE49-F238E27FC236}">
                <a16:creationId xmlns:a16="http://schemas.microsoft.com/office/drawing/2014/main" id="{D7856292-07E6-49CA-B0EA-4E3946E96C28}"/>
              </a:ext>
            </a:extLst>
          </p:cNvPr>
          <p:cNvSpPr>
            <a:spLocks noGrp="1"/>
          </p:cNvSpPr>
          <p:nvPr/>
        </p:nvSpPr>
        <p:spPr>
          <a:xfrm>
            <a:off x="609600" y="2381250"/>
            <a:ext cx="5048250" cy="81915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False instruction in a saved critique</a:t>
            </a:r>
          </a:p>
        </p:txBody>
      </p:sp>
      <p:sp>
        <p:nvSpPr>
          <p:cNvPr id="6" name="Прямоугольник 5">
            <a:extLst>
              <a:ext uri="{FF2B5EF4-FFF2-40B4-BE49-F238E27FC236}">
                <a16:creationId xmlns:a16="http://schemas.microsoft.com/office/drawing/2014/main" id="{5D260DF2-E9AE-40D9-9511-6329DD840C49}"/>
              </a:ext>
            </a:extLst>
          </p:cNvPr>
          <p:cNvSpPr>
            <a:spLocks noGrp="1"/>
          </p:cNvSpPr>
          <p:nvPr/>
        </p:nvSpPr>
        <p:spPr>
          <a:xfrm>
            <a:off x="609600" y="3314700"/>
            <a:ext cx="5048250" cy="81915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Corresponding deletion in the edit</a:t>
            </a:r>
          </a:p>
        </p:txBody>
      </p:sp>
      <p:sp>
        <p:nvSpPr>
          <p:cNvPr id="7" name="Прямоугольник 6">
            <a:extLst>
              <a:ext uri="{FF2B5EF4-FFF2-40B4-BE49-F238E27FC236}">
                <a16:creationId xmlns:a16="http://schemas.microsoft.com/office/drawing/2014/main" id="{0C741413-7A7B-4142-982A-49310C0DDACB}"/>
              </a:ext>
            </a:extLst>
          </p:cNvPr>
          <p:cNvSpPr>
            <a:spLocks noGrp="1"/>
          </p:cNvSpPr>
          <p:nvPr/>
        </p:nvSpPr>
        <p:spPr>
          <a:xfrm>
            <a:off x="609600" y="4248150"/>
            <a:ext cx="5048250" cy="81915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A valid loop fix remains unexecuted</a:t>
            </a:r>
          </a:p>
        </p:txBody>
      </p:sp>
      <p:sp>
        <p:nvSpPr>
          <p:cNvPr id="8" name="Прямоугольник 7">
            <a:extLst>
              <a:ext uri="{FF2B5EF4-FFF2-40B4-BE49-F238E27FC236}">
                <a16:creationId xmlns:a16="http://schemas.microsoft.com/office/drawing/2014/main" id="{A6F02CD7-B746-4B10-8ADC-D65A52576F78}"/>
              </a:ext>
            </a:extLst>
          </p:cNvPr>
          <p:cNvSpPr>
            <a:spLocks noGrp="1"/>
          </p:cNvSpPr>
          <p:nvPr/>
        </p:nvSpPr>
        <p:spPr>
          <a:xfrm>
            <a:off x="6572250" y="1685925"/>
            <a:ext cx="4905375" cy="400050"/>
          </a:xfrm>
          <a:prstGeom prst="rect">
            <a:avLst/>
          </a:prstGeom>
          <a:noFill/>
          <a:ln w="0">
            <a:noFill/>
          </a:ln>
        </p:spPr>
        <p:txBody>
          <a:bodyPr lIns="0" tIns="0" rIns="0" bIns="0" anchor="t"/>
          <a:lstStyle>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a:pPr>
              <a:defRPr sz="2250" b="1">
                <a:solidFill>
                  <a:srgbClr val="1F4E79"/>
                </a:solidFill>
                <a:latin typeface="Arial"/>
                <a:ea typeface="Arial"/>
                <a:cs typeface="Arial"/>
              </a:defRPr>
            </a:pPr>
            <a:r>
              <a:rPr sz="2250" b="1">
                <a:solidFill>
                  <a:srgbClr val="1F4E79"/>
                </a:solidFill>
                <a:latin typeface="Arial"/>
                <a:ea typeface="Arial"/>
                <a:cs typeface="Arial"/>
              </a:rPr>
              <a:t>Plausible explanations</a:t>
            </a:r>
          </a:p>
        </p:txBody>
      </p:sp>
      <p:sp>
        <p:nvSpPr>
          <p:cNvPr id="9" name="Прямоугольник 8">
            <a:extLst>
              <a:ext uri="{FF2B5EF4-FFF2-40B4-BE49-F238E27FC236}">
                <a16:creationId xmlns:a16="http://schemas.microsoft.com/office/drawing/2014/main" id="{24E51347-6F29-4691-8E9C-A296EE16EB56}"/>
              </a:ext>
            </a:extLst>
          </p:cNvPr>
          <p:cNvSpPr>
            <a:spLocks noGrp="1"/>
          </p:cNvSpPr>
          <p:nvPr/>
        </p:nvSpPr>
        <p:spPr>
          <a:xfrm>
            <a:off x="6572250" y="2381250"/>
            <a:ext cx="4905375" cy="81915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General VLM lacks graph calibration</a:t>
            </a:r>
          </a:p>
        </p:txBody>
      </p:sp>
      <p:sp>
        <p:nvSpPr>
          <p:cNvPr id="10" name="Прямоугольник 9">
            <a:extLst>
              <a:ext uri="{FF2B5EF4-FFF2-40B4-BE49-F238E27FC236}">
                <a16:creationId xmlns:a16="http://schemas.microsoft.com/office/drawing/2014/main" id="{54389D6A-33C8-4359-98AB-07EC767862D7}"/>
              </a:ext>
            </a:extLst>
          </p:cNvPr>
          <p:cNvSpPr>
            <a:spLocks noGrp="1"/>
          </p:cNvSpPr>
          <p:nvPr/>
        </p:nvSpPr>
        <p:spPr>
          <a:xfrm>
            <a:off x="6572250" y="3314700"/>
            <a:ext cx="4905375" cy="81915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Full-graph rewriting permits regressions</a:t>
            </a:r>
          </a:p>
        </p:txBody>
      </p:sp>
      <p:sp>
        <p:nvSpPr>
          <p:cNvPr id="11" name="Прямоугольник 10">
            <a:extLst>
              <a:ext uri="{FF2B5EF4-FFF2-40B4-BE49-F238E27FC236}">
                <a16:creationId xmlns:a16="http://schemas.microsoft.com/office/drawing/2014/main" id="{F1721702-634E-4C99-989C-907B27C9DC23}"/>
              </a:ext>
            </a:extLst>
          </p:cNvPr>
          <p:cNvSpPr>
            <a:spLocks noGrp="1"/>
          </p:cNvSpPr>
          <p:nvPr/>
        </p:nvSpPr>
        <p:spPr>
          <a:xfrm>
            <a:off x="6572250" y="4248150"/>
            <a:ext cx="4905375" cy="819150"/>
          </a:xfrm>
          <a:prstGeom prst="rect">
            <a:avLst/>
          </a:prstGeom>
          <a:noFill/>
          <a:ln w="0">
            <a:noFill/>
          </a:ln>
        </p:spPr>
        <p:txBody>
          <a:bodyPr lIns="0" tIns="0" rIns="0" bIns="0" anchor="t"/>
          <a:lstStyle>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a:pPr>
              <a:defRPr sz="2025" b="0">
                <a:solidFill>
                  <a:srgbClr val="1F4E79"/>
                </a:solidFill>
                <a:latin typeface="Arial"/>
                <a:ea typeface="Arial"/>
                <a:cs typeface="Arial"/>
              </a:defRPr>
            </a:pPr>
            <a:r>
              <a:rPr sz="2025" b="0">
                <a:solidFill>
                  <a:srgbClr val="1F4E79"/>
                </a:solidFill>
                <a:latin typeface="Arial"/>
                <a:ea typeface="Arial"/>
                <a:cs typeface="Arial"/>
              </a:rPr>
              <a:t>The same small editor may limit gains</a:t>
            </a:r>
          </a:p>
        </p:txBody>
      </p:sp>
      <p:sp>
        <p:nvSpPr>
          <p:cNvPr id="12" name="Прямоугольник 11">
            <a:extLst>
              <a:ext uri="{FF2B5EF4-FFF2-40B4-BE49-F238E27FC236}">
                <a16:creationId xmlns:a16="http://schemas.microsoft.com/office/drawing/2014/main" id="{6ED0663C-A414-420D-AE72-4A782EC07959}"/>
              </a:ext>
            </a:extLst>
          </p:cNvPr>
          <p:cNvSpPr>
            <a:spLocks noGrp="1"/>
          </p:cNvSpPr>
          <p:nvPr/>
        </p:nvSpPr>
        <p:spPr>
          <a:xfrm>
            <a:off x="609600" y="5467350"/>
            <a:ext cx="10953750" cy="409575"/>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a:pPr>
              <a:defRPr sz="1875" b="1">
                <a:solidFill>
                  <a:srgbClr val="1F4E79"/>
                </a:solidFill>
                <a:latin typeface="Arial"/>
                <a:ea typeface="Arial"/>
                <a:cs typeface="Arial"/>
              </a:defRPr>
            </a:pPr>
            <a:r>
              <a:rPr sz="1875" b="1">
                <a:solidFill>
                  <a:srgbClr val="1F4E79"/>
                </a:solidFill>
                <a:latin typeface="Arial"/>
                <a:ea typeface="Arial"/>
                <a:cs typeface="Arial"/>
              </a:rPr>
              <a:t>One rerun cannot isolate these mechanisms or rank model families</a:t>
            </a:r>
          </a:p>
        </p:txBody>
      </p:sp>
    </p:spTree>
    <p:extLst>
      <p:ext uri="{BB962C8B-B14F-4D97-AF65-F5344CB8AC3E}">
        <p14:creationId xmlns:p14="http://schemas.microsoft.com/office/powerpoint/2010/main" val="436530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Прямоугольник 7">
            <a:extLst>
              <a:ext uri="{FF2B5EF4-FFF2-40B4-BE49-F238E27FC236}">
                <a16:creationId xmlns:a16="http://schemas.microsoft.com/office/drawing/2014/main" id="{8CBA59ED-4F3D-4EFA-A417-C01B24A446C3}"/>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Local execution works, while correction remains unreliable</a:t>
            </a:r>
          </a:p>
        </p:txBody>
      </p:sp>
      <p:sp>
        <p:nvSpPr>
          <p:cNvPr id="2" name="Прямоугольник 1">
            <a:extLst>
              <a:ext uri="{FF2B5EF4-FFF2-40B4-BE49-F238E27FC236}">
                <a16:creationId xmlns:a16="http://schemas.microsoft.com/office/drawing/2014/main" id="{464E65CB-1B7E-4F5E-87DA-6612DA424EF8}"/>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Project conclusions and next experiment proposal</a:t>
            </a:r>
          </a:p>
        </p:txBody>
      </p:sp>
      <p:sp>
        <p:nvSpPr>
          <p:cNvPr id="3" name="Прямоугольник 2">
            <a:extLst>
              <a:ext uri="{FF2B5EF4-FFF2-40B4-BE49-F238E27FC236}">
                <a16:creationId xmlns:a16="http://schemas.microsoft.com/office/drawing/2014/main" id="{3F16EEFE-C44E-4A79-B701-FBFF5AD57589}"/>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10</a:t>
            </a:r>
          </a:p>
        </p:txBody>
      </p:sp>
      <p:sp>
        <p:nvSpPr>
          <p:cNvPr id="4" name="Прямоугольник 3">
            <a:extLst>
              <a:ext uri="{FF2B5EF4-FFF2-40B4-BE49-F238E27FC236}">
                <a16:creationId xmlns:a16="http://schemas.microsoft.com/office/drawing/2014/main" id="{0F8CF37C-FD02-49C3-A28E-3A231FFD6956}"/>
              </a:ext>
            </a:extLst>
          </p:cNvPr>
          <p:cNvSpPr>
            <a:spLocks noGrp="1"/>
          </p:cNvSpPr>
          <p:nvPr/>
        </p:nvSpPr>
        <p:spPr>
          <a:xfrm>
            <a:off x="609600" y="1743075"/>
            <a:ext cx="10953750" cy="819150"/>
          </a:xfrm>
          <a:prstGeom prst="rect">
            <a:avLst/>
          </a:prstGeom>
          <a:noFill/>
          <a:ln w="0">
            <a:noFill/>
          </a:ln>
        </p:spPr>
        <p:txBody>
          <a:bodyPr lIns="0" tIns="0" rIns="0" bIns="0" anchor="t"/>
          <a:lstStyle>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a:pPr>
              <a:defRPr sz="2175" b="0">
                <a:solidFill>
                  <a:srgbClr val="1F4E79"/>
                </a:solidFill>
                <a:latin typeface="Arial"/>
                <a:ea typeface="Arial"/>
                <a:cs typeface="Arial"/>
              </a:defRPr>
            </a:pPr>
            <a:r>
              <a:rPr sz="2175" b="0">
                <a:solidFill>
                  <a:srgbClr val="1F4E79"/>
                </a:solidFill>
                <a:latin typeface="Arial"/>
                <a:ea typeface="Arial"/>
                <a:cs typeface="Arial"/>
              </a:rPr>
              <a:t>Local editable flowchart generation is feasible.</a:t>
            </a:r>
          </a:p>
        </p:txBody>
      </p:sp>
      <p:sp>
        <p:nvSpPr>
          <p:cNvPr id="5" name="Прямоугольник 4">
            <a:extLst>
              <a:ext uri="{FF2B5EF4-FFF2-40B4-BE49-F238E27FC236}">
                <a16:creationId xmlns:a16="http://schemas.microsoft.com/office/drawing/2014/main" id="{565317EF-95D8-4361-AD15-E0234A291984}"/>
              </a:ext>
            </a:extLst>
          </p:cNvPr>
          <p:cNvSpPr>
            <a:spLocks noGrp="1"/>
          </p:cNvSpPr>
          <p:nvPr/>
        </p:nvSpPr>
        <p:spPr>
          <a:xfrm>
            <a:off x="609600" y="2676525"/>
            <a:ext cx="10953750" cy="819150"/>
          </a:xfrm>
          <a:prstGeom prst="rect">
            <a:avLst/>
          </a:prstGeom>
          <a:noFill/>
          <a:ln w="0">
            <a:noFill/>
          </a:ln>
        </p:spPr>
        <p:txBody>
          <a:bodyPr lIns="0" tIns="0" rIns="0" bIns="0" anchor="t"/>
          <a:lstStyle>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a:pPr>
              <a:defRPr sz="2175" b="0">
                <a:solidFill>
                  <a:srgbClr val="1F4E79"/>
                </a:solidFill>
                <a:latin typeface="Arial"/>
                <a:ea typeface="Arial"/>
                <a:cs typeface="Arial"/>
              </a:defRPr>
            </a:pPr>
            <a:r>
              <a:rPr sz="2175" b="0">
                <a:solidFill>
                  <a:srgbClr val="1F4E79"/>
                </a:solidFill>
                <a:latin typeface="Arial"/>
                <a:ea typeface="Arial"/>
                <a:cs typeface="Arial"/>
              </a:rPr>
              <a:t>A larger critic alone did not improve this pipeline.</a:t>
            </a:r>
          </a:p>
        </p:txBody>
      </p:sp>
      <p:sp>
        <p:nvSpPr>
          <p:cNvPr id="6" name="Прямоугольник 5">
            <a:extLst>
              <a:ext uri="{FF2B5EF4-FFF2-40B4-BE49-F238E27FC236}">
                <a16:creationId xmlns:a16="http://schemas.microsoft.com/office/drawing/2014/main" id="{F7350B8A-0F6A-451E-9625-E70F993741B8}"/>
              </a:ext>
            </a:extLst>
          </p:cNvPr>
          <p:cNvSpPr>
            <a:spLocks noGrp="1"/>
          </p:cNvSpPr>
          <p:nvPr/>
        </p:nvSpPr>
        <p:spPr>
          <a:xfrm>
            <a:off x="609600" y="3609975"/>
            <a:ext cx="10953750" cy="819150"/>
          </a:xfrm>
          <a:prstGeom prst="rect">
            <a:avLst/>
          </a:prstGeom>
          <a:noFill/>
          <a:ln w="0">
            <a:noFill/>
          </a:ln>
        </p:spPr>
        <p:txBody>
          <a:bodyPr lIns="0" tIns="0" rIns="0" bIns="0" anchor="t"/>
          <a:lstStyle>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a:pPr>
              <a:defRPr sz="2175" b="0">
                <a:solidFill>
                  <a:srgbClr val="1F4E79"/>
                </a:solidFill>
                <a:latin typeface="Arial"/>
                <a:ea typeface="Arial"/>
                <a:cs typeface="Arial"/>
              </a:defRPr>
            </a:pPr>
            <a:r>
              <a:rPr sz="2175" b="0">
                <a:solidFill>
                  <a:srgbClr val="1F4E79"/>
                </a:solidFill>
                <a:latin typeface="Arial"/>
                <a:ea typeface="Arial"/>
                <a:cs typeface="Arial"/>
              </a:rPr>
              <a:t>Next: verify critiques and constrain accepted edits.</a:t>
            </a:r>
          </a:p>
        </p:txBody>
      </p:sp>
      <p:sp>
        <p:nvSpPr>
          <p:cNvPr id="7" name="Прямоугольник 6">
            <a:extLst>
              <a:ext uri="{FF2B5EF4-FFF2-40B4-BE49-F238E27FC236}">
                <a16:creationId xmlns:a16="http://schemas.microsoft.com/office/drawing/2014/main" id="{EE62EF55-BEEB-4F8A-8BA2-394FEA47C3DF}"/>
              </a:ext>
            </a:extLst>
          </p:cNvPr>
          <p:cNvSpPr>
            <a:spLocks noGrp="1"/>
          </p:cNvSpPr>
          <p:nvPr/>
        </p:nvSpPr>
        <p:spPr>
          <a:xfrm>
            <a:off x="609600" y="4543425"/>
            <a:ext cx="10953750" cy="819150"/>
          </a:xfrm>
          <a:prstGeom prst="rect">
            <a:avLst/>
          </a:prstGeom>
          <a:noFill/>
          <a:ln w="0">
            <a:noFill/>
          </a:ln>
        </p:spPr>
        <p:txBody>
          <a:bodyPr lIns="0" tIns="0" rIns="0" bIns="0" anchor="t"/>
          <a:lstStyle>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a:pPr>
              <a:defRPr sz="2175" b="0">
                <a:solidFill>
                  <a:srgbClr val="1F4E79"/>
                </a:solidFill>
                <a:latin typeface="Arial"/>
                <a:ea typeface="Arial"/>
                <a:cs typeface="Arial"/>
              </a:defRPr>
            </a:pPr>
            <a:r>
              <a:rPr sz="2175" b="0">
                <a:solidFill>
                  <a:srgbClr val="1F4E79"/>
                </a:solidFill>
                <a:latin typeface="Arial"/>
                <a:ea typeface="Arial"/>
                <a:cs typeface="Arial"/>
              </a:rPr>
              <a:t>New held-out tasks and repeated runs remain necessary.</a:t>
            </a:r>
          </a:p>
        </p:txBody>
      </p:sp>
    </p:spTree>
    <p:extLst>
      <p:ext uri="{BB962C8B-B14F-4D97-AF65-F5344CB8AC3E}">
        <p14:creationId xmlns:p14="http://schemas.microsoft.com/office/powerpoint/2010/main" val="396319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F02B1378-37E5-4D0E-B714-261E05E007DD}"/>
              </a:ext>
            </a:extLst>
          </p:cNvPr>
          <p:cNvSpPr>
            <a:spLocks noGrp="1"/>
          </p:cNvSpPr>
          <p:nvPr/>
        </p:nvSpPr>
        <p:spPr>
          <a:xfrm>
            <a:off x="609600" y="438150"/>
            <a:ext cx="10972800" cy="971550"/>
          </a:xfrm>
          <a:prstGeom prst="rect">
            <a:avLst/>
          </a:prstGeom>
          <a:noFill/>
          <a:ln w="0">
            <a:noFill/>
          </a:ln>
        </p:spPr>
        <p:txBody>
          <a:bodyPr lIns="0" tIns="0" rIns="0" bIns="0" anchor="t"/>
          <a:lstStyle>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a:pPr>
              <a:defRPr sz="3000" b="1">
                <a:solidFill>
                  <a:srgbClr val="1F4E79"/>
                </a:solidFill>
                <a:latin typeface="Arial"/>
                <a:ea typeface="Arial"/>
                <a:cs typeface="Arial"/>
              </a:defRPr>
            </a:pPr>
            <a:r>
              <a:rPr sz="3000" b="1">
                <a:solidFill>
                  <a:srgbClr val="1F4E79"/>
                </a:solidFill>
                <a:latin typeface="Arial"/>
                <a:ea typeface="Arial"/>
                <a:cs typeface="Arial"/>
              </a:rPr>
              <a:t>References and experiment sources</a:t>
            </a:r>
          </a:p>
        </p:txBody>
      </p:sp>
      <p:sp>
        <p:nvSpPr>
          <p:cNvPr id="2" name="Прямоугольник 1">
            <a:extLst>
              <a:ext uri="{FF2B5EF4-FFF2-40B4-BE49-F238E27FC236}">
                <a16:creationId xmlns:a16="http://schemas.microsoft.com/office/drawing/2014/main" id="{4DE398A4-273C-442D-8E48-917A79E2CE00}"/>
              </a:ext>
            </a:extLst>
          </p:cNvPr>
          <p:cNvSpPr>
            <a:spLocks noGrp="1"/>
          </p:cNvSpPr>
          <p:nvPr/>
        </p:nvSpPr>
        <p:spPr>
          <a:xfrm>
            <a:off x="609600" y="6076950"/>
            <a:ext cx="10972800" cy="2857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Appendix A   Source files and official model cards</a:t>
            </a:r>
          </a:p>
        </p:txBody>
      </p:sp>
      <p:sp>
        <p:nvSpPr>
          <p:cNvPr id="3" name="Прямоугольник 2">
            <a:extLst>
              <a:ext uri="{FF2B5EF4-FFF2-40B4-BE49-F238E27FC236}">
                <a16:creationId xmlns:a16="http://schemas.microsoft.com/office/drawing/2014/main" id="{BCE98529-92FF-40BE-8CA0-80339ED26E19}"/>
              </a:ext>
            </a:extLst>
          </p:cNvPr>
          <p:cNvSpPr>
            <a:spLocks noGrp="1"/>
          </p:cNvSpPr>
          <p:nvPr/>
        </p:nvSpPr>
        <p:spPr>
          <a:xfrm>
            <a:off x="609600" y="6429375"/>
            <a:ext cx="10972800" cy="219075"/>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a:pPr>
              <a:defRPr sz="1200" b="0">
                <a:solidFill>
                  <a:srgbClr val="1F4E79"/>
                </a:solidFill>
                <a:latin typeface="Arial"/>
                <a:ea typeface="Arial"/>
                <a:cs typeface="Arial"/>
              </a:defRPr>
            </a:pPr>
            <a:r>
              <a:rPr sz="1200" b="0">
                <a:solidFill>
                  <a:srgbClr val="1F4E79"/>
                </a:solidFill>
                <a:latin typeface="Arial"/>
                <a:ea typeface="Arial"/>
                <a:cs typeface="Arial"/>
              </a:rPr>
              <a:t>FlowRefine   CPU pilot and exploratory GPU comparison   11</a:t>
            </a:r>
          </a:p>
        </p:txBody>
      </p:sp>
      <p:sp>
        <p:nvSpPr>
          <p:cNvPr id="4" name="Прямоугольник 3">
            <a:extLst>
              <a:ext uri="{FF2B5EF4-FFF2-40B4-BE49-F238E27FC236}">
                <a16:creationId xmlns:a16="http://schemas.microsoft.com/office/drawing/2014/main" id="{3D9B1932-5337-41F8-B7DD-C5370FC08C2A}"/>
              </a:ext>
            </a:extLst>
          </p:cNvPr>
          <p:cNvSpPr>
            <a:spLocks noGrp="1"/>
          </p:cNvSpPr>
          <p:nvPr/>
        </p:nvSpPr>
        <p:spPr>
          <a:xfrm>
            <a:off x="609600" y="1638300"/>
            <a:ext cx="10953750" cy="676275"/>
          </a:xfrm>
          <a:prstGeom prst="rect">
            <a:avLst/>
          </a:prstGeom>
          <a:noFill/>
          <a:ln w="0">
            <a:noFill/>
          </a:ln>
        </p:spPr>
        <p:txBody>
          <a:bodyPr lIns="0" tIns="0" rIns="0" bIns="0" anchor="t"/>
          <a:lstStyle>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a:pPr>
              <a:defRPr sz="1800" b="0">
                <a:solidFill>
                  <a:srgbClr val="1F4E79"/>
                </a:solidFill>
                <a:latin typeface="Arial"/>
                <a:ea typeface="Arial"/>
                <a:cs typeface="Arial"/>
              </a:defRPr>
            </a:pPr>
            <a:r>
              <a:rPr sz="1800" b="0">
                <a:solidFill>
                  <a:srgbClr val="1F4E79"/>
                </a:solidFill>
                <a:latin typeface="Arial"/>
                <a:ea typeface="Arial"/>
                <a:cs typeface="Arial"/>
              </a:rPr>
              <a:t>Qwen2.5-3B-Instruct-GGUF: huggingface.co/Qwen/Qwen2.5-3B-Instruct-GGUF</a:t>
            </a:r>
          </a:p>
        </p:txBody>
      </p:sp>
      <p:sp>
        <p:nvSpPr>
          <p:cNvPr id="5" name="Прямоугольник 4">
            <a:extLst>
              <a:ext uri="{FF2B5EF4-FFF2-40B4-BE49-F238E27FC236}">
                <a16:creationId xmlns:a16="http://schemas.microsoft.com/office/drawing/2014/main" id="{51363C05-19A5-4A81-80B4-0AEDCBA49975}"/>
              </a:ext>
            </a:extLst>
          </p:cNvPr>
          <p:cNvSpPr>
            <a:spLocks noGrp="1"/>
          </p:cNvSpPr>
          <p:nvPr/>
        </p:nvSpPr>
        <p:spPr>
          <a:xfrm>
            <a:off x="609600" y="2428875"/>
            <a:ext cx="10953750" cy="676275"/>
          </a:xfrm>
          <a:prstGeom prst="rect">
            <a:avLst/>
          </a:prstGeom>
          <a:noFill/>
          <a:ln w="0">
            <a:noFill/>
          </a:ln>
        </p:spPr>
        <p:txBody>
          <a:bodyPr lIns="0" tIns="0" rIns="0" bIns="0" anchor="t"/>
          <a:lstStyle>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a:pPr>
              <a:defRPr sz="1800" b="0">
                <a:solidFill>
                  <a:srgbClr val="1F4E79"/>
                </a:solidFill>
                <a:latin typeface="Arial"/>
                <a:ea typeface="Arial"/>
                <a:cs typeface="Arial"/>
              </a:defRPr>
            </a:pPr>
            <a:r>
              <a:rPr sz="1800" b="0">
                <a:solidFill>
                  <a:srgbClr val="1F4E79"/>
                </a:solidFill>
                <a:latin typeface="Arial"/>
                <a:ea typeface="Arial"/>
                <a:cs typeface="Arial"/>
              </a:rPr>
              <a:t>SmolVLM: huggingface.co/ggml-org/SmolVLM-256M-Instruct-GGUF</a:t>
            </a:r>
          </a:p>
        </p:txBody>
      </p:sp>
      <p:sp>
        <p:nvSpPr>
          <p:cNvPr id="6" name="Прямоугольник 5">
            <a:extLst>
              <a:ext uri="{FF2B5EF4-FFF2-40B4-BE49-F238E27FC236}">
                <a16:creationId xmlns:a16="http://schemas.microsoft.com/office/drawing/2014/main" id="{58562CA5-3FD3-4152-87BC-5A60391DCC53}"/>
              </a:ext>
            </a:extLst>
          </p:cNvPr>
          <p:cNvSpPr>
            <a:spLocks noGrp="1"/>
          </p:cNvSpPr>
          <p:nvPr/>
        </p:nvSpPr>
        <p:spPr>
          <a:xfrm>
            <a:off x="609600" y="3219450"/>
            <a:ext cx="10953750" cy="676275"/>
          </a:xfrm>
          <a:prstGeom prst="rect">
            <a:avLst/>
          </a:prstGeom>
          <a:noFill/>
          <a:ln w="0">
            <a:noFill/>
          </a:ln>
        </p:spPr>
        <p:txBody>
          <a:bodyPr lIns="0" tIns="0" rIns="0" bIns="0" anchor="t"/>
          <a:lstStyle>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a:pPr>
              <a:defRPr sz="1800" b="0">
                <a:solidFill>
                  <a:srgbClr val="1F4E79"/>
                </a:solidFill>
                <a:latin typeface="Arial"/>
                <a:ea typeface="Arial"/>
                <a:cs typeface="Arial"/>
              </a:defRPr>
            </a:pPr>
            <a:r>
              <a:rPr sz="1800" b="0">
                <a:solidFill>
                  <a:srgbClr val="1F4E79"/>
                </a:solidFill>
                <a:latin typeface="Arial"/>
                <a:ea typeface="Arial"/>
                <a:cs typeface="Arial"/>
              </a:rPr>
              <a:t>Qwen2.5-VL-3B: huggingface.co/Qwen/Qwen2.5-VL-3B-Instruct</a:t>
            </a:r>
          </a:p>
        </p:txBody>
      </p:sp>
      <p:sp>
        <p:nvSpPr>
          <p:cNvPr id="7" name="Прямоугольник 6">
            <a:extLst>
              <a:ext uri="{FF2B5EF4-FFF2-40B4-BE49-F238E27FC236}">
                <a16:creationId xmlns:a16="http://schemas.microsoft.com/office/drawing/2014/main" id="{75BC00FB-5948-4CD3-8CE7-594CF0665826}"/>
              </a:ext>
            </a:extLst>
          </p:cNvPr>
          <p:cNvSpPr>
            <a:spLocks noGrp="1"/>
          </p:cNvSpPr>
          <p:nvPr/>
        </p:nvSpPr>
        <p:spPr>
          <a:xfrm>
            <a:off x="609600" y="4010025"/>
            <a:ext cx="10953750" cy="676275"/>
          </a:xfrm>
          <a:prstGeom prst="rect">
            <a:avLst/>
          </a:prstGeom>
          <a:noFill/>
          <a:ln w="0">
            <a:noFill/>
          </a:ln>
        </p:spPr>
        <p:txBody>
          <a:bodyPr lIns="0" tIns="0" rIns="0" bIns="0" anchor="t"/>
          <a:lstStyle>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a:pPr>
              <a:defRPr sz="1800" b="0">
                <a:solidFill>
                  <a:srgbClr val="1F4E79"/>
                </a:solidFill>
                <a:latin typeface="Arial"/>
                <a:ea typeface="Arial"/>
                <a:cs typeface="Arial"/>
              </a:defRPr>
            </a:pPr>
            <a:r>
              <a:rPr sz="1800" b="0">
                <a:solidFill>
                  <a:srgbClr val="1F4E79"/>
                </a:solidFill>
                <a:latin typeface="Arial"/>
                <a:ea typeface="Arial"/>
                <a:cs typeface="Arial"/>
              </a:rPr>
              <a:t>Original results: runs/test_v1 and analysis/test_v1</a:t>
            </a:r>
          </a:p>
        </p:txBody>
      </p:sp>
      <p:sp>
        <p:nvSpPr>
          <p:cNvPr id="8" name="Прямоугольник 7">
            <a:extLst>
              <a:ext uri="{FF2B5EF4-FFF2-40B4-BE49-F238E27FC236}">
                <a16:creationId xmlns:a16="http://schemas.microsoft.com/office/drawing/2014/main" id="{F5D4D5A6-83B4-49EF-BC7B-FDE538B9343C}"/>
              </a:ext>
            </a:extLst>
          </p:cNvPr>
          <p:cNvSpPr>
            <a:spLocks noGrp="1"/>
          </p:cNvSpPr>
          <p:nvPr/>
        </p:nvSpPr>
        <p:spPr>
          <a:xfrm>
            <a:off x="609600" y="4800600"/>
            <a:ext cx="10953750" cy="676275"/>
          </a:xfrm>
          <a:prstGeom prst="rect">
            <a:avLst/>
          </a:prstGeom>
          <a:noFill/>
          <a:ln w="0">
            <a:noFill/>
          </a:ln>
        </p:spPr>
        <p:txBody>
          <a:bodyPr lIns="0" tIns="0" rIns="0" bIns="0" anchor="t"/>
          <a:lstStyle>
            <a:defPPr>
              <a:defRPr sz="1800" b="0">
                <a:solidFill>
                  <a:srgbClr val="1F4E79"/>
                </a:solidFill>
                <a:latin typeface="Arial"/>
                <a:ea typeface="Arial"/>
                <a:cs typeface="Arial"/>
              </a:defRPr>
            </a:defPPr>
            <a:lvl1pPr>
              <a:defRPr sz="1800" b="0">
                <a:solidFill>
                  <a:srgbClr val="1F4E79"/>
                </a:solidFill>
                <a:latin typeface="Arial"/>
                <a:ea typeface="Arial"/>
                <a:cs typeface="Arial"/>
              </a:defRPr>
            </a:lvl1pPr>
            <a:lvl2pPr>
              <a:defRPr sz="1800" b="0">
                <a:solidFill>
                  <a:srgbClr val="1F4E79"/>
                </a:solidFill>
                <a:latin typeface="Arial"/>
                <a:ea typeface="Arial"/>
                <a:cs typeface="Arial"/>
              </a:defRPr>
            </a:lvl2pPr>
            <a:lvl3pPr>
              <a:defRPr sz="1800" b="0">
                <a:solidFill>
                  <a:srgbClr val="1F4E79"/>
                </a:solidFill>
                <a:latin typeface="Arial"/>
                <a:ea typeface="Arial"/>
                <a:cs typeface="Arial"/>
              </a:defRPr>
            </a:lvl3pPr>
            <a:lvl4pPr>
              <a:defRPr sz="1800" b="0">
                <a:solidFill>
                  <a:srgbClr val="1F4E79"/>
                </a:solidFill>
                <a:latin typeface="Arial"/>
                <a:ea typeface="Arial"/>
                <a:cs typeface="Arial"/>
              </a:defRPr>
            </a:lvl4pPr>
            <a:lvl5pPr>
              <a:defRPr sz="1800" b="0">
                <a:solidFill>
                  <a:srgbClr val="1F4E79"/>
                </a:solidFill>
                <a:latin typeface="Arial"/>
                <a:ea typeface="Arial"/>
                <a:cs typeface="Arial"/>
              </a:defRPr>
            </a:lvl5pPr>
            <a:lvl6pPr>
              <a:defRPr sz="1800" b="0">
                <a:solidFill>
                  <a:srgbClr val="1F4E79"/>
                </a:solidFill>
                <a:latin typeface="Arial"/>
                <a:ea typeface="Arial"/>
                <a:cs typeface="Arial"/>
              </a:defRPr>
            </a:lvl6pPr>
            <a:lvl7pPr>
              <a:defRPr sz="1800" b="0">
                <a:solidFill>
                  <a:srgbClr val="1F4E79"/>
                </a:solidFill>
                <a:latin typeface="Arial"/>
                <a:ea typeface="Arial"/>
                <a:cs typeface="Arial"/>
              </a:defRPr>
            </a:lvl7pPr>
            <a:lvl8pPr>
              <a:defRPr sz="1800" b="0">
                <a:solidFill>
                  <a:srgbClr val="1F4E79"/>
                </a:solidFill>
                <a:latin typeface="Arial"/>
                <a:ea typeface="Arial"/>
                <a:cs typeface="Arial"/>
              </a:defRPr>
            </a:lvl8pPr>
            <a:lvl9pPr>
              <a:defRPr sz="1800" b="0">
                <a:solidFill>
                  <a:srgbClr val="1F4E79"/>
                </a:solidFill>
                <a:latin typeface="Arial"/>
                <a:ea typeface="Arial"/>
                <a:cs typeface="Arial"/>
              </a:defRPr>
            </a:lvl9pPr>
          </a:lstStyle>
          <a:p>
            <a:pPr>
              <a:defRPr sz="1800" b="0">
                <a:solidFill>
                  <a:srgbClr val="1F4E79"/>
                </a:solidFill>
                <a:latin typeface="Arial"/>
                <a:ea typeface="Arial"/>
                <a:cs typeface="Arial"/>
              </a:defRPr>
            </a:pPr>
            <a:r>
              <a:rPr sz="1800" b="0">
                <a:solidFill>
                  <a:srgbClr val="1F4E79"/>
                </a:solidFill>
                <a:latin typeface="Arial"/>
                <a:ea typeface="Arial"/>
                <a:cs typeface="Arial"/>
              </a:rPr>
              <a:t>GPU results: snapshots/gpu_return_20261025_121148/contents/runs/gpu_vlm_v1</a:t>
            </a:r>
          </a:p>
        </p:txBody>
      </p:sp>
    </p:spTree>
    <p:extLst>
      <p:ext uri="{BB962C8B-B14F-4D97-AF65-F5344CB8AC3E}">
        <p14:creationId xmlns:p14="http://schemas.microsoft.com/office/powerpoint/2010/main" val="934384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A7362F85-AA9E-4DD8-ADE0-43267B7674B8}"/>
              </a:ext>
            </a:extLst>
          </p:cNvPr>
          <p:cNvSpPr>
            <a:spLocks noGrp="1"/>
          </p:cNvSpPr>
          <p:nvPr/>
        </p:nvSpPr>
        <p:spPr>
          <a:xfrm>
            <a:off x="609600" y="438150"/>
            <a:ext cx="10972800" cy="952500"/>
          </a:xfrm>
          <a:prstGeom prst="rect">
            <a:avLst/>
          </a:prstGeom>
          <a:noFill/>
          <a:ln w="0">
            <a:noFill/>
          </a:ln>
        </p:spPr>
        <p:txBody>
          <a:bodyPr lIns="0" tIns="0" rIns="0" bIns="0" anchor="t"/>
          <a:lstStyle>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a:pPr>
              <a:buNone/>
              <a:defRPr sz="3075" b="1">
                <a:solidFill>
                  <a:srgbClr val="1F4E79"/>
                </a:solidFill>
                <a:latin typeface="Arial"/>
                <a:ea typeface="Arial"/>
                <a:cs typeface="Arial"/>
              </a:defRPr>
            </a:pPr>
            <a:r>
              <a:rPr sz="3075" b="1">
                <a:solidFill>
                  <a:srgbClr val="1F4E79"/>
                </a:solidFill>
                <a:latin typeface="Arial"/>
                <a:ea typeface="Arial"/>
                <a:cs typeface="Arial"/>
              </a:rPr>
              <a:t>A generated branching process matches the request</a:t>
            </a:r>
          </a:p>
        </p:txBody>
      </p:sp>
      <p:sp>
        <p:nvSpPr>
          <p:cNvPr id="2" name="Прямоугольник 1">
            <a:extLst>
              <a:ext uri="{FF2B5EF4-FFF2-40B4-BE49-F238E27FC236}">
                <a16:creationId xmlns:a16="http://schemas.microsoft.com/office/drawing/2014/main" id="{5992EEE1-92A3-442D-8882-721A9C3A0231}"/>
              </a:ext>
            </a:extLst>
          </p:cNvPr>
          <p:cNvSpPr>
            <a:spLocks noGrp="1"/>
          </p:cNvSpPr>
          <p:nvPr/>
        </p:nvSpPr>
        <p:spPr>
          <a:xfrm>
            <a:off x="609600" y="6067425"/>
            <a:ext cx="10972800" cy="3238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buNone/>
              <a:defRPr sz="1200" b="0">
                <a:solidFill>
                  <a:srgbClr val="1F4E79"/>
                </a:solidFill>
                <a:latin typeface="Arial"/>
                <a:ea typeface="Arial"/>
                <a:cs typeface="Arial"/>
              </a:defRPr>
            </a:lvl1pPr>
            <a:lvl2pPr>
              <a:buNone/>
              <a:defRPr sz="1200" b="0">
                <a:solidFill>
                  <a:srgbClr val="1F4E79"/>
                </a:solidFill>
                <a:latin typeface="Arial"/>
                <a:ea typeface="Arial"/>
                <a:cs typeface="Arial"/>
              </a:defRPr>
            </a:lvl2pPr>
            <a:lvl3pPr>
              <a:buNone/>
              <a:defRPr sz="1200" b="0">
                <a:solidFill>
                  <a:srgbClr val="1F4E79"/>
                </a:solidFill>
                <a:latin typeface="Arial"/>
                <a:ea typeface="Arial"/>
                <a:cs typeface="Arial"/>
              </a:defRPr>
            </a:lvl3pPr>
            <a:lvl4pPr>
              <a:buNone/>
              <a:defRPr sz="1200" b="0">
                <a:solidFill>
                  <a:srgbClr val="1F4E79"/>
                </a:solidFill>
                <a:latin typeface="Arial"/>
                <a:ea typeface="Arial"/>
                <a:cs typeface="Arial"/>
              </a:defRPr>
            </a:lvl4pPr>
            <a:lvl5pPr>
              <a:buNone/>
              <a:defRPr sz="1200" b="0">
                <a:solidFill>
                  <a:srgbClr val="1F4E79"/>
                </a:solidFill>
                <a:latin typeface="Arial"/>
                <a:ea typeface="Arial"/>
                <a:cs typeface="Arial"/>
              </a:defRPr>
            </a:lvl5pPr>
            <a:lvl6pPr>
              <a:buNone/>
              <a:defRPr sz="1200" b="0">
                <a:solidFill>
                  <a:srgbClr val="1F4E79"/>
                </a:solidFill>
                <a:latin typeface="Arial"/>
                <a:ea typeface="Arial"/>
                <a:cs typeface="Arial"/>
              </a:defRPr>
            </a:lvl6pPr>
            <a:lvl7pPr>
              <a:buNone/>
              <a:defRPr sz="1200" b="0">
                <a:solidFill>
                  <a:srgbClr val="1F4E79"/>
                </a:solidFill>
                <a:latin typeface="Arial"/>
                <a:ea typeface="Arial"/>
                <a:cs typeface="Arial"/>
              </a:defRPr>
            </a:lvl7pPr>
            <a:lvl8pPr>
              <a:buNone/>
              <a:defRPr sz="1200" b="0">
                <a:solidFill>
                  <a:srgbClr val="1F4E79"/>
                </a:solidFill>
                <a:latin typeface="Arial"/>
                <a:ea typeface="Arial"/>
                <a:cs typeface="Arial"/>
              </a:defRPr>
            </a:lvl8pPr>
            <a:lvl9pPr>
              <a:buNone/>
              <a:defRPr sz="1200" b="0">
                <a:solidFill>
                  <a:srgbClr val="1F4E79"/>
                </a:solidFill>
                <a:latin typeface="Arial"/>
                <a:ea typeface="Arial"/>
                <a:cs typeface="Arial"/>
              </a:defRPr>
            </a:lvl9pPr>
          </a:lstStyle>
          <a:p>
            <a:pPr>
              <a:buNone/>
              <a:defRPr sz="1200" b="0">
                <a:solidFill>
                  <a:srgbClr val="1F4E79"/>
                </a:solidFill>
                <a:latin typeface="Arial"/>
                <a:ea typeface="Arial"/>
                <a:cs typeface="Arial"/>
              </a:defRPr>
            </a:pPr>
            <a:r>
              <a:rPr sz="1200" b="0">
                <a:solidFill>
                  <a:srgbClr val="1F4E79"/>
                </a:solidFill>
                <a:latin typeface="Arial"/>
                <a:ea typeface="Arial"/>
                <a:cs typeface="Arial"/>
              </a:rPr>
              <a:t>Source: test_branch_01/B0/chart.png and scene.json. Enlarged branch detail at right.</a:t>
            </a:r>
          </a:p>
        </p:txBody>
      </p:sp>
      <p:sp>
        <p:nvSpPr>
          <p:cNvPr id="3" name="Прямоугольник 2">
            <a:extLst>
              <a:ext uri="{FF2B5EF4-FFF2-40B4-BE49-F238E27FC236}">
                <a16:creationId xmlns:a16="http://schemas.microsoft.com/office/drawing/2014/main" id="{F476D7F9-56DE-46BF-87FD-C571286D74EB}"/>
              </a:ext>
            </a:extLst>
          </p:cNvPr>
          <p:cNvSpPr>
            <a:spLocks noGrp="1"/>
          </p:cNvSpPr>
          <p:nvPr/>
        </p:nvSpPr>
        <p:spPr>
          <a:xfrm>
            <a:off x="609600" y="1428750"/>
            <a:ext cx="3905250" cy="342900"/>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buNone/>
              <a:defRPr sz="1875" b="1">
                <a:solidFill>
                  <a:srgbClr val="1F4E79"/>
                </a:solidFill>
                <a:latin typeface="Arial"/>
                <a:ea typeface="Arial"/>
                <a:cs typeface="Arial"/>
              </a:defRPr>
            </a:lvl1pPr>
            <a:lvl2pPr>
              <a:buNone/>
              <a:defRPr sz="1875" b="1">
                <a:solidFill>
                  <a:srgbClr val="1F4E79"/>
                </a:solidFill>
                <a:latin typeface="Arial"/>
                <a:ea typeface="Arial"/>
                <a:cs typeface="Arial"/>
              </a:defRPr>
            </a:lvl2pPr>
            <a:lvl3pPr>
              <a:buNone/>
              <a:defRPr sz="1875" b="1">
                <a:solidFill>
                  <a:srgbClr val="1F4E79"/>
                </a:solidFill>
                <a:latin typeface="Arial"/>
                <a:ea typeface="Arial"/>
                <a:cs typeface="Arial"/>
              </a:defRPr>
            </a:lvl3pPr>
            <a:lvl4pPr>
              <a:buNone/>
              <a:defRPr sz="1875" b="1">
                <a:solidFill>
                  <a:srgbClr val="1F4E79"/>
                </a:solidFill>
                <a:latin typeface="Arial"/>
                <a:ea typeface="Arial"/>
                <a:cs typeface="Arial"/>
              </a:defRPr>
            </a:lvl4pPr>
            <a:lvl5pPr>
              <a:buNone/>
              <a:defRPr sz="1875" b="1">
                <a:solidFill>
                  <a:srgbClr val="1F4E79"/>
                </a:solidFill>
                <a:latin typeface="Arial"/>
                <a:ea typeface="Arial"/>
                <a:cs typeface="Arial"/>
              </a:defRPr>
            </a:lvl5pPr>
            <a:lvl6pPr>
              <a:buNone/>
              <a:defRPr sz="1875" b="1">
                <a:solidFill>
                  <a:srgbClr val="1F4E79"/>
                </a:solidFill>
                <a:latin typeface="Arial"/>
                <a:ea typeface="Arial"/>
                <a:cs typeface="Arial"/>
              </a:defRPr>
            </a:lvl6pPr>
            <a:lvl7pPr>
              <a:buNone/>
              <a:defRPr sz="1875" b="1">
                <a:solidFill>
                  <a:srgbClr val="1F4E79"/>
                </a:solidFill>
                <a:latin typeface="Arial"/>
                <a:ea typeface="Arial"/>
                <a:cs typeface="Arial"/>
              </a:defRPr>
            </a:lvl7pPr>
            <a:lvl8pPr>
              <a:buNone/>
              <a:defRPr sz="1875" b="1">
                <a:solidFill>
                  <a:srgbClr val="1F4E79"/>
                </a:solidFill>
                <a:latin typeface="Arial"/>
                <a:ea typeface="Arial"/>
                <a:cs typeface="Arial"/>
              </a:defRPr>
            </a:lvl8pPr>
            <a:lvl9pPr>
              <a:buNone/>
              <a:defRPr sz="1875" b="1">
                <a:solidFill>
                  <a:srgbClr val="1F4E79"/>
                </a:solidFill>
                <a:latin typeface="Arial"/>
                <a:ea typeface="Arial"/>
                <a:cs typeface="Arial"/>
              </a:defRPr>
            </a:lvl9pPr>
          </a:lstStyle>
          <a:p>
            <a:pPr>
              <a:buNone/>
              <a:defRPr sz="1875" b="1">
                <a:solidFill>
                  <a:srgbClr val="1F4E79"/>
                </a:solidFill>
                <a:latin typeface="Arial"/>
                <a:ea typeface="Arial"/>
                <a:cs typeface="Arial"/>
              </a:defRPr>
            </a:pPr>
            <a:r>
              <a:rPr sz="1875" b="1">
                <a:solidFill>
                  <a:srgbClr val="1F4E79"/>
                </a:solidFill>
                <a:latin typeface="Arial"/>
                <a:ea typeface="Arial"/>
                <a:cs typeface="Arial"/>
              </a:rPr>
              <a:t>B0: complete saved output</a:t>
            </a:r>
          </a:p>
        </p:txBody>
      </p:sp>
      <p:sp>
        <p:nvSpPr>
          <p:cNvPr id="4" name="Прямоугольник 3">
            <a:extLst>
              <a:ext uri="{FF2B5EF4-FFF2-40B4-BE49-F238E27FC236}">
                <a16:creationId xmlns:a16="http://schemas.microsoft.com/office/drawing/2014/main" id="{2C66F8F4-5760-4F64-BA32-82C634561163}"/>
              </a:ext>
            </a:extLst>
          </p:cNvPr>
          <p:cNvSpPr>
            <a:spLocks noGrp="1"/>
          </p:cNvSpPr>
          <p:nvPr/>
        </p:nvSpPr>
        <p:spPr>
          <a:xfrm>
            <a:off x="4857750" y="1428750"/>
            <a:ext cx="6667500" cy="342900"/>
          </a:xfrm>
          <a:prstGeom prst="rect">
            <a:avLst/>
          </a:prstGeom>
          <a:noFill/>
          <a:ln w="0">
            <a:noFill/>
          </a:ln>
        </p:spPr>
        <p:txBody>
          <a:bodyPr lIns="0" tIns="0" rIns="0" bIns="0" anchor="t"/>
          <a:lstStyle>
            <a:defPPr>
              <a:defRPr sz="1875" b="1">
                <a:solidFill>
                  <a:srgbClr val="1F4E79"/>
                </a:solidFill>
                <a:latin typeface="Arial"/>
                <a:ea typeface="Arial"/>
                <a:cs typeface="Arial"/>
              </a:defRPr>
            </a:defPPr>
            <a:lvl1pPr>
              <a:buNone/>
              <a:defRPr sz="1875" b="1">
                <a:solidFill>
                  <a:srgbClr val="1F4E79"/>
                </a:solidFill>
                <a:latin typeface="Arial"/>
                <a:ea typeface="Arial"/>
                <a:cs typeface="Arial"/>
              </a:defRPr>
            </a:lvl1pPr>
            <a:lvl2pPr>
              <a:buNone/>
              <a:defRPr sz="1875" b="1">
                <a:solidFill>
                  <a:srgbClr val="1F4E79"/>
                </a:solidFill>
                <a:latin typeface="Arial"/>
                <a:ea typeface="Arial"/>
                <a:cs typeface="Arial"/>
              </a:defRPr>
            </a:lvl2pPr>
            <a:lvl3pPr>
              <a:buNone/>
              <a:defRPr sz="1875" b="1">
                <a:solidFill>
                  <a:srgbClr val="1F4E79"/>
                </a:solidFill>
                <a:latin typeface="Arial"/>
                <a:ea typeface="Arial"/>
                <a:cs typeface="Arial"/>
              </a:defRPr>
            </a:lvl3pPr>
            <a:lvl4pPr>
              <a:buNone/>
              <a:defRPr sz="1875" b="1">
                <a:solidFill>
                  <a:srgbClr val="1F4E79"/>
                </a:solidFill>
                <a:latin typeface="Arial"/>
                <a:ea typeface="Arial"/>
                <a:cs typeface="Arial"/>
              </a:defRPr>
            </a:lvl4pPr>
            <a:lvl5pPr>
              <a:buNone/>
              <a:defRPr sz="1875" b="1">
                <a:solidFill>
                  <a:srgbClr val="1F4E79"/>
                </a:solidFill>
                <a:latin typeface="Arial"/>
                <a:ea typeface="Arial"/>
                <a:cs typeface="Arial"/>
              </a:defRPr>
            </a:lvl5pPr>
            <a:lvl6pPr>
              <a:buNone/>
              <a:defRPr sz="1875" b="1">
                <a:solidFill>
                  <a:srgbClr val="1F4E79"/>
                </a:solidFill>
                <a:latin typeface="Arial"/>
                <a:ea typeface="Arial"/>
                <a:cs typeface="Arial"/>
              </a:defRPr>
            </a:lvl6pPr>
            <a:lvl7pPr>
              <a:buNone/>
              <a:defRPr sz="1875" b="1">
                <a:solidFill>
                  <a:srgbClr val="1F4E79"/>
                </a:solidFill>
                <a:latin typeface="Arial"/>
                <a:ea typeface="Arial"/>
                <a:cs typeface="Arial"/>
              </a:defRPr>
            </a:lvl7pPr>
            <a:lvl8pPr>
              <a:buNone/>
              <a:defRPr sz="1875" b="1">
                <a:solidFill>
                  <a:srgbClr val="1F4E79"/>
                </a:solidFill>
                <a:latin typeface="Arial"/>
                <a:ea typeface="Arial"/>
                <a:cs typeface="Arial"/>
              </a:defRPr>
            </a:lvl8pPr>
            <a:lvl9pPr>
              <a:buNone/>
              <a:defRPr sz="1875" b="1">
                <a:solidFill>
                  <a:srgbClr val="1F4E79"/>
                </a:solidFill>
                <a:latin typeface="Arial"/>
                <a:ea typeface="Arial"/>
                <a:cs typeface="Arial"/>
              </a:defRPr>
            </a:lvl9pPr>
          </a:lstStyle>
          <a:p>
            <a:pPr>
              <a:buNone/>
              <a:defRPr sz="1875" b="1">
                <a:solidFill>
                  <a:srgbClr val="1F4E79"/>
                </a:solidFill>
                <a:latin typeface="Arial"/>
                <a:ea typeface="Arial"/>
                <a:cs typeface="Arial"/>
              </a:defRPr>
            </a:pPr>
            <a:r>
              <a:rPr sz="1875" b="1">
                <a:solidFill>
                  <a:srgbClr val="1F4E79"/>
                </a:solidFill>
                <a:latin typeface="Arial"/>
                <a:ea typeface="Arial"/>
                <a:cs typeface="Arial"/>
              </a:rPr>
              <a:t>Decision and merge, enlarged</a:t>
            </a:r>
          </a:p>
        </p:txBody>
      </p:sp>
      <p:pic>
        <p:nvPicPr>
          <p:cNvPr id="5" name="Рисунок 4">
            <a:extLst>
              <a:ext uri="{FF2B5EF4-FFF2-40B4-BE49-F238E27FC236}">
                <a16:creationId xmlns:a16="http://schemas.microsoft.com/office/drawing/2014/main" id="{1D5A3648-99E8-4EFA-B306-7E84940204D9}"/>
              </a:ext>
            </a:extLst>
          </p:cNvPr>
          <p:cNvPicPr>
            <a:picLocks noChangeAspect="1"/>
          </p:cNvPicPr>
          <p:nvPr/>
        </p:nvPicPr>
        <p:blipFill>
          <a:blip r:embed="rId3"/>
          <a:srcRect t="694" b="32292"/>
          <a:stretch/>
        </p:blipFill>
        <p:spPr>
          <a:xfrm>
            <a:off x="916078" y="1809750"/>
            <a:ext cx="3197044" cy="3905250"/>
          </a:xfrm>
          <a:prstGeom prst="rect">
            <a:avLst/>
          </a:prstGeom>
        </p:spPr>
      </p:pic>
      <p:pic>
        <p:nvPicPr>
          <p:cNvPr id="6" name="Рисунок 5">
            <a:extLst>
              <a:ext uri="{FF2B5EF4-FFF2-40B4-BE49-F238E27FC236}">
                <a16:creationId xmlns:a16="http://schemas.microsoft.com/office/drawing/2014/main" id="{A9A617FA-487E-4BD5-AE3A-70DEA374C686}"/>
              </a:ext>
            </a:extLst>
          </p:cNvPr>
          <p:cNvPicPr>
            <a:picLocks noChangeAspect="1"/>
          </p:cNvPicPr>
          <p:nvPr/>
        </p:nvPicPr>
        <p:blipFill>
          <a:blip r:embed="rId3"/>
          <a:srcRect t="24306" b="44444"/>
          <a:stretch/>
        </p:blipFill>
        <p:spPr>
          <a:xfrm>
            <a:off x="5139796" y="1809750"/>
            <a:ext cx="6103408" cy="3476625"/>
          </a:xfrm>
          <a:prstGeom prst="rect">
            <a:avLst/>
          </a:prstGeom>
        </p:spPr>
      </p:pic>
      <p:sp>
        <p:nvSpPr>
          <p:cNvPr id="7" name="Прямоугольник 6">
            <a:extLst>
              <a:ext uri="{FF2B5EF4-FFF2-40B4-BE49-F238E27FC236}">
                <a16:creationId xmlns:a16="http://schemas.microsoft.com/office/drawing/2014/main" id="{04F0BD96-03AB-4642-B61F-18B1AB2AFA45}"/>
              </a:ext>
            </a:extLst>
          </p:cNvPr>
          <p:cNvSpPr>
            <a:spLocks noGrp="1"/>
          </p:cNvSpPr>
          <p:nvPr/>
        </p:nvSpPr>
        <p:spPr>
          <a:xfrm>
            <a:off x="4857750" y="5381625"/>
            <a:ext cx="6667500" cy="381000"/>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a:pPr>
              <a:buNone/>
              <a:defRPr sz="2025" b="1">
                <a:solidFill>
                  <a:srgbClr val="1F4E79"/>
                </a:solidFill>
                <a:latin typeface="Arial"/>
                <a:ea typeface="Arial"/>
                <a:cs typeface="Arial"/>
              </a:defRPr>
            </a:pPr>
            <a:r>
              <a:rPr sz="2025" b="1">
                <a:solidFill>
                  <a:srgbClr val="1F4E79"/>
                </a:solidFill>
                <a:latin typeface="Arial"/>
                <a:ea typeface="Arial"/>
                <a:cs typeface="Arial"/>
              </a:rPr>
              <a:t>Edge F1 1.000    Exact match</a:t>
            </a:r>
          </a:p>
        </p:txBody>
      </p:sp>
      <p:sp>
        <p:nvSpPr>
          <p:cNvPr id="8" name="Прямоугольник 7">
            <a:extLst>
              <a:ext uri="{FF2B5EF4-FFF2-40B4-BE49-F238E27FC236}">
                <a16:creationId xmlns:a16="http://schemas.microsoft.com/office/drawing/2014/main" id="{D15771DD-4095-43D5-AF7C-3EC262FAB485}"/>
              </a:ext>
            </a:extLst>
          </p:cNvPr>
          <p:cNvSpPr>
            <a:spLocks noGrp="1"/>
          </p:cNvSpPr>
          <p:nvPr/>
        </p:nvSpPr>
        <p:spPr>
          <a:xfrm>
            <a:off x="609600" y="6419850"/>
            <a:ext cx="10972800" cy="219075"/>
          </a:xfrm>
          <a:prstGeom prst="rect">
            <a:avLst/>
          </a:prstGeom>
          <a:noFill/>
          <a:ln w="0">
            <a:noFill/>
          </a:ln>
        </p:spPr>
        <p:txBody>
          <a:bodyPr lIns="0" tIns="0" rIns="0" bIns="0" anchor="t"/>
          <a:lstStyle>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a:pPr>
              <a:buNone/>
              <a:defRPr sz="1275" b="0">
                <a:solidFill>
                  <a:srgbClr val="1F4E79"/>
                </a:solidFill>
                <a:latin typeface="Arial"/>
                <a:ea typeface="Arial"/>
                <a:cs typeface="Arial"/>
              </a:defRPr>
            </a:pPr>
            <a:r>
              <a:rPr sz="1275" b="0">
                <a:solidFill>
                  <a:srgbClr val="1F4E79"/>
                </a:solidFill>
                <a:latin typeface="Arial"/>
                <a:ea typeface="Arial"/>
                <a:cs typeface="Arial"/>
              </a:rPr>
              <a:t>Appendix B   Saved original CPU example   12</a:t>
            </a:r>
          </a:p>
        </p:txBody>
      </p:sp>
    </p:spTree>
    <p:extLst>
      <p:ext uri="{BB962C8B-B14F-4D97-AF65-F5344CB8AC3E}">
        <p14:creationId xmlns:p14="http://schemas.microsoft.com/office/powerpoint/2010/main" val="290337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CFAA9664-A60E-4966-8EE8-3D9B831937AC}"/>
              </a:ext>
            </a:extLst>
          </p:cNvPr>
          <p:cNvSpPr>
            <a:spLocks noGrp="1"/>
          </p:cNvSpPr>
          <p:nvPr/>
        </p:nvSpPr>
        <p:spPr>
          <a:xfrm>
            <a:off x="609600" y="438150"/>
            <a:ext cx="10972800" cy="952500"/>
          </a:xfrm>
          <a:prstGeom prst="rect">
            <a:avLst/>
          </a:prstGeom>
          <a:noFill/>
          <a:ln w="0">
            <a:noFill/>
          </a:ln>
        </p:spPr>
        <p:txBody>
          <a:bodyPr lIns="0" tIns="0" rIns="0" bIns="0" anchor="t"/>
          <a:lstStyle>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a:pPr>
              <a:buNone/>
              <a:defRPr sz="3075" b="1">
                <a:solidFill>
                  <a:srgbClr val="1F4E79"/>
                </a:solidFill>
                <a:latin typeface="Arial"/>
                <a:ea typeface="Arial"/>
                <a:cs typeface="Arial"/>
              </a:defRPr>
            </a:pPr>
            <a:r>
              <a:rPr sz="3075" b="1">
                <a:solidFill>
                  <a:srgbClr val="1F4E79"/>
                </a:solidFill>
                <a:latin typeface="Arial"/>
                <a:ea typeface="Arial"/>
                <a:cs typeface="Arial"/>
              </a:rPr>
              <a:t>A loop edit improves edge F1 but stays incorrect</a:t>
            </a:r>
          </a:p>
        </p:txBody>
      </p:sp>
      <p:sp>
        <p:nvSpPr>
          <p:cNvPr id="2" name="Прямоугольник 1">
            <a:extLst>
              <a:ext uri="{FF2B5EF4-FFF2-40B4-BE49-F238E27FC236}">
                <a16:creationId xmlns:a16="http://schemas.microsoft.com/office/drawing/2014/main" id="{1BBE1F17-8714-4D01-9CB4-67AB8CC86660}"/>
              </a:ext>
            </a:extLst>
          </p:cNvPr>
          <p:cNvSpPr>
            <a:spLocks noGrp="1"/>
          </p:cNvSpPr>
          <p:nvPr/>
        </p:nvSpPr>
        <p:spPr>
          <a:xfrm>
            <a:off x="609600" y="6067425"/>
            <a:ext cx="10972800" cy="323850"/>
          </a:xfrm>
          <a:prstGeom prst="rect">
            <a:avLst/>
          </a:prstGeom>
          <a:noFill/>
          <a:ln w="0">
            <a:noFill/>
          </a:ln>
        </p:spPr>
        <p:txBody>
          <a:bodyPr lIns="0" tIns="0" rIns="0" bIns="0" anchor="t"/>
          <a:lstStyle>
            <a:defPPr>
              <a:defRPr sz="1200" b="0">
                <a:solidFill>
                  <a:srgbClr val="1F4E79"/>
                </a:solidFill>
                <a:latin typeface="Arial"/>
                <a:ea typeface="Arial"/>
                <a:cs typeface="Arial"/>
              </a:defRPr>
            </a:defPPr>
            <a:lvl1pPr>
              <a:buNone/>
              <a:defRPr sz="1200" b="0">
                <a:solidFill>
                  <a:srgbClr val="1F4E79"/>
                </a:solidFill>
                <a:latin typeface="Arial"/>
                <a:ea typeface="Arial"/>
                <a:cs typeface="Arial"/>
              </a:defRPr>
            </a:lvl1pPr>
            <a:lvl2pPr>
              <a:buNone/>
              <a:defRPr sz="1200" b="0">
                <a:solidFill>
                  <a:srgbClr val="1F4E79"/>
                </a:solidFill>
                <a:latin typeface="Arial"/>
                <a:ea typeface="Arial"/>
                <a:cs typeface="Arial"/>
              </a:defRPr>
            </a:lvl2pPr>
            <a:lvl3pPr>
              <a:buNone/>
              <a:defRPr sz="1200" b="0">
                <a:solidFill>
                  <a:srgbClr val="1F4E79"/>
                </a:solidFill>
                <a:latin typeface="Arial"/>
                <a:ea typeface="Arial"/>
                <a:cs typeface="Arial"/>
              </a:defRPr>
            </a:lvl3pPr>
            <a:lvl4pPr>
              <a:buNone/>
              <a:defRPr sz="1200" b="0">
                <a:solidFill>
                  <a:srgbClr val="1F4E79"/>
                </a:solidFill>
                <a:latin typeface="Arial"/>
                <a:ea typeface="Arial"/>
                <a:cs typeface="Arial"/>
              </a:defRPr>
            </a:lvl4pPr>
            <a:lvl5pPr>
              <a:buNone/>
              <a:defRPr sz="1200" b="0">
                <a:solidFill>
                  <a:srgbClr val="1F4E79"/>
                </a:solidFill>
                <a:latin typeface="Arial"/>
                <a:ea typeface="Arial"/>
                <a:cs typeface="Arial"/>
              </a:defRPr>
            </a:lvl5pPr>
            <a:lvl6pPr>
              <a:buNone/>
              <a:defRPr sz="1200" b="0">
                <a:solidFill>
                  <a:srgbClr val="1F4E79"/>
                </a:solidFill>
                <a:latin typeface="Arial"/>
                <a:ea typeface="Arial"/>
                <a:cs typeface="Arial"/>
              </a:defRPr>
            </a:lvl6pPr>
            <a:lvl7pPr>
              <a:buNone/>
              <a:defRPr sz="1200" b="0">
                <a:solidFill>
                  <a:srgbClr val="1F4E79"/>
                </a:solidFill>
                <a:latin typeface="Arial"/>
                <a:ea typeface="Arial"/>
                <a:cs typeface="Arial"/>
              </a:defRPr>
            </a:lvl7pPr>
            <a:lvl8pPr>
              <a:buNone/>
              <a:defRPr sz="1200" b="0">
                <a:solidFill>
                  <a:srgbClr val="1F4E79"/>
                </a:solidFill>
                <a:latin typeface="Arial"/>
                <a:ea typeface="Arial"/>
                <a:cs typeface="Arial"/>
              </a:defRPr>
            </a:lvl8pPr>
            <a:lvl9pPr>
              <a:buNone/>
              <a:defRPr sz="1200" b="0">
                <a:solidFill>
                  <a:srgbClr val="1F4E79"/>
                </a:solidFill>
                <a:latin typeface="Arial"/>
                <a:ea typeface="Arial"/>
                <a:cs typeface="Arial"/>
              </a:defRPr>
            </a:lvl9pPr>
          </a:lstStyle>
          <a:p>
            <a:pPr>
              <a:buNone/>
              <a:defRPr sz="1200" b="0">
                <a:solidFill>
                  <a:srgbClr val="1F4E79"/>
                </a:solidFill>
                <a:latin typeface="Arial"/>
                <a:ea typeface="Arial"/>
                <a:cs typeface="Arial"/>
              </a:defRPr>
            </a:pPr>
            <a:r>
              <a:rPr sz="1200" b="0">
                <a:solidFill>
                  <a:srgbClr val="1F4E79"/>
                </a:solidFill>
                <a:latin typeface="Arial"/>
                <a:ea typeface="Arial"/>
                <a:cs typeface="Arial"/>
              </a:rPr>
              <a:t>Source: test_loop_02/B0 and B3 chart.png. Detail: review, decision, loop and exit.</a:t>
            </a:r>
          </a:p>
        </p:txBody>
      </p:sp>
      <p:sp>
        <p:nvSpPr>
          <p:cNvPr id="3" name="Прямоугольник 2">
            <a:extLst>
              <a:ext uri="{FF2B5EF4-FFF2-40B4-BE49-F238E27FC236}">
                <a16:creationId xmlns:a16="http://schemas.microsoft.com/office/drawing/2014/main" id="{A0B40E65-32B7-453E-A64C-E166E82EA2A9}"/>
              </a:ext>
            </a:extLst>
          </p:cNvPr>
          <p:cNvSpPr>
            <a:spLocks noGrp="1"/>
          </p:cNvSpPr>
          <p:nvPr/>
        </p:nvSpPr>
        <p:spPr>
          <a:xfrm>
            <a:off x="609600" y="1438275"/>
            <a:ext cx="5143500" cy="333375"/>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a:pPr>
              <a:buNone/>
              <a:defRPr sz="2025" b="1">
                <a:solidFill>
                  <a:srgbClr val="1F4E79"/>
                </a:solidFill>
                <a:latin typeface="Arial"/>
                <a:ea typeface="Arial"/>
                <a:cs typeface="Arial"/>
              </a:defRPr>
            </a:pPr>
            <a:r>
              <a:rPr sz="2025" b="1">
                <a:solidFill>
                  <a:srgbClr val="1F4E79"/>
                </a:solidFill>
                <a:latin typeface="Arial"/>
                <a:ea typeface="Arial"/>
                <a:cs typeface="Arial"/>
              </a:rPr>
              <a:t>B0: initial</a:t>
            </a:r>
          </a:p>
        </p:txBody>
      </p:sp>
      <p:sp>
        <p:nvSpPr>
          <p:cNvPr id="4" name="Прямоугольник 3">
            <a:extLst>
              <a:ext uri="{FF2B5EF4-FFF2-40B4-BE49-F238E27FC236}">
                <a16:creationId xmlns:a16="http://schemas.microsoft.com/office/drawing/2014/main" id="{000A7881-FE63-415D-BC1A-595DA57DCF7C}"/>
              </a:ext>
            </a:extLst>
          </p:cNvPr>
          <p:cNvSpPr>
            <a:spLocks noGrp="1"/>
          </p:cNvSpPr>
          <p:nvPr/>
        </p:nvSpPr>
        <p:spPr>
          <a:xfrm>
            <a:off x="6305550" y="1438275"/>
            <a:ext cx="5238750" cy="333375"/>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a:pPr>
              <a:buNone/>
              <a:defRPr sz="2025" b="1">
                <a:solidFill>
                  <a:srgbClr val="1F4E79"/>
                </a:solidFill>
                <a:latin typeface="Arial"/>
                <a:ea typeface="Arial"/>
                <a:cs typeface="Arial"/>
              </a:defRPr>
            </a:pPr>
            <a:r>
              <a:rPr sz="2025" b="1">
                <a:solidFill>
                  <a:srgbClr val="1F4E79"/>
                </a:solidFill>
                <a:latin typeface="Arial"/>
                <a:ea typeface="Arial"/>
                <a:cs typeface="Arial"/>
              </a:rPr>
              <a:t>B3: combined feedback</a:t>
            </a:r>
          </a:p>
        </p:txBody>
      </p:sp>
      <p:pic>
        <p:nvPicPr>
          <p:cNvPr id="5" name="Рисунок 4">
            <a:extLst>
              <a:ext uri="{FF2B5EF4-FFF2-40B4-BE49-F238E27FC236}">
                <a16:creationId xmlns:a16="http://schemas.microsoft.com/office/drawing/2014/main" id="{E34A2664-86CF-413E-9A21-13FEC5CAB049}"/>
              </a:ext>
            </a:extLst>
          </p:cNvPr>
          <p:cNvPicPr>
            <a:picLocks noChangeAspect="1"/>
          </p:cNvPicPr>
          <p:nvPr/>
        </p:nvPicPr>
        <p:blipFill>
          <a:blip r:embed="rId3"/>
          <a:srcRect t="24306" b="32292"/>
          <a:stretch/>
        </p:blipFill>
        <p:spPr>
          <a:xfrm>
            <a:off x="1038035" y="1838325"/>
            <a:ext cx="4334256" cy="3429000"/>
          </a:xfrm>
          <a:prstGeom prst="rect">
            <a:avLst/>
          </a:prstGeom>
        </p:spPr>
      </p:pic>
      <p:pic>
        <p:nvPicPr>
          <p:cNvPr id="6" name="Рисунок 5">
            <a:extLst>
              <a:ext uri="{FF2B5EF4-FFF2-40B4-BE49-F238E27FC236}">
                <a16:creationId xmlns:a16="http://schemas.microsoft.com/office/drawing/2014/main" id="{415150CB-9CA4-4AB1-BB5E-82549183C98F}"/>
              </a:ext>
            </a:extLst>
          </p:cNvPr>
          <p:cNvPicPr>
            <a:picLocks noChangeAspect="1"/>
          </p:cNvPicPr>
          <p:nvPr/>
        </p:nvPicPr>
        <p:blipFill>
          <a:blip r:embed="rId4"/>
          <a:srcRect t="24306" b="32292"/>
          <a:stretch/>
        </p:blipFill>
        <p:spPr>
          <a:xfrm>
            <a:off x="6733985" y="1838325"/>
            <a:ext cx="4334256" cy="3429000"/>
          </a:xfrm>
          <a:prstGeom prst="rect">
            <a:avLst/>
          </a:prstGeom>
        </p:spPr>
      </p:pic>
      <p:sp>
        <p:nvSpPr>
          <p:cNvPr id="7" name="Прямоугольник 6">
            <a:extLst>
              <a:ext uri="{FF2B5EF4-FFF2-40B4-BE49-F238E27FC236}">
                <a16:creationId xmlns:a16="http://schemas.microsoft.com/office/drawing/2014/main" id="{01A4D479-0C58-4A6F-A08C-DEBF7811270A}"/>
              </a:ext>
            </a:extLst>
          </p:cNvPr>
          <p:cNvSpPr>
            <a:spLocks noGrp="1"/>
          </p:cNvSpPr>
          <p:nvPr/>
        </p:nvSpPr>
        <p:spPr>
          <a:xfrm>
            <a:off x="609600" y="5381625"/>
            <a:ext cx="5381625" cy="381000"/>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a:pPr>
              <a:buNone/>
              <a:defRPr sz="2025" b="1">
                <a:solidFill>
                  <a:srgbClr val="1F4E79"/>
                </a:solidFill>
                <a:latin typeface="Arial"/>
                <a:ea typeface="Arial"/>
                <a:cs typeface="Arial"/>
              </a:defRPr>
            </a:pPr>
            <a:r>
              <a:rPr sz="2025" b="1">
                <a:solidFill>
                  <a:srgbClr val="1F4E79"/>
                </a:solidFill>
                <a:latin typeface="Arial"/>
                <a:ea typeface="Arial"/>
                <a:cs typeface="Arial"/>
              </a:rPr>
              <a:t>Edge F1: 0.857 to 0.875</a:t>
            </a:r>
          </a:p>
        </p:txBody>
      </p:sp>
      <p:sp>
        <p:nvSpPr>
          <p:cNvPr id="8" name="Прямоугольник 7">
            <a:extLst>
              <a:ext uri="{FF2B5EF4-FFF2-40B4-BE49-F238E27FC236}">
                <a16:creationId xmlns:a16="http://schemas.microsoft.com/office/drawing/2014/main" id="{7FF56B2D-7FE6-49FF-88FB-407FB6D8A59E}"/>
              </a:ext>
            </a:extLst>
          </p:cNvPr>
          <p:cNvSpPr>
            <a:spLocks noGrp="1"/>
          </p:cNvSpPr>
          <p:nvPr/>
        </p:nvSpPr>
        <p:spPr>
          <a:xfrm>
            <a:off x="6305550" y="5381625"/>
            <a:ext cx="5238750" cy="381000"/>
          </a:xfrm>
          <a:prstGeom prst="rect">
            <a:avLst/>
          </a:prstGeom>
          <a:noFill/>
          <a:ln w="0">
            <a:noFill/>
          </a:ln>
        </p:spPr>
        <p:txBody>
          <a:bodyPr lIns="0" tIns="0" rIns="0" bIns="0" anchor="t"/>
          <a:lstStyle>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a:pPr>
              <a:buNone/>
              <a:defRPr sz="2025" b="1">
                <a:solidFill>
                  <a:srgbClr val="1F4E79"/>
                </a:solidFill>
                <a:latin typeface="Arial"/>
                <a:ea typeface="Arial"/>
                <a:cs typeface="Arial"/>
              </a:defRPr>
            </a:pPr>
            <a:r>
              <a:rPr sz="2025" b="1">
                <a:solidFill>
                  <a:srgbClr val="1F4E79"/>
                </a:solidFill>
                <a:latin typeface="Arial"/>
                <a:ea typeface="Arial"/>
                <a:cs typeface="Arial"/>
              </a:rPr>
              <a:t>Both graphs remain incorrect</a:t>
            </a:r>
          </a:p>
        </p:txBody>
      </p:sp>
      <p:sp>
        <p:nvSpPr>
          <p:cNvPr id="9" name="Прямоугольник 8">
            <a:extLst>
              <a:ext uri="{FF2B5EF4-FFF2-40B4-BE49-F238E27FC236}">
                <a16:creationId xmlns:a16="http://schemas.microsoft.com/office/drawing/2014/main" id="{0A2C141C-EDC1-42BF-B774-72B72D51B988}"/>
              </a:ext>
            </a:extLst>
          </p:cNvPr>
          <p:cNvSpPr>
            <a:spLocks noGrp="1"/>
          </p:cNvSpPr>
          <p:nvPr/>
        </p:nvSpPr>
        <p:spPr>
          <a:xfrm>
            <a:off x="609600" y="5781675"/>
            <a:ext cx="10972800" cy="247650"/>
          </a:xfrm>
          <a:prstGeom prst="rect">
            <a:avLst/>
          </a:prstGeom>
          <a:noFill/>
          <a:ln w="0">
            <a:noFill/>
          </a:ln>
        </p:spPr>
        <p:txBody>
          <a:bodyPr lIns="0" tIns="0" rIns="0" bIns="0" anchor="t"/>
          <a:lstStyle>
            <a:defPPr>
              <a:defRPr sz="1575" b="0">
                <a:solidFill>
                  <a:srgbClr val="1F4E79"/>
                </a:solidFill>
                <a:latin typeface="Arial"/>
                <a:ea typeface="Arial"/>
                <a:cs typeface="Arial"/>
              </a:defRPr>
            </a:defPPr>
            <a:lvl1pPr>
              <a:buNone/>
              <a:defRPr sz="1575" b="0">
                <a:solidFill>
                  <a:srgbClr val="1F4E79"/>
                </a:solidFill>
                <a:latin typeface="Arial"/>
                <a:ea typeface="Arial"/>
                <a:cs typeface="Arial"/>
              </a:defRPr>
            </a:lvl1pPr>
            <a:lvl2pPr>
              <a:buNone/>
              <a:defRPr sz="1575" b="0">
                <a:solidFill>
                  <a:srgbClr val="1F4E79"/>
                </a:solidFill>
                <a:latin typeface="Arial"/>
                <a:ea typeface="Arial"/>
                <a:cs typeface="Arial"/>
              </a:defRPr>
            </a:lvl2pPr>
            <a:lvl3pPr>
              <a:buNone/>
              <a:defRPr sz="1575" b="0">
                <a:solidFill>
                  <a:srgbClr val="1F4E79"/>
                </a:solidFill>
                <a:latin typeface="Arial"/>
                <a:ea typeface="Arial"/>
                <a:cs typeface="Arial"/>
              </a:defRPr>
            </a:lvl3pPr>
            <a:lvl4pPr>
              <a:buNone/>
              <a:defRPr sz="1575" b="0">
                <a:solidFill>
                  <a:srgbClr val="1F4E79"/>
                </a:solidFill>
                <a:latin typeface="Arial"/>
                <a:ea typeface="Arial"/>
                <a:cs typeface="Arial"/>
              </a:defRPr>
            </a:lvl4pPr>
            <a:lvl5pPr>
              <a:buNone/>
              <a:defRPr sz="1575" b="0">
                <a:solidFill>
                  <a:srgbClr val="1F4E79"/>
                </a:solidFill>
                <a:latin typeface="Arial"/>
                <a:ea typeface="Arial"/>
                <a:cs typeface="Arial"/>
              </a:defRPr>
            </a:lvl5pPr>
            <a:lvl6pPr>
              <a:buNone/>
              <a:defRPr sz="1575" b="0">
                <a:solidFill>
                  <a:srgbClr val="1F4E79"/>
                </a:solidFill>
                <a:latin typeface="Arial"/>
                <a:ea typeface="Arial"/>
                <a:cs typeface="Arial"/>
              </a:defRPr>
            </a:lvl6pPr>
            <a:lvl7pPr>
              <a:buNone/>
              <a:defRPr sz="1575" b="0">
                <a:solidFill>
                  <a:srgbClr val="1F4E79"/>
                </a:solidFill>
                <a:latin typeface="Arial"/>
                <a:ea typeface="Arial"/>
                <a:cs typeface="Arial"/>
              </a:defRPr>
            </a:lvl7pPr>
            <a:lvl8pPr>
              <a:buNone/>
              <a:defRPr sz="1575" b="0">
                <a:solidFill>
                  <a:srgbClr val="1F4E79"/>
                </a:solidFill>
                <a:latin typeface="Arial"/>
                <a:ea typeface="Arial"/>
                <a:cs typeface="Arial"/>
              </a:defRPr>
            </a:lvl8pPr>
            <a:lvl9pPr>
              <a:buNone/>
              <a:defRPr sz="1575" b="0">
                <a:solidFill>
                  <a:srgbClr val="1F4E79"/>
                </a:solidFill>
                <a:latin typeface="Arial"/>
                <a:ea typeface="Arial"/>
                <a:cs typeface="Arial"/>
              </a:defRPr>
            </a:lvl9pPr>
          </a:lstStyle>
          <a:p>
            <a:pPr>
              <a:buNone/>
              <a:defRPr sz="1575" b="0">
                <a:solidFill>
                  <a:srgbClr val="1F4E79"/>
                </a:solidFill>
                <a:latin typeface="Arial"/>
                <a:ea typeface="Arial"/>
                <a:cs typeface="Arial"/>
              </a:defRPr>
            </a:pPr>
            <a:r>
              <a:rPr sz="1575" b="0">
                <a:solidFill>
                  <a:srgbClr val="1F4E79"/>
                </a:solidFill>
                <a:latin typeface="Arial"/>
                <a:ea typeface="Arial"/>
                <a:cs typeface="Arial"/>
              </a:rPr>
              <a:t>Submit application gains an exit and a wrong link to Request missing documents.</a:t>
            </a:r>
          </a:p>
        </p:txBody>
      </p:sp>
      <p:sp>
        <p:nvSpPr>
          <p:cNvPr id="10" name="Прямоугольник 9">
            <a:extLst>
              <a:ext uri="{FF2B5EF4-FFF2-40B4-BE49-F238E27FC236}">
                <a16:creationId xmlns:a16="http://schemas.microsoft.com/office/drawing/2014/main" id="{4725A0E9-1A20-42B1-85EA-4B639874F411}"/>
              </a:ext>
            </a:extLst>
          </p:cNvPr>
          <p:cNvSpPr>
            <a:spLocks noGrp="1"/>
          </p:cNvSpPr>
          <p:nvPr/>
        </p:nvSpPr>
        <p:spPr>
          <a:xfrm>
            <a:off x="609600" y="6419850"/>
            <a:ext cx="10972800" cy="219075"/>
          </a:xfrm>
          <a:prstGeom prst="rect">
            <a:avLst/>
          </a:prstGeom>
          <a:noFill/>
          <a:ln w="0">
            <a:noFill/>
          </a:ln>
        </p:spPr>
        <p:txBody>
          <a:bodyPr lIns="0" tIns="0" rIns="0" bIns="0" anchor="t"/>
          <a:lstStyle>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a:pPr>
              <a:buNone/>
              <a:defRPr sz="1275" b="0">
                <a:solidFill>
                  <a:srgbClr val="1F4E79"/>
                </a:solidFill>
                <a:latin typeface="Arial"/>
                <a:ea typeface="Arial"/>
                <a:cs typeface="Arial"/>
              </a:defRPr>
            </a:pPr>
            <a:r>
              <a:rPr sz="1275" b="0">
                <a:solidFill>
                  <a:srgbClr val="1F4E79"/>
                </a:solidFill>
                <a:latin typeface="Arial"/>
                <a:ea typeface="Arial"/>
                <a:cs typeface="Arial"/>
              </a:rPr>
              <a:t>Appendix C   Saved original CPU example   13</a:t>
            </a:r>
          </a:p>
        </p:txBody>
      </p:sp>
    </p:spTree>
    <p:extLst>
      <p:ext uri="{BB962C8B-B14F-4D97-AF65-F5344CB8AC3E}">
        <p14:creationId xmlns:p14="http://schemas.microsoft.com/office/powerpoint/2010/main" val="9343844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3020</Words>
  <Application>Microsoft Office PowerPoint</Application>
  <DocSecurity>0</DocSecurity>
  <PresentationFormat>Широкоэкранный</PresentationFormat>
  <Paragraphs>193</Paragraphs>
  <Slides>13</Slides>
  <Notes>13</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13</vt:i4>
      </vt:variant>
    </vt:vector>
  </HeadingPairs>
  <TitlesOfParts>
    <vt:vector size="16" baseType="lpstr">
      <vt:lpstr>Aptos</vt:lpstr>
      <vt:lpstr>Arial</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2</cp:revision>
  <dcterms:created xsi:type="dcterms:W3CDTF">2026-10-25T09:32:16Z</dcterms:created>
  <dcterms:modified xsi:type="dcterms:W3CDTF">2026-10-25T11:47:54Z</dcterms:modified>
</cp:coreProperties>
</file>