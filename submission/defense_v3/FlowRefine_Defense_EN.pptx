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ec6041d88b4096" /><Relationship Type="http://schemas.openxmlformats.org/officeDocument/2006/relationships/extended-properties" Target="/docProps/app.xml" Id="R2d8a070db8b9428a" /><Relationship Type="http://schemas.openxmlformats.org/officeDocument/2006/relationships/officeDocument" Target="/ppt/presentation.xml" Id="R9e350c94b00248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4f4327c5c441d5"/>
  </p:sldMasterIdLst>
  <p:notesMasterIdLst>
    <p:notesMasterId xmlns:r="http://schemas.openxmlformats.org/officeDocument/2006/relationships" r:id="R22c2b77e6aef44b2"/>
  </p:notesMasterIdLst>
  <p:sldIdLst>
    <p:sldId xmlns:r="http://schemas.openxmlformats.org/officeDocument/2006/relationships" id="256" r:id="R6a9b7802d9c34b20"/>
    <p:sldId xmlns:r="http://schemas.openxmlformats.org/officeDocument/2006/relationships" id="257" r:id="Rc6af6439cbbe4bef"/>
    <p:sldId xmlns:r="http://schemas.openxmlformats.org/officeDocument/2006/relationships" id="258" r:id="R56c130da7c6547ab"/>
    <p:sldId xmlns:r="http://schemas.openxmlformats.org/officeDocument/2006/relationships" id="259" r:id="R41f96ae580f54ac1"/>
    <p:sldId xmlns:r="http://schemas.openxmlformats.org/officeDocument/2006/relationships" id="260" r:id="Rd899c50e7f0a4e79"/>
    <p:sldId xmlns:r="http://schemas.openxmlformats.org/officeDocument/2006/relationships" id="261" r:id="R6b2aae288c2c44d7"/>
    <p:sldId xmlns:r="http://schemas.openxmlformats.org/officeDocument/2006/relationships" id="262" r:id="Raf2e9fc63ac14575"/>
    <p:sldId xmlns:r="http://schemas.openxmlformats.org/officeDocument/2006/relationships" id="263" r:id="R783f288081544946"/>
    <p:sldId xmlns:r="http://schemas.openxmlformats.org/officeDocument/2006/relationships" id="264" r:id="R3f59d931905040eb"/>
    <p:sldId xmlns:r="http://schemas.openxmlformats.org/officeDocument/2006/relationships" id="265" r:id="R4d48051b495b4ed2"/>
    <p:sldId xmlns:r="http://schemas.openxmlformats.org/officeDocument/2006/relationships" id="266" r:id="R049c7753ee204f68"/>
    <p:sldId xmlns:r="http://schemas.openxmlformats.org/officeDocument/2006/relationships" id="267" r:id="R939b6c39d97c4016"/>
    <p:sldId xmlns:r="http://schemas.openxmlformats.org/officeDocument/2006/relationships" id="268" r:id="Rfb854c07369745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442d5eae4443f8" /><Relationship Type="http://schemas.openxmlformats.org/officeDocument/2006/relationships/slideMaster" Target="/ppt/slideMasters/slideMaster1.xml" Id="R3a4f4327c5c441d5" /><Relationship Type="http://schemas.openxmlformats.org/officeDocument/2006/relationships/notesMaster" Target="/ppt/notesMasters/notesMaster1.xml" Id="R22c2b77e6aef44b2" /><Relationship Type="http://schemas.openxmlformats.org/officeDocument/2006/relationships/presProps" Target="/ppt/presProps.xml" Id="R12601e44569d4dc5" /><Relationship Type="http://schemas.openxmlformats.org/officeDocument/2006/relationships/tableStyles" Target="/ppt/tableStyles.xml" Id="Ra7d29b0e1fed4717" /><Relationship Type="http://schemas.openxmlformats.org/officeDocument/2006/relationships/slide" Target="/ppt/slides/slide1.xml" Id="R6a9b7802d9c34b20" /><Relationship Type="http://schemas.openxmlformats.org/officeDocument/2006/relationships/slide" Target="/ppt/slides/slide2.xml" Id="Rc6af6439cbbe4bef" /><Relationship Type="http://schemas.openxmlformats.org/officeDocument/2006/relationships/slide" Target="/ppt/slides/slide3.xml" Id="R56c130da7c6547ab" /><Relationship Type="http://schemas.openxmlformats.org/officeDocument/2006/relationships/slide" Target="/ppt/slides/slide4.xml" Id="R41f96ae580f54ac1" /><Relationship Type="http://schemas.openxmlformats.org/officeDocument/2006/relationships/slide" Target="/ppt/slides/slide5.xml" Id="Rd899c50e7f0a4e79" /><Relationship Type="http://schemas.openxmlformats.org/officeDocument/2006/relationships/slide" Target="/ppt/slides/slide6.xml" Id="R6b2aae288c2c44d7" /><Relationship Type="http://schemas.openxmlformats.org/officeDocument/2006/relationships/slide" Target="/ppt/slides/slide7.xml" Id="Raf2e9fc63ac14575" /><Relationship Type="http://schemas.openxmlformats.org/officeDocument/2006/relationships/slide" Target="/ppt/slides/slide8.xml" Id="R783f288081544946" /><Relationship Type="http://schemas.openxmlformats.org/officeDocument/2006/relationships/slide" Target="/ppt/slides/slide9.xml" Id="R3f59d931905040eb" /><Relationship Type="http://schemas.openxmlformats.org/officeDocument/2006/relationships/slide" Target="/ppt/slides/slide10.xml" Id="R4d48051b495b4ed2" /><Relationship Type="http://schemas.openxmlformats.org/officeDocument/2006/relationships/slide" Target="/ppt/slides/slide11.xml" Id="R049c7753ee204f68" /><Relationship Type="http://schemas.openxmlformats.org/officeDocument/2006/relationships/slide" Target="/ppt/slides/slide12.xml" Id="R939b6c39d97c4016" /><Relationship Type="http://schemas.openxmlformats.org/officeDocument/2006/relationships/slide" Target="/ppt/slides/slide13.xml" Id="Rfb854c07369745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1d02bed4934d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fc6ce1022249ca" /><Relationship Type="http://schemas.openxmlformats.org/officeDocument/2006/relationships/notesMaster" Target="/ppt/notesMasters/notesMaster1.xml" Id="R7eacbed0c5f747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8e34dcfeeb49cd" /><Relationship Type="http://schemas.openxmlformats.org/officeDocument/2006/relationships/notesMaster" Target="/ppt/notesMasters/notesMaster1.xml" Id="Ree38495aea5848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8819cefec14f47" /><Relationship Type="http://schemas.openxmlformats.org/officeDocument/2006/relationships/notesMaster" Target="/ppt/notesMasters/notesMaster1.xml" Id="Rb1c59168ac344c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8ffc965de458c" /><Relationship Type="http://schemas.openxmlformats.org/officeDocument/2006/relationships/notesMaster" Target="/ppt/notesMasters/notesMaster1.xml" Id="R5b9876a034244b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81e346d3ae41b4" /><Relationship Type="http://schemas.openxmlformats.org/officeDocument/2006/relationships/notesMaster" Target="/ppt/notesMasters/notesMaster1.xml" Id="R6cb03afc5bdf4f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7abcce46a446a8" /><Relationship Type="http://schemas.openxmlformats.org/officeDocument/2006/relationships/notesMaster" Target="/ppt/notesMasters/notesMaster1.xml" Id="R3512fd1beae74c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a4beebdb4e490e" /><Relationship Type="http://schemas.openxmlformats.org/officeDocument/2006/relationships/notesMaster" Target="/ppt/notesMasters/notesMaster1.xml" Id="Rb99766e01fd343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2355836a704276" /><Relationship Type="http://schemas.openxmlformats.org/officeDocument/2006/relationships/notesMaster" Target="/ppt/notesMasters/notesMaster1.xml" Id="R2ad36240fb2b4f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cbd9dcecbf4ebc" /><Relationship Type="http://schemas.openxmlformats.org/officeDocument/2006/relationships/notesMaster" Target="/ppt/notesMasters/notesMaster1.xml" Id="R663e52910f054f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f1106bd9574052" /><Relationship Type="http://schemas.openxmlformats.org/officeDocument/2006/relationships/notesMaster" Target="/ppt/notesMasters/notesMaster1.xml" Id="R602305601b034c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3a7863e9544ce6" /><Relationship Type="http://schemas.openxmlformats.org/officeDocument/2006/relationships/notesMaster" Target="/ppt/notesMasters/notesMaster1.xml" Id="R1a140afc75c346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0b927db41647f8" /><Relationship Type="http://schemas.openxmlformats.org/officeDocument/2006/relationships/notesMaster" Target="/ppt/notesMasters/notesMaster1.xml" Id="R33ef430e6aa042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3f49977f7a4c42" /><Relationship Type="http://schemas.openxmlformats.org/officeDocument/2006/relationships/notesMaster" Target="/ppt/notesMasters/notesMaster1.xml" Id="R89d5483599214d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Моя основная специальность — нефтегазовое дело. Поэтому мне интересны инструменты, которые помогают описывать производственные процессы: последовательность операций, проверки условий и действия при отклонениях. Такие описания удобно представлять в виде блок-схем.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выбрал эту тему, потому что хотел проверить, может ли локальная система по текстовому описанию построить редактируемую схему и затем проверить собственный результат. В перспективе такой инструмент мог бы помогать при подготовке рабочих материалов. В этом проекте я проверял базовый подход на простых синтетических процессах. Реальные нефтегазовые регламенты пока не использовались.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Generative AI final project   25 October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вопрос проекта: улучшает ли дополнительная проверка качество автоматически построенной блок-схемы?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Мне важно было получить структуру, которую можно изменять: узлы, их типы и направленные связи. Поэтому модель сначала формирует граф в JSON, а изображение строится уже из него. Это позволяет отдельно проверять содержание и визуальное представление.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Красивая схема может содержать неправильную стрелку или пропущенный этап. Поэтому основной критерий — соответствие графа заданному процессу. Мы сравниваем его с эталоном, а не оцениваем качество только по внешнему виду.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frozen protocol and original task descriptions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архитектуре несколько этапов. Текстовая языковая модель получает описание процесса и создаёт граф. Рендерер превращает граф в изображение. Далее возможны два источника замечаний: программные проверки структуры и визуально-языковая модель, которая рассматривает картинку вместе с исходным запросом.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Затем та же текстовая модель получает замечания и формирует исправленный граф. Для эксперимента я сравниваю четыре режима: B0 — исходная генерация, B1 — исправление по программным замечаниям, B2 — по визуальным, B3 — по обоим источникам.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даёт возможность проверить, приносит ли каждый дополнительный компонент реальную пользу. Само наличие критика ещё не означает, что итог станет лучше.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pipeline implementation and frozen_protocol.json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Первую конфигурацию я сознательно сделал компактной. Идея состояла в том, чтобы проверить потенциал локального запуска на обычном компьютере без мощной видеокарты. Это пилот в условиях ограниченного оборудования; полноценного исследования разных офисных компьютеров здесь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Текстовая модель — Qwen2.5 на три миллиарда параметров в четырёхбитном формате GGUF. Визуальный критик — SmolVLM на 256 миллионов параметров в восьмибитном формате.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Тестовая часть включает 15 синтетических задач: по пять линейных процессов, развилок и циклов. Полное совпадение показывает, сколько графов целиком соответствуют эталону. Edge F1 оценивает совпадение направленных связей. Такой протокол позволяет отличить работоспособность программы от правильности результата.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model manifests, dataset card, frozen 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Исходная генерация дала 11 полностью правильных схем из 15. После программной проверки итог также составил 11 из 15. Визуальная критика дала девять, а объединение двух источников — семь.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Таким образом, уже первый эксперимент не подтвердил предположение, что дополнительная критика обязательно улучшает схему. Средний Edge F1 тоже снижался: примерно с 0,957 у исходной генерации до 0,899 у комбинированного режима.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Возник естественный вопрос: возможно, слабым местом был слишком компактный визуальный критик? Чтобы проверить это направление, я провёл дополнительный эксперимент.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analysis/test_v1/aggregate.json, all 15 test tasks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втором эксперименте я заменил только визуальную модель: использовал Qwen2.5-VL на три миллиарда параметров в FP16 на RTX 3060 с 12 гигабайтами видеопамяти.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Текстовый генератор и редактор остались прежними. Также сохранились исходные графы, задания и порядок обработки. Вместе с визуальной моделью изменились её семейство, точность и обработка изображения. Поэтому это сравнение конфигураций критика, а не чистый эксперимент с числом параметров.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дополнительная проверка на тех же 15 задачах. Её следует рассматривать как исследовательское сравнение конфигураций, а не как независимое подтверждение на новой выборке.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gpu_vlm_v1 manifest and execution metadata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Более крупная визуальная модель не улучшила итог. В режиме B2 число полностью правильных схем снизилось с девяти до пяти. В B3 — с семи до пяти. Средний Edge F1 в обоих новых режимах оказался около 0,810.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 этом допустимыми по формату остались 14 схем из 15 в каждом режиме. Это ещё раз показывает, почему недостаточно проверить только валидность: граф может открываться и отображаться, но неверно передавать процесс.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Здесь измеряется результат всей цепочки «критика — исправление». Это не отдельная оценка всех способностей Qwen-VL.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test_v1 and gpu_vlm_v1 aggregate.json, same 15 saved tasks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этом примере видно, как появляется ухудшение. Исходная схема обработки посылки полностью соответствует заданию. В частности, в запросе явно указан начальный узел «Parcel workflow begins».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Однако новый критик предлагает удалить этот блок как избыточный. Это противоречит исходному требованию. После исправления в режиме B3 начальный блок действительно исчезает: вместо семи узлов остаётся шесть. Ранее правильный граф перестаёт полностью совпадать с эталоном.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То есть у нас есть конкретная наблюдаемая цепочка: ошибочное замечание, затем соответствующее изменение графа и ухудшение метрики. Она объясняет один случай регрессии. Но один пример не доказывает, что абсолютно все ошибки возникли по одной причине.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test_chain_01, saved B0, GPU visual critique and new 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бы разделил объяснение на наблюдаемые факты и гипотезы. По сохранённым ответам видно, что критик иногда предлагает изменения, которые нарушают явные требования. Редактор может перенести такие изменения в итоговую схему.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Вероятное объяснение состоит в том, что общие возможности более крупной модели не гарантируют точную проверку конкретного графа. Здесь нужно сверить каждый этап и каждую стрелку с запросом и уметь оставить правильную схему без изменений. Содержательно убедительное замечание может оказаться неверным.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Второе ограничение — сам редактор. Он остался прежним, а исправление выполняется через повторное создание всего графа. Поэтому возможны как перенос ошибочного совета, так и новые ошибки при переписывании. В одном из циклов критик верно указал пропущенную связь, но редактор её не восстановил.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этим данным нельзя доказать внутреннюю причину поведения модели или обвинить формат FP16. Можно обоснованно сказать: в данной конфигурации более крупный критик не обеспечил более надёжную цепочку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saved critic outputs, edited graphs and validity errors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результат проекта — работающий локальный прототип с редактируемым графом, воспроизводимым сравнением режимов и сохранением промежуточных результатов. Эксперимент также показал важное ограничение: автоматическое исправление способно повредить уже правильную схему, а простая замена критика на более крупную модель проблему не решила.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Поэтому следующим шагом я считаю контролируемое редактирование: сначала проверять обоснованность замечания, затем менять конкретные элементы и сохранять обязательные узлы и связи. Отдельно нужно оценивать качество критика и способность редактора выполнять верные рекомендации.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нефтегазового применения потребуются реальные примеры, проверка специалистами и более широкая оценка. Сейчас проект позволяет исследовать эти ограничения на небольшом понятном стенде и показывает, какие механизмы следует улучшать дальше.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conclusions and next experiment proposal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Справочный слайд для вопросов. Модели предобученные, обучение в проекте не выполнялось. Нефтегазовое применение служит мотивацией, эксперимент использует общие синтетические задачи.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Appendix A   Source files and official model cards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Удачный исходный результат: ветвление заказа. Покажите весь граф слева и увеличенный фрагмент справа. Yes ведёт к Reserve item, No к Request replenishment; обе ветви объединяются в Notify customer. Node F1=1, edge F1=1, exact=1; zero hard geometry errors. This is a selected success, not a representative estimate. No improvement claim.</a:t>
            </a:r>
          </a:p>
          <a:p xmlns:a="http://schemas.openxmlformats.org/drawingml/2006/main">
            <a:r>
              <a:t>Images are unmodified saved PNGs. PowerPoint cropping removes only the indicated margins/stages. No new inference or reference-guided editing.</a:t>
            </a:r>
          </a:p>
          <a:p xmlns:a="http://schemas.openxmlformats.org/drawingml/2006/main">
            <a:r>
              <a:t>Source: test_branch_01/B0/chart.png and scene.json. Enlarged branch detail at right.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Сложный цикл заявки: условие Application complete? должно отправлять No на Request missing documents с возвратом к Review application, а Yes на Submit application и далее к концу. B0 не содержит Submit to end и содержит лишний прямой выход из условия. B3 добавляет нужное Submit to end, но также неверное Submit to Request missing documents; прежний лишний выход остаётся. F1 0.857142857 to 0.875. Both graphs incorrect; geometry errors 1 to 1. Selected partial improvement, not a successful full correction. Crops omit initial start and Collect documents stages.</a:t>
            </a:r>
          </a:p>
          <a:p xmlns:a="http://schemas.openxmlformats.org/drawingml/2006/main">
            <a:r>
              <a:t>Images are unmodified saved PNGs. PowerPoint cropping removes only the indicated margins/stages. No new inference or reference-guided editing.</a:t>
            </a:r>
          </a:p>
          <a:p xmlns:a="http://schemas.openxmlformats.org/drawingml/2006/main">
            <a:r>
              <a:t>Source: test_loop_02/B0 and B3 chart.png. Detail: review, decision, loop and exit.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7d644f71e41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622eb7f6149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80d735c9844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2b1fcde2141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e1e94bc904f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289f89b064b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73484C-70DC-486A-997E-D2266E0BC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33F71D-BCE1-4924-BE98-F0C41BBCEA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B7A650-2EA4-4220-9187-6B631194A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CBDBDA-AA77-4BCD-9B20-2FEFF8016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7B2F37-9ADE-44C5-AC30-6714C045C8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ADB037-7A34-4021-9562-7C36DEACB4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124860-3BBF-414B-AC50-C30FA4154B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8B961F-9BE8-44A9-986D-6BF605B0B4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4964BF-7B08-4FCE-8CBA-F0C31781E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565FE8-E9DC-4A81-B5B8-CF9977968C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d7fbdc2fa947b2" /><Relationship Type="http://schemas.openxmlformats.org/officeDocument/2006/relationships/slideLayout" Target="/ppt/slideLayouts/slideLayout1.xml" Id="R76cfb9facd1d4f88" /><Relationship Type="http://schemas.openxmlformats.org/officeDocument/2006/relationships/slideLayout" Target="/ppt/slideLayouts/slideLayout2.xml" Id="R16873b557eae4c77" /><Relationship Type="http://schemas.openxmlformats.org/officeDocument/2006/relationships/slideLayout" Target="/ppt/slideLayouts/slideLayout3.xml" Id="Rb126bda75a854f5f" /><Relationship Type="http://schemas.openxmlformats.org/officeDocument/2006/relationships/slideLayout" Target="/ppt/slideLayouts/slideLayout4.xml" Id="Rdfe6b2e494d846af" /><Relationship Type="http://schemas.openxmlformats.org/officeDocument/2006/relationships/slideLayout" Target="/ppt/slideLayouts/slideLayout5.xml" Id="Re4a811e235804f0d" /><Relationship Type="http://schemas.openxmlformats.org/officeDocument/2006/relationships/slideLayout" Target="/ppt/slideLayouts/slideLayout6.xml" Id="R3d25a644133042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cfb9facd1d4f88"/>
    <p:sldLayoutId xmlns:r="http://schemas.openxmlformats.org/officeDocument/2006/relationships" id="2147483650" r:id="R16873b557eae4c77"/>
    <p:sldLayoutId xmlns:r="http://schemas.openxmlformats.org/officeDocument/2006/relationships" id="2147483651" r:id="Rb126bda75a854f5f"/>
    <p:sldLayoutId xmlns:r="http://schemas.openxmlformats.org/officeDocument/2006/relationships" id="2147483652" r:id="Rdfe6b2e494d846af"/>
    <p:sldLayoutId xmlns:r="http://schemas.openxmlformats.org/officeDocument/2006/relationships" id="2147483653" r:id="Re4a811e235804f0d"/>
    <p:sldLayoutId xmlns:r="http://schemas.openxmlformats.org/officeDocument/2006/relationships" id="2147483654" r:id="R3d25a644133042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8ee401c00f4a8c" /><Relationship Type="http://schemas.openxmlformats.org/officeDocument/2006/relationships/notesSlide" Target="/ppt/notesSlides/notesSlide1.xml" Id="R5481fe99671643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c15585033460e" /><Relationship Type="http://schemas.openxmlformats.org/officeDocument/2006/relationships/notesSlide" Target="/ppt/notesSlides/notesSlide2.xml" Id="R61efb00de9034d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8067c3e4245dd" /><Relationship Type="http://schemas.openxmlformats.org/officeDocument/2006/relationships/notesSlide" Target="/ppt/notesSlides/notesSlide3.xml" Id="Rc84638d3a2dd4d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a65f6f4414bad" /><Relationship Type="http://schemas.openxmlformats.org/officeDocument/2006/relationships/notesSlide" Target="/ppt/notesSlides/notesSlide4.xml" Id="Ra9439a62ab8646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750ec57bfa4b59" /><Relationship Type="http://schemas.openxmlformats.org/officeDocument/2006/relationships/chart" Target="/ppt/slides/charts/chart1.xml" Id="R8903c1631909451b" /><Relationship Type="http://schemas.openxmlformats.org/officeDocument/2006/relationships/notesSlide" Target="/ppt/notesSlides/notesSlide5.xml" Id="Rd46bf63a972049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93cdd78d84c6d" /><Relationship Type="http://schemas.openxmlformats.org/officeDocument/2006/relationships/notesSlide" Target="/ppt/notesSlides/notesSlide6.xml" Id="R1108321f998f41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f319b3a324ca9" /><Relationship Type="http://schemas.openxmlformats.org/officeDocument/2006/relationships/chart" Target="/ppt/slides/charts/chart2.xml" Id="R35cf1c4424204079" /><Relationship Type="http://schemas.openxmlformats.org/officeDocument/2006/relationships/notesSlide" Target="/ppt/notesSlides/notesSlide7.xml" Id="R3a520065d75645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85dc51865542e4" /><Relationship Type="http://schemas.openxmlformats.org/officeDocument/2006/relationships/image" Target="/ppt/media/image.png" Id="R8bb14e2fca0543f1" /><Relationship Type="http://schemas.openxmlformats.org/officeDocument/2006/relationships/image" Target="/ppt/media/image2.png" Id="R7ea84eba56a14ac7" /><Relationship Type="http://schemas.openxmlformats.org/officeDocument/2006/relationships/notesSlide" Target="/ppt/notesSlides/notesSlide8.xml" Id="Rb976b12035fe4c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0963306154459" /><Relationship Type="http://schemas.openxmlformats.org/officeDocument/2006/relationships/notesSlide" Target="/ppt/notesSlides/notesSlide9.xml" Id="R899152c1e1f448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d82d81be04bf2" /><Relationship Type="http://schemas.openxmlformats.org/officeDocument/2006/relationships/notesSlide" Target="/ppt/notesSlides/notesSlide10.xml" Id="R5c88d07932cc45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9ff0a85154574" /><Relationship Type="http://schemas.openxmlformats.org/officeDocument/2006/relationships/notesSlide" Target="/ppt/notesSlides/notesSlide11.xml" Id="Rfc67640cd0d743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45f4caa2a4d67" /><Relationship Type="http://schemas.openxmlformats.org/officeDocument/2006/relationships/image" Target="/ppt/media/image3.png" Id="R8d45ccebec304878" /><Relationship Type="http://schemas.openxmlformats.org/officeDocument/2006/relationships/image" Target="/ppt/media/image4.png" Id="R3286e8724a04444b" /><Relationship Type="http://schemas.openxmlformats.org/officeDocument/2006/relationships/notesSlide" Target="/ppt/notesSlides/notesSlide12.xml" Id="R83f08b04e5be4e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2cd9988764f08" /><Relationship Type="http://schemas.openxmlformats.org/officeDocument/2006/relationships/image" Target="/ppt/media/image5.png" Id="Re22b96c7aeaf4a24" /><Relationship Type="http://schemas.openxmlformats.org/officeDocument/2006/relationships/image" Target="/ppt/media/image6.png" Id="R386dd2b7b9474d29" /><Relationship Type="http://schemas.openxmlformats.org/officeDocument/2006/relationships/notesSlide" Target="/ppt/notesSlides/notesSlide13.xml" Id="R7479b60063a34d3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CPU experiment</c:v>
          </c:tx>
          <c:spPr>
            <a:solidFill xmlns:a="http://schemas.openxmlformats.org/drawingml/2006/main">
              <a:srgbClr val="2E75B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B0</c:v>
                </c:pt>
                <c:pt idx="1">
                  <c:v>B1</c:v>
                </c:pt>
                <c:pt idx="2">
                  <c:v>B2</c:v>
                </c:pt>
                <c:pt idx="3">
                  <c:v>B3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11</c:v>
                </c:pt>
                <c:pt idx="1">
                  <c:v>11</c:v>
                </c:pt>
                <c:pt idx="2">
                  <c:v>9</c:v>
                </c:pt>
                <c:pt idx="3">
                  <c:v>7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F4E7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SmolVLM-256M</c:v>
          </c:tx>
          <c:spPr>
            <a:solidFill xmlns:a="http://schemas.openxmlformats.org/drawingml/2006/main">
              <a:srgbClr val="1F4E79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B2 visual</c:v>
                </c:pt>
                <c:pt idx="1">
                  <c:v>B3 combined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9</c:v>
                </c:pt>
                <c:pt idx="1">
                  <c:v>7</c:v>
                </c:pt>
              </c:numCache>
            </c:numRef>
          </c:val>
        </c:ser>
        <c:ser>
          <c:idx val="1"/>
          <c:order val="1"/>
          <c:tx>
            <c:v>Qwen-VL-3B</c:v>
          </c:tx>
          <c:spPr>
            <a:solidFill xmlns:a="http://schemas.openxmlformats.org/drawingml/2006/main">
              <a:srgbClr val="2E75B6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B2 visual</c:v>
                </c:pt>
                <c:pt idx="1">
                  <c:v>B3 combined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F4E7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F4E7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91619-79C3-4055-9B63-D2FAD763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14B2E-D4C9-4495-B3A2-169834BD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Generative AI final project   25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57A27-B45B-45C3-8D09-4DF02E4D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D1E76-6B80-4AB5-95FB-E86F02F3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Local generation and verification</a:t>
            </a:r>
          </a:p>
          <a:p xmlns:a="http://schemas.openxmlformats.org/drawingml/2006/main">
            <a:pPr>
              <a:defRPr sz="36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of editable process flowcharts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33A29-3EE9-48F2-8029-9FC8EEF6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Motivation: process documentation</a:t>
            </a:r>
          </a:p>
          <a:p xmlns:a="http://schemas.openxmlformats.org/drawingml/2006/main">
            <a:pPr>
              <a:defRPr sz="24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in my oil and gas engineering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3CD5B-4454-4547-9B5B-4A89096D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General synthetic tasks, with CPU and GPU experiments</a:t>
            </a:r>
          </a:p>
        </p:txBody>
      </p:sp>
    </p:spTree>
    <p:extLst>
      <p:ext uri="{BB962C8B-B14F-4D97-AF65-F5344CB8AC3E}">
        <p14:creationId xmlns:p14="http://schemas.microsoft.com/office/powerpoint/2010/main" val="2074224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5A48B-1C24-4F33-806E-ADFBA405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Can feedback improve a generated flowchart?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5584A-D3EC-43A2-8F02-DEB7DF1A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Sources: frozen protocol and original task descriptions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4DFE3-0E22-4211-AA2C-C126E9C1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8B1B3-84F1-440C-AB49-D74929CF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Editable 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7290B-E2CB-4244-84A1-7FC04DB2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Nodes: steps and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BEE22-8DF4-4A67-B6E8-7398B235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Directed edges: process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1BD46-D1CA-421D-93C6-9E5FD8E7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JSON scene rendered as SVG / PNG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75B16-E0ED-4C2A-B6AD-566FE02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Evaluation after one edit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EEF8F-1B8B-49C4-A398-64DDE1E9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Exact graph 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205E9-4C73-45A9-BF60-466269DB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Node F1 and edge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54580-2BDA-45D2-B40B-B49BDE2B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Separate geometry checks</a:t>
            </a:r>
          </a:p>
        </p:txBody>
      </p:sp>
    </p:spTree>
    <p:extLst>
      <p:ext uri="{BB962C8B-B14F-4D97-AF65-F5344CB8AC3E}">
        <p14:creationId xmlns:p14="http://schemas.microsoft.com/office/powerpoint/2010/main" val="15649868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A4FDD-3665-4413-AB7C-88C45C90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architecture separates generation and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9B0D7-9B26-47C0-9CD3-0759BB11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Source: pipeline implementation and frozen_protocol.json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28CFA-0726-46B7-8A44-70AC44DB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5B1B3-A9ED-40C3-BF74-ED4CC7D4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4E7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4E79"/>
                </a:solidFill>
                <a:latin typeface="Arial"/>
                <a:ea typeface="Arial"/>
                <a:cs typeface="Arial"/>
              </a:rPr>
              <a:t>Process description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EFDF2-8E3F-48FE-8DB1-24242010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4E7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4E79"/>
                </a:solidFill>
                <a:latin typeface="Arial"/>
                <a:ea typeface="Arial"/>
                <a:cs typeface="Arial"/>
              </a:rPr>
              <a:t>Text model</a:t>
            </a:r>
          </a:p>
          <a:p xmlns:a="http://schemas.openxmlformats.org/drawingml/2006/main">
            <a: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4E79"/>
                </a:solidFill>
                <a:latin typeface="Arial"/>
                <a:ea typeface="Arial"/>
                <a:cs typeface="Arial"/>
              </a:rPr>
              <a:t>JSON graph B0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991AB-34D8-48DB-AC3B-393DB4CE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4E7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4E79"/>
                </a:solidFill>
                <a:latin typeface="Arial"/>
                <a:ea typeface="Arial"/>
                <a:cs typeface="Arial"/>
              </a:rPr>
              <a:t>Renderer</a:t>
            </a:r>
          </a:p>
          <a:p xmlns:a="http://schemas.openxmlformats.org/drawingml/2006/main">
            <a: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4E79"/>
                </a:solidFill>
                <a:latin typeface="Arial"/>
                <a:ea typeface="Arial"/>
                <a:cs typeface="Arial"/>
              </a:rPr>
              <a:t>SVG and PNG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ECBB1-7137-4E99-9DE3-3C95EAC4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4E7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4E79"/>
                </a:solidFill>
                <a:latin typeface="Arial"/>
                <a:ea typeface="Arial"/>
                <a:cs typeface="Arial"/>
              </a:rPr>
              <a:t>Programmatic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04760-F563-48A2-ABD6-C8A5CF2D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4E7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4E79"/>
                </a:solidFill>
                <a:latin typeface="Arial"/>
                <a:ea typeface="Arial"/>
                <a:cs typeface="Arial"/>
              </a:rPr>
              <a:t>Visual critic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8D85D-D108-4006-B82B-20A21C74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8137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4E7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4E79"/>
                </a:solidFill>
                <a:latin typeface="Arial"/>
                <a:ea typeface="Arial"/>
                <a:cs typeface="Arial"/>
              </a:rPr>
              <a:t>Text editor</a:t>
            </a:r>
          </a:p>
          <a:p xmlns:a="http://schemas.openxmlformats.org/drawingml/2006/main">
            <a: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4E79"/>
                </a:solidFill>
                <a:latin typeface="Arial"/>
                <a:ea typeface="Arial"/>
                <a:cs typeface="Arial"/>
              </a:rPr>
              <a:t>one correction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F2239-2C2C-4948-93BF-2274A36F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4E7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4E79"/>
                </a:solidFill>
                <a:latin typeface="Arial"/>
                <a:ea typeface="Arial"/>
                <a:cs typeface="Arial"/>
              </a:rPr>
              <a:t>Saved graph and metrics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50862-66EC-4053-998E-7F7A0A2DDD89}"/>
              </a:ext>
            </a:extLst>
          </p:cNvPr>
          <p:cNvCxnSpPr/>
          <p:nvPr/>
        </p:nvCxnSpPr>
        <p:spPr>
          <a:xfrm xmlns:a="http://schemas.openxmlformats.org/drawingml/2006/main">
            <a:off x="3752850" y="2190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3A224-1F3E-4B0C-8A03-1E696978A752}"/>
              </a:ext>
            </a:extLst>
          </p:cNvPr>
          <p:cNvCxnSpPr/>
          <p:nvPr/>
        </p:nvCxnSpPr>
        <p:spPr>
          <a:xfrm xmlns:a="http://schemas.openxmlformats.org/drawingml/2006/main">
            <a:off x="7620000" y="2190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E70DC-FC2E-41F3-A5EB-A7DBDE7CB495}"/>
              </a:ext>
            </a:extLst>
          </p:cNvPr>
          <p:cNvCxnSpPr/>
          <p:nvPr/>
        </p:nvCxnSpPr>
        <p:spPr>
          <a:xfrm xmlns:a="http://schemas.openxmlformats.org/drawingml/2006/main">
            <a:off x="4000500" y="25431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head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2A35D-427A-45D3-BD3D-73D8CFA567EB}"/>
              </a:ext>
            </a:extLst>
          </p:cNvPr>
          <p:cNvCxnSpPr/>
          <p:nvPr/>
        </p:nvCxnSpPr>
        <p:spPr>
          <a:xfrm xmlns:a="http://schemas.openxmlformats.org/drawingml/2006/main">
            <a:off x="4000500" y="254317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0D296-7D02-4B5F-A833-561CB63044C6}"/>
              </a:ext>
            </a:extLst>
          </p:cNvPr>
          <p:cNvCxnSpPr/>
          <p:nvPr/>
        </p:nvCxnSpPr>
        <p:spPr>
          <a:xfrm xmlns:a="http://schemas.openxmlformats.org/drawingml/2006/main">
            <a:off x="2181225" y="3019425"/>
            <a:ext cx="1819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head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7EF25-065C-4D65-8EDB-49E23A332481}"/>
              </a:ext>
            </a:extLst>
          </p:cNvPr>
          <p:cNvCxnSpPr/>
          <p:nvPr/>
        </p:nvCxnSpPr>
        <p:spPr>
          <a:xfrm xmlns:a="http://schemas.openxmlformats.org/drawingml/2006/main">
            <a:off x="2181225" y="301942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601D0-E567-4CB3-B973-A7CFBC53EB7A}"/>
              </a:ext>
            </a:extLst>
          </p:cNvPr>
          <p:cNvCxnSpPr/>
          <p:nvPr/>
        </p:nvCxnSpPr>
        <p:spPr>
          <a:xfrm xmlns:a="http://schemas.openxmlformats.org/drawingml/2006/main">
            <a:off x="9858375" y="26670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B79A9-205B-48F5-812C-7A2D7AE19B7F}"/>
              </a:ext>
            </a:extLst>
          </p:cNvPr>
          <p:cNvCxnSpPr/>
          <p:nvPr/>
        </p:nvCxnSpPr>
        <p:spPr>
          <a:xfrm xmlns:a="http://schemas.openxmlformats.org/drawingml/2006/main">
            <a:off x="6048375" y="2981325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head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93764-F164-405F-99E5-113E05DC3976}"/>
              </a:ext>
            </a:extLst>
          </p:cNvPr>
          <p:cNvCxnSpPr/>
          <p:nvPr/>
        </p:nvCxnSpPr>
        <p:spPr>
          <a:xfrm xmlns:a="http://schemas.openxmlformats.org/drawingml/2006/main">
            <a:off x="6048375" y="298132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85566-742E-42C1-AEA8-00791A9514B1}"/>
              </a:ext>
            </a:extLst>
          </p:cNvPr>
          <p:cNvCxnSpPr/>
          <p:nvPr/>
        </p:nvCxnSpPr>
        <p:spPr>
          <a:xfrm xmlns:a="http://schemas.openxmlformats.org/drawingml/2006/main">
            <a:off x="2181225" y="414337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E9526-8923-470A-B705-6780D07DB10A}"/>
              </a:ext>
            </a:extLst>
          </p:cNvPr>
          <p:cNvCxnSpPr/>
          <p:nvPr/>
        </p:nvCxnSpPr>
        <p:spPr>
          <a:xfrm xmlns:a="http://schemas.openxmlformats.org/drawingml/2006/main">
            <a:off x="2181225" y="4562475"/>
            <a:ext cx="5915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D6D19-7937-4602-A601-217019A65AB9}"/>
              </a:ext>
            </a:extLst>
          </p:cNvPr>
          <p:cNvCxnSpPr/>
          <p:nvPr/>
        </p:nvCxnSpPr>
        <p:spPr>
          <a:xfrm xmlns:a="http://schemas.openxmlformats.org/drawingml/2006/main">
            <a:off x="8096250" y="3762375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head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20F4F-0802-4F42-8F81-8616E3A4C596}"/>
              </a:ext>
            </a:extLst>
          </p:cNvPr>
          <p:cNvCxnSpPr/>
          <p:nvPr/>
        </p:nvCxnSpPr>
        <p:spPr>
          <a:xfrm xmlns:a="http://schemas.openxmlformats.org/drawingml/2006/main">
            <a:off x="8096250" y="3762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CBE21-A54B-4DB4-B151-4698F28360D3}"/>
              </a:ext>
            </a:extLst>
          </p:cNvPr>
          <p:cNvCxnSpPr/>
          <p:nvPr/>
        </p:nvCxnSpPr>
        <p:spPr>
          <a:xfrm xmlns:a="http://schemas.openxmlformats.org/drawingml/2006/main">
            <a:off x="7620000" y="376237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795828-3FF9-4FEE-B134-3E9994A179DA}"/>
              </a:ext>
            </a:extLst>
          </p:cNvPr>
          <p:cNvCxnSpPr/>
          <p:nvPr/>
        </p:nvCxnSpPr>
        <p:spPr>
          <a:xfrm xmlns:a="http://schemas.openxmlformats.org/drawingml/2006/main">
            <a:off x="9906000" y="414337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D209B8-FE97-493D-B6FA-40721A2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B1: checks     B2: visual critique     B3: both</a:t>
            </a:r>
          </a:p>
        </p:txBody>
      </p:sp>
    </p:spTree>
    <p:extLst>
      <p:ext uri="{BB962C8B-B14F-4D97-AF65-F5344CB8AC3E}">
        <p14:creationId xmlns:p14="http://schemas.microsoft.com/office/powerpoint/2010/main" val="929737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D14A8-A45C-4C69-B33F-5B07A443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Compact models test local execution on a CPU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2044C-DC81-4168-8A40-F3A9A69A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Sources: model manifests, dataset card, frozen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AA628-7103-4250-A14D-CE04907E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2113E-E02C-4919-B8FE-865FF6877CB3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5375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34250"/>
              </a:tblGrid>
              <a:tr h="701040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Role / 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Original CPU configuration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Generator and editor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Qwen2.5-3B-Instruct, Q4_K_M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Visual critic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SmolVLM-256M-Instruct, Q8_0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5 development + 15 synthetic test tasks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Same saved B0, one correction round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32DBC-03F9-48AC-9308-B356425B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Office-PC feasibility was the motivation. No hardware-wide benchmark.</a:t>
            </a:r>
          </a:p>
        </p:txBody>
      </p:sp>
    </p:spTree>
    <p:extLst>
      <p:ext uri="{BB962C8B-B14F-4D97-AF65-F5344CB8AC3E}">
        <p14:creationId xmlns:p14="http://schemas.microsoft.com/office/powerpoint/2010/main" val="290337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9EE1C-BD6B-40C3-B5F1-473BF68C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original feedback modes reduce exact correctness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24819-3C69-4042-A596-1DAEDB2E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Source: analysis/test_v1/aggregate.json, all 15 test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A73BF-24AD-4ACA-8BBC-9B267914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DEFF2-A836-4685-ACCE-CC7A94A5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14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Exactly correct graphs out of 15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A29C2E3-68B5-4B09-A4E2-44BFEA623CDC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143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03c1631909451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C39AB-F45D-460D-87C8-36D50588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28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B0  Initial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38D99-21DF-4F48-A5A9-277B750C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328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B1 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5DB90-4304-4E90-A7D7-8D11FA5F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328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B2  Visual critique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24D43-B982-4E12-B275-DE323F33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28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B3  Both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0CA06-4DBB-4824-8FD8-F76B139D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62525"/>
            <a:ext cx="328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No edit fixes an incorrect B0 to exact correctness</a:t>
            </a:r>
          </a:p>
        </p:txBody>
      </p:sp>
    </p:spTree>
    <p:extLst>
      <p:ext uri="{BB962C8B-B14F-4D97-AF65-F5344CB8AC3E}">
        <p14:creationId xmlns:p14="http://schemas.microsoft.com/office/powerpoint/2010/main" val="1101074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97452-4E2A-4074-9314-2AAB56AF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GPU experiment replaces the visual critic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16ED0-A6FF-49C3-B231-6731B00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Sources: gpu_vlm_v1 manifest and execution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C96D0-2ABA-4DAC-A253-6861B122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995B-769D-4EFA-AE85-C2516827DF36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53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34250"/>
              </a:tblGrid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GPU comparison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Visual critic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Qwen2.5-VL-3B-Instruct, FP16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Hardware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RTX 3060, 12 GB VRAM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Measured peak allocation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7.33 GiB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Reused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Same B0 / B1, text editor and 15 tasks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161AB-6691-47C7-B3CE-118C891F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Exploratory rerun after viewing the original test results</a:t>
            </a:r>
          </a:p>
        </p:txBody>
      </p:sp>
    </p:spTree>
    <p:extLst>
      <p:ext uri="{BB962C8B-B14F-4D97-AF65-F5344CB8AC3E}">
        <p14:creationId xmlns:p14="http://schemas.microsoft.com/office/powerpoint/2010/main" val="740367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DA362-9FEC-48EC-8D62-3866A53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larger critic lowers downstream graph scores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323AD-E297-4C72-8369-34E685A6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Sources: test_v1 and gpu_vlm_v1 aggregate.json, same 15 saved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2AE5A-4DA8-480A-8CC4-D029212A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8AAF1-48E9-43DE-9322-9060939B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14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Exactly correct graphs out of 15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6DA0B46-A5AC-4083-A483-40B5B61D3D33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143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cf1c442420407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206F8-E00E-4418-94AE-559A44AD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Mean edge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65D4F-9636-46AE-AFA2-86073F0D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05075"/>
            <a:ext cx="328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B2   0.912 to 0.810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28B28-B5C6-4C5E-83B5-E9A72351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24225"/>
            <a:ext cx="328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B3   0.899 to 0.810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E17C5-8DF9-4E93-85CA-070459B8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43375"/>
            <a:ext cx="328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New invalid: 1/15 each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E49C3-DFAD-4181-B71A-B04EC7FD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00625"/>
            <a:ext cx="328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System outcome, including the unchanged text editor</a:t>
            </a:r>
          </a:p>
        </p:txBody>
      </p:sp>
    </p:spTree>
    <p:extLst>
      <p:ext uri="{BB962C8B-B14F-4D97-AF65-F5344CB8AC3E}">
        <p14:creationId xmlns:p14="http://schemas.microsoft.com/office/powerpoint/2010/main" val="1852500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A581B-552B-4D17-9051-74B408AD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False criticism removes a required start node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719FA-29A8-4526-A5C2-E087822F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Source: test_chain_01, saved B0, GPU visual critique and new B3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F34EA-A356-4924-970E-F9B81E6C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FE8E6-3CE3-427E-A7FB-F371A15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B0: required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F8003-5BF9-4C67-A5FE-7695115E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859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New B3: start removed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540EB-80A6-4273-AFA1-36D707E7D7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14e2fca0543f1"/>
          <a:srcRect xmlns:a="http://schemas.openxmlformats.org/drawingml/2006/main" l="31646" t="694" r="30380" b="78472"/>
          <a:stretch xmlns:a="http://schemas.openxmlformats.org/drawingml/2006/main"/>
        </p:blipFill>
        <p:spPr>
          <a:xfrm xmlns:a="http://schemas.openxmlformats.org/drawingml/2006/main">
            <a:off x="609600" y="1976438"/>
            <a:ext cx="3238500" cy="32385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E753E-AB02-4E8B-B3B8-5B7038C466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84eba56a14ac7"/>
          <a:srcRect xmlns:a="http://schemas.openxmlformats.org/drawingml/2006/main" l="31646" t="694" r="30380" b="78472"/>
          <a:stretch xmlns:a="http://schemas.openxmlformats.org/drawingml/2006/main"/>
        </p:blipFill>
        <p:spPr>
          <a:xfrm xmlns:a="http://schemas.openxmlformats.org/drawingml/2006/main">
            <a:off x="4495800" y="1976438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C77A4-653B-4D33-A176-0790B85E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Saved critic instruction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C9B14-3810-40DA-98D1-D1E669C4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43737"/>
                </a:solidFill>
                <a:latin typeface="Arial"/>
                <a:ea typeface="Arial"/>
                <a:cs typeface="Arial"/>
              </a:rPr>
              <a:t>“Remove the</a:t>
            </a:r>
          </a:p>
          <a:p xmlns:a="http://schemas.openxmlformats.org/drawingml/2006/main">
            <a: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43737"/>
                </a:solidFill>
                <a:latin typeface="Arial"/>
                <a:ea typeface="Arial"/>
                <a:cs typeface="Arial"/>
              </a:rPr>
              <a:t>"Parcel workflow begins"</a:t>
            </a:r>
          </a:p>
          <a:p xmlns:a="http://schemas.openxmlformats.org/drawingml/2006/main">
            <a:pPr>
              <a:defRPr sz="1950" b="0">
                <a:solidFill>
                  <a:srgbClr val="C437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43737"/>
                </a:solidFill>
                <a:latin typeface="Arial"/>
                <a:ea typeface="Arial"/>
                <a:cs typeface="Arial"/>
              </a:rPr>
              <a:t>box as it is redundant.”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CAC63-A807-4797-88A9-B9F8E63E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672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Exact: yes to no</a:t>
            </a:r>
          </a:p>
          <a:p xmlns:a="http://schemas.openxmlformats.org/drawingml/2006/main">
            <a:pPr>
              <a:defRPr sz="19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Edge F1: 1.000 to 0.909</a:t>
            </a:r>
          </a:p>
        </p:txBody>
      </p:sp>
    </p:spTree>
    <p:extLst>
      <p:ext uri="{BB962C8B-B14F-4D97-AF65-F5344CB8AC3E}">
        <p14:creationId xmlns:p14="http://schemas.microsoft.com/office/powerpoint/2010/main" val="119137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9EE0C-6809-4081-84EE-49381410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evidence points to unreliable feedback and editing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9B368-DA1B-4EF4-991D-834BCB1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Sources: saved critic outputs, edited graphs and validity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C050F-E407-4A62-A8E8-F7D4ED16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E9233-FD50-4E93-AD25-9C516BDB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3D700-5006-4B6E-B72A-D78DEAE0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False instruction in a saved critique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8F052-4623-4B1A-80BA-EAAC890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Corresponding deletion in the edit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CF9F6-E677-46D0-8383-78F5645E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A valid loop fix remains unexecuted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B2AF1-60DE-42CB-A54B-75A8DFF4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Plausible explanations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DB3D9-C26E-41FA-8017-D5F5D1E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05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General VLM lacks graph calibration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C2458-F087-4828-8724-FA37B13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905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Full-graph rewriting permits regressions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66363-C904-4CFD-9931-1EE6C499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4905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same small editor may limit gains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4D4DB-0926-4460-AE07-A5D738F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One rerun cannot isolate these mechanisms or rank model families</a:t>
            </a:r>
          </a:p>
        </p:txBody>
      </p:sp>
    </p:spTree>
    <p:extLst>
      <p:ext uri="{BB962C8B-B14F-4D97-AF65-F5344CB8AC3E}">
        <p14:creationId xmlns:p14="http://schemas.microsoft.com/office/powerpoint/2010/main" val="436530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6FF09-1A30-427F-9EE6-6FE75CC3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Local execution works, while correction remains unreliable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10E25-D424-4290-82C7-F9AC747F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Project conclusions and next experiment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04C87-DC04-4AF5-A330-1983566C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45B25-6F29-4542-B45D-08053E08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Local editable flowchart generation is feasible.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D328B-BFE2-4CCE-9D8D-A4917C35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A larger critic alone did not improve this pipeline.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E383B-FE79-4E32-9F27-8522A1C5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Next: verify critiques and constrain accepted edits.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89C03-621C-4417-A4F4-F1E22490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New held-out tasks and repeated runs remain necessary.</a:t>
            </a:r>
          </a:p>
        </p:txBody>
      </p:sp>
    </p:spTree>
    <p:extLst>
      <p:ext uri="{BB962C8B-B14F-4D97-AF65-F5344CB8AC3E}">
        <p14:creationId xmlns:p14="http://schemas.microsoft.com/office/powerpoint/2010/main" val="396319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9F43B-C13B-45EC-84C4-A1479360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References and experiment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F1A7F-4CC7-48C2-8450-BDDEF3AD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Appendix A   Source files and official model cards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779E3-0604-4353-8257-2CE05094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FlowRefine   CPU pilot and exploratory GPU comparison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88969-DCE8-4EBB-968D-11D9F001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Qwen2.5-3B-Instruct-GGUF: huggingface.co/Qwen/Qwen2.5-3B-Instruct-GGUF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61A9A-BFC6-4C16-9DA3-4C1046E1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SmolVLM: huggingface.co/ggml-org/SmolVLM-256M-Instruct-GGUF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18DA2-D8E0-4D69-B19F-2831B7A2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Qwen2.5-VL-3B: huggingface.co/Qwen/Qwen2.5-VL-3B-Instruct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85634-BBD0-4A41-8A9B-7C2C508A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Original results: runs/test_v1 and analysis/test_v1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A98A4-8BE0-4079-8A0C-197FCFF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GPU results: snapshots/gpu_return_20261025_121148/contents/runs/gpu_vlm_v1</a:t>
            </a:r>
          </a:p>
        </p:txBody>
      </p:sp>
    </p:spTree>
    <p:extLst>
      <p:ext uri="{BB962C8B-B14F-4D97-AF65-F5344CB8AC3E}">
        <p14:creationId xmlns:p14="http://schemas.microsoft.com/office/powerpoint/2010/main" val="9343844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62F85-AA9E-4DD8-ADE0-43267B76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 generated branching process matches the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2EEE1-92A3-442D-8882-721A9C3A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Source: test_branch_01/B0/chart.png and scene.json. Enlarged branch detail at right.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6D7F9-56DE-46BF-87FD-C571286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B0: complete saved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6F8F4-5760-4F64-BA32-82C63456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28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Decision and merge, enlarged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E2230-0997-41EB-AF7E-B6A235957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5ccebec304878"/>
          <a:srcRect xmlns:a="http://schemas.openxmlformats.org/drawingml/2006/main" l="0" t="694" r="0" b="32292"/>
          <a:stretch xmlns:a="http://schemas.openxmlformats.org/drawingml/2006/main"/>
        </p:blipFill>
        <p:spPr>
          <a:xfrm xmlns:a="http://schemas.openxmlformats.org/drawingml/2006/main">
            <a:off x="916078" y="1809750"/>
            <a:ext cx="3197044" cy="3905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12DC8-8103-4F77-A53D-C11EB034F8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6e8724a04444b"/>
          <a:srcRect xmlns:a="http://schemas.openxmlformats.org/drawingml/2006/main" l="0" t="24306" r="0" b="44444"/>
          <a:stretch xmlns:a="http://schemas.openxmlformats.org/drawingml/2006/main"/>
        </p:blipFill>
        <p:spPr>
          <a:xfrm xmlns:a="http://schemas.openxmlformats.org/drawingml/2006/main">
            <a:off x="5139796" y="1809750"/>
            <a:ext cx="6103408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0BD96-03AB-4642-B61F-18B1AB2A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816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Edge F1 1.000    Exact 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771DD-4095-43D5-AF7C-3EC262FA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Appendix B   Saved original CPU example   12</a:t>
            </a:r>
          </a:p>
        </p:txBody>
      </p:sp>
    </p:spTree>
    <p:extLst>
      <p:ext uri="{BB962C8B-B14F-4D97-AF65-F5344CB8AC3E}">
        <p14:creationId xmlns:p14="http://schemas.microsoft.com/office/powerpoint/2010/main" val="2903373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A9664-A60E-4966-8EE8-3D9B8319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 loop edit improves edge F1 but stays incorrect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E1F17-8714-4D01-9CB4-67AB8CC8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Source: test_loop_02/B0 and B3 chart.png. Detail: review, decision, loop and exit.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40E65-32B7-453E-A64C-E166E82E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B0: initial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A7881-FE63-415D-BC1A-595DA57D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382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B3: combined feedback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BECFB-80AB-4D92-8E9C-C42361AC73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b96c7aeaf4a24"/>
          <a:srcRect xmlns:a="http://schemas.openxmlformats.org/drawingml/2006/main" l="0" t="24306" r="0" b="32292"/>
          <a:stretch xmlns:a="http://schemas.openxmlformats.org/drawingml/2006/main"/>
        </p:blipFill>
        <p:spPr>
          <a:xfrm xmlns:a="http://schemas.openxmlformats.org/drawingml/2006/main">
            <a:off x="1038035" y="1838325"/>
            <a:ext cx="4334256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CC26F-3D31-4D15-9F67-5C590058F2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dd2b7b9474d29"/>
          <a:srcRect xmlns:a="http://schemas.openxmlformats.org/drawingml/2006/main" l="0" t="24306" r="0" b="32292"/>
          <a:stretch xmlns:a="http://schemas.openxmlformats.org/drawingml/2006/main"/>
        </p:blipFill>
        <p:spPr>
          <a:xfrm xmlns:a="http://schemas.openxmlformats.org/drawingml/2006/main">
            <a:off x="6733985" y="1838325"/>
            <a:ext cx="4334256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4D479-0C58-4A6F-A08C-DEBF7811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Edge F1: 0.857 to 0.875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56B2D-7FE6-49FF-88FB-407FB6D8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816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Both graphs remain incorrect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C141C-EDC1-42BF-B774-72B72D51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Submit application gains an exit and a wrong link to Request missing documents.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5A0E9-1A20-42B1-85EA-4B639874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Appendix C   Saved original CPU example   13</a:t>
            </a:r>
            <a:r>
              <a:rPr sz="1275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34384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2026-10-25T09:30:38.5620000Z</dcterms:created>
  <dcterms:modified xsi:type="dcterms:W3CDTF">2026-10-25T09:30:38.5620000Z</dcterms:modified>
</coreProperties>
</file>