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f42e3b34f840a1" /><Relationship Type="http://schemas.openxmlformats.org/officeDocument/2006/relationships/extended-properties" Target="/docProps/app.xml" Id="R0f666183a83f4225" /><Relationship Type="http://schemas.openxmlformats.org/officeDocument/2006/relationships/officeDocument" Target="/ppt/presentation.xml" Id="R3f600fd8f29c4d79" /></Relationships>
</file>

<file path=ppt/presentation.xml><?xml version="1.0" encoding="utf-8"?>
<p:presentation xmlns:p="http://schemas.openxmlformats.org/presentationml/2006/main">
  <p:sldMasterIdLst>
    <p:sldMasterId xmlns:r="http://schemas.openxmlformats.org/officeDocument/2006/relationships" id="2147483648" r:id="R872ad870483d4aef"/>
  </p:sldMasterIdLst>
  <p:notesMasterIdLst>
    <p:notesMasterId xmlns:r="http://schemas.openxmlformats.org/officeDocument/2006/relationships" r:id="Rca765829831e431f"/>
  </p:notesMasterIdLst>
  <p:sldIdLst>
    <p:sldId xmlns:r="http://schemas.openxmlformats.org/officeDocument/2006/relationships" id="256" r:id="R0515398c9c254092"/>
    <p:sldId xmlns:r="http://schemas.openxmlformats.org/officeDocument/2006/relationships" id="257" r:id="R22b2b5cd85ea4546"/>
    <p:sldId xmlns:r="http://schemas.openxmlformats.org/officeDocument/2006/relationships" id="258" r:id="R2daafc0d0f954606"/>
    <p:sldId xmlns:r="http://schemas.openxmlformats.org/officeDocument/2006/relationships" id="259" r:id="Rc3161f1084774f83"/>
    <p:sldId xmlns:r="http://schemas.openxmlformats.org/officeDocument/2006/relationships" id="260" r:id="Re103c6983287490c"/>
    <p:sldId xmlns:r="http://schemas.openxmlformats.org/officeDocument/2006/relationships" id="261" r:id="Ree58ead6d43a4a35"/>
    <p:sldId xmlns:r="http://schemas.openxmlformats.org/officeDocument/2006/relationships" id="262" r:id="Rb07a723e99da4e3c"/>
    <p:sldId xmlns:r="http://schemas.openxmlformats.org/officeDocument/2006/relationships" id="263" r:id="R692e951aa3cf4ed4"/>
    <p:sldId xmlns:r="http://schemas.openxmlformats.org/officeDocument/2006/relationships" id="264" r:id="Rf5e94a29b71a402b"/>
    <p:sldId xmlns:r="http://schemas.openxmlformats.org/officeDocument/2006/relationships" id="265" r:id="R317d63d02f8f4d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c2a0e22608414b" /><Relationship Type="http://schemas.openxmlformats.org/officeDocument/2006/relationships/slideMaster" Target="/ppt/slideMasters/slideMaster1.xml" Id="R872ad870483d4aef" /><Relationship Type="http://schemas.openxmlformats.org/officeDocument/2006/relationships/notesMaster" Target="/ppt/notesMasters/notesMaster1.xml" Id="Rca765829831e431f" /><Relationship Type="http://schemas.openxmlformats.org/officeDocument/2006/relationships/presProps" Target="/ppt/presProps.xml" Id="R411d8f9a2446450e" /><Relationship Type="http://schemas.openxmlformats.org/officeDocument/2006/relationships/tableStyles" Target="/ppt/tableStyles.xml" Id="R32a844780db14a59" /><Relationship Type="http://schemas.openxmlformats.org/officeDocument/2006/relationships/slide" Target="/ppt/slides/slide1.xml" Id="R0515398c9c254092" /><Relationship Type="http://schemas.openxmlformats.org/officeDocument/2006/relationships/slide" Target="/ppt/slides/slide2.xml" Id="R22b2b5cd85ea4546" /><Relationship Type="http://schemas.openxmlformats.org/officeDocument/2006/relationships/slide" Target="/ppt/slides/slide3.xml" Id="R2daafc0d0f954606" /><Relationship Type="http://schemas.openxmlformats.org/officeDocument/2006/relationships/slide" Target="/ppt/slides/slide4.xml" Id="Rc3161f1084774f83" /><Relationship Type="http://schemas.openxmlformats.org/officeDocument/2006/relationships/slide" Target="/ppt/slides/slide5.xml" Id="Re103c6983287490c" /><Relationship Type="http://schemas.openxmlformats.org/officeDocument/2006/relationships/slide" Target="/ppt/slides/slide6.xml" Id="Ree58ead6d43a4a35" /><Relationship Type="http://schemas.openxmlformats.org/officeDocument/2006/relationships/slide" Target="/ppt/slides/slide7.xml" Id="Rb07a723e99da4e3c" /><Relationship Type="http://schemas.openxmlformats.org/officeDocument/2006/relationships/slide" Target="/ppt/slides/slide8.xml" Id="R692e951aa3cf4ed4" /><Relationship Type="http://schemas.openxmlformats.org/officeDocument/2006/relationships/slide" Target="/ppt/slides/slide9.xml" Id="Rf5e94a29b71a402b" /><Relationship Type="http://schemas.openxmlformats.org/officeDocument/2006/relationships/slide" Target="/ppt/slides/slide10.xml" Id="R317d63d02f8f4d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92901956264a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e09df8f57f465a" /><Relationship Type="http://schemas.openxmlformats.org/officeDocument/2006/relationships/notesMaster" Target="/ppt/notesMasters/notesMaster1.xml" Id="R60ef43de91e34c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64e40a3d8441f0" /><Relationship Type="http://schemas.openxmlformats.org/officeDocument/2006/relationships/notesMaster" Target="/ppt/notesMasters/notesMaster1.xml" Id="R56f47570242546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b7bd5424f8488b" /><Relationship Type="http://schemas.openxmlformats.org/officeDocument/2006/relationships/notesMaster" Target="/ppt/notesMasters/notesMaster1.xml" Id="R4efffe5c98cd4c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de506029c84fa9" /><Relationship Type="http://schemas.openxmlformats.org/officeDocument/2006/relationships/notesMaster" Target="/ppt/notesMasters/notesMaster1.xml" Id="Rfecd0f555b444d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6e1b64baa54b5a" /><Relationship Type="http://schemas.openxmlformats.org/officeDocument/2006/relationships/notesMaster" Target="/ppt/notesMasters/notesMaster1.xml" Id="R149e5eec2f6543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d6c1ed6c484cb7" /><Relationship Type="http://schemas.openxmlformats.org/officeDocument/2006/relationships/notesMaster" Target="/ppt/notesMasters/notesMaster1.xml" Id="Rdef9ee5195b542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38e8e1c1044a3f" /><Relationship Type="http://schemas.openxmlformats.org/officeDocument/2006/relationships/notesMaster" Target="/ppt/notesMasters/notesMaster1.xml" Id="R93b088ce42af4d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665bc9810648e3" /><Relationship Type="http://schemas.openxmlformats.org/officeDocument/2006/relationships/notesMaster" Target="/ppt/notesMasters/notesMaster1.xml" Id="R16845867e35948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9572fb36364b3f" /><Relationship Type="http://schemas.openxmlformats.org/officeDocument/2006/relationships/notesMaster" Target="/ppt/notesMasters/notesMaster1.xml" Id="Rd87fd2995c8949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0e32d6879a40b3" /><Relationship Type="http://schemas.openxmlformats.org/officeDocument/2006/relationships/notesMaster" Target="/ppt/notesMasters/notesMaster1.xml" Id="R85d40f159b034c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CPU-only pilot on generation and one-round correction of editable flowcharts. Author name is intentionally omitted because it was not supplied. The implementation, benchmark and prompts were developed with an AI coding assistant.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how do deterministic geometry feedback, a small visual critic, and their combination change structural correctness after one edit? IntroSVG motivates rendered feedback but uses a different trained SVG generator-critic setup. FlowRefine does not replicate its method or claim comparable performance. https://arxiv.org/abs/2603.09312</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Related work: Wang et al., IntroSVG (2026), arXiv:2603.09312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 is the same saved initial scene for every edit arm. B1 sees program feedback, B2 sees one shared VLM response, B3 sees both. The editor receives the original public request and compact scene. One correction round only, with one allowed format-repair attempt. References and semantic scores never enter inference.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src/flowrefine/runner.py and 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authored 20 synthetic specifications and a deterministic verbalization template. Five development and fifteen test tasks have six or seven nodes. Test topics differ but topology families repeat. Exact normalized label plus node-type matching is deliberately strict. Test score changes do not establish generalization to human free prose.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data/DATASET_CARD.md and 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chart uses actual aggregate values. Invalid executed scenes have zero semantic scores. Unexecuted modes are excluded. Scores use exact normalized stage labels and types, plus directed edge labels. No statistical significance or broad generalization is claimed.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saved model outputs, aggregate.json; edge F1 on executed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Geometry checks measure bounding-box overlap, text fit, canvas bounds, attachment and unrelated-node crossings. They do not evaluate process meaning or human readability. Invalid outputs have undefined geometry. Arm-specific valid counts are shown to avoid reporting the easy surviving cases as total success.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aggregate.json; error counts on valid scenes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the first task in fixed dataset order with exact_semantic B0=1 and B3=0. This is an illustrative regression, not a representative causal mechanism. Original edges: [["Parcel workflow begins","Receive parcel",""],["Receive parcel","Weigh parcel",""],["Weigh parcel","Print shipping label",""],["Print shipping label","Attach shipping label",""],["Attach shipping label","Dispatch parcel",""],["Dispatch parcel","Parcel workflow complete",""]]. Edited edges: [["Parcel workflow begins","Receive parcel",""],["Receive parcel","Weigh parcel",""],["Weigh parcel","Print shipping label",""],["Print shipping label","Attach shipping label",""],["Attach shipping label","Dispatch parcel",""],["Dispatch parcel","Parcel workflow complete",""],["Attach shipping label","Parcel workflow complete","No"],["Print shipping label","Parcel workflow complete","Yes"]]. Read the saved visual/feedback.json and call_repair logs for actual feedback and edit. Other tasks may improve; aggregate includes all fifteen.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test_chain_01, B0 and B3 scenes and 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chart includes shared initial generation and visual critique in each standalone arm cost. The actual experimental total counts each stored call once. Model latency includes lazy initial loading but excludes deterministic rendering and validation. Missing modes are omitted, not assigned zero cost. A single fixed execution order, hardware load and first-call warm-up affect timing. This is descriptive experimental cost, not a controlled serving-throughput benchmark.</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call logs and aggregate.json; seconds per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official GGUF model: https://huggingface.co/Qwen/Qwen2.5-3B-Instruct-GGUF</a:t>
            </a:r>
          </a:p>
          <a:p xmlns:a="http://schemas.openxmlformats.org/drawingml/2006/main">
            <a:r>
              <a:t>SmolVLM GGUF and projector: https://huggingface.co/ggml-org/SmolVLM-256M-Instruct-GGUF</a:t>
            </a:r>
          </a:p>
          <a:p xmlns:a="http://schemas.openxmlformats.org/drawingml/2006/main">
            <a:r>
              <a:t>Wang, F. et al. (2026). IntroSVG: Learning from Rendering Feedback for Text-to-SVG Generation via an Introspective Generator-Critic Framework. https://arxiv.org/abs/2603.09312</a:t>
            </a:r>
          </a:p>
          <a:p xmlns:a="http://schemas.openxmlformats.org/drawingml/2006/main">
            <a:r>
              <a:t>No weights were trained for FlowRefine. One deterministic seed. No independent regeneration baseline, no human readability study, no claim of state-of-the-art performance. Assistant authored code, templates and prompts.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Qwen model card; SmolVLM GGUF card; Wang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empirical observation: Every tested edit lowers mean edge F1. Interpret this together with invalid outputs, the tiny critic, task template overlap and added inference time. The delivered system includes safe editable scenes, deterministic checks, separate saved calls, immutable manifests, analysis and offline replay. Next work would add a stronger critic, independent regeneration and human readability assessment.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README.md and notebooks/FlowRefine_CPU.ipynb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827e7c504340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e7c8902a3d41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e7007a292c4e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9f2f7584bc4e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21ea2fff304b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7f5febc4b94e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BBE65B-362D-4FE4-B03D-4927DA9FBA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1FB78D-876F-4EFA-861C-2DD8558720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993384-8C9F-44B0-9AD2-4780327730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211ACD-2AA4-455A-985C-F6194ED48B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EF46FB-CD40-40C7-8320-C642466EB8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56B214-00E7-4D0A-8B0E-67AA39FE58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CBE890-C6FB-45CB-A08F-7599E148B6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D773E6-E64F-43C5-BDEB-E9A934CBD3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753F56-4B3C-4347-875F-AC88734125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BAFD79-3414-4F5D-BD2A-95AD4CAE3F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436df7fa964340" /><Relationship Type="http://schemas.openxmlformats.org/officeDocument/2006/relationships/slideLayout" Target="/ppt/slideLayouts/slideLayout1.xml" Id="Re5d98d39b2044955" /><Relationship Type="http://schemas.openxmlformats.org/officeDocument/2006/relationships/slideLayout" Target="/ppt/slideLayouts/slideLayout2.xml" Id="R8e6d7361c92f494a" /><Relationship Type="http://schemas.openxmlformats.org/officeDocument/2006/relationships/slideLayout" Target="/ppt/slideLayouts/slideLayout3.xml" Id="R5d9b792081e94298" /><Relationship Type="http://schemas.openxmlformats.org/officeDocument/2006/relationships/slideLayout" Target="/ppt/slideLayouts/slideLayout4.xml" Id="Rd07abafd2e0249de" /><Relationship Type="http://schemas.openxmlformats.org/officeDocument/2006/relationships/slideLayout" Target="/ppt/slideLayouts/slideLayout5.xml" Id="R9dcf64e0dacd4160" /><Relationship Type="http://schemas.openxmlformats.org/officeDocument/2006/relationships/slideLayout" Target="/ppt/slideLayouts/slideLayout6.xml" Id="R2504dd5e36c548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d98d39b2044955"/>
    <p:sldLayoutId xmlns:r="http://schemas.openxmlformats.org/officeDocument/2006/relationships" id="2147483650" r:id="R8e6d7361c92f494a"/>
    <p:sldLayoutId xmlns:r="http://schemas.openxmlformats.org/officeDocument/2006/relationships" id="2147483651" r:id="R5d9b792081e94298"/>
    <p:sldLayoutId xmlns:r="http://schemas.openxmlformats.org/officeDocument/2006/relationships" id="2147483652" r:id="Rd07abafd2e0249de"/>
    <p:sldLayoutId xmlns:r="http://schemas.openxmlformats.org/officeDocument/2006/relationships" id="2147483653" r:id="R9dcf64e0dacd4160"/>
    <p:sldLayoutId xmlns:r="http://schemas.openxmlformats.org/officeDocument/2006/relationships" id="2147483654" r:id="R2504dd5e36c548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7b726be8674908" /><Relationship Type="http://schemas.openxmlformats.org/officeDocument/2006/relationships/notesSlide" Target="/ppt/notesSlides/notesSlide1.xml" Id="R9a0f7801fd8c4a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3f2449815c4718" /><Relationship Type="http://schemas.openxmlformats.org/officeDocument/2006/relationships/notesSlide" Target="/ppt/notesSlides/notesSlide2.xml" Id="R8105805522e3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6e10f0b57b4e00" /><Relationship Type="http://schemas.openxmlformats.org/officeDocument/2006/relationships/notesSlide" Target="/ppt/notesSlides/notesSlide3.xml" Id="Rac9f01f9423148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2779e5a1204c96" /><Relationship Type="http://schemas.openxmlformats.org/officeDocument/2006/relationships/notesSlide" Target="/ppt/notesSlides/notesSlide4.xml" Id="R42438698afd04b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8d1322773b4e4f" /><Relationship Type="http://schemas.openxmlformats.org/officeDocument/2006/relationships/chart" Target="/ppt/slides/charts/chart1.xml" Id="Rd5265e6bcce04492" /><Relationship Type="http://schemas.openxmlformats.org/officeDocument/2006/relationships/notesSlide" Target="/ppt/notesSlides/notesSlide5.xml" Id="R6c8f4697c95e48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9fc054453094169" /><Relationship Type="http://schemas.openxmlformats.org/officeDocument/2006/relationships/chart" Target="/ppt/slides/charts/chart2.xml" Id="R87fbe1bb6487409f" /><Relationship Type="http://schemas.openxmlformats.org/officeDocument/2006/relationships/notesSlide" Target="/ppt/notesSlides/notesSlide6.xml" Id="R84177facf9a243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a7bcee9501464f" /><Relationship Type="http://schemas.openxmlformats.org/officeDocument/2006/relationships/notesSlide" Target="/ppt/notesSlides/notesSlide7.xml" Id="R0ec91a832c3e43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78ed4d061594e4d" /><Relationship Type="http://schemas.openxmlformats.org/officeDocument/2006/relationships/chart" Target="/ppt/slides/charts/chart3.xml" Id="Rc76448f8f9e04af8" /><Relationship Type="http://schemas.openxmlformats.org/officeDocument/2006/relationships/notesSlide" Target="/ppt/notesSlides/notesSlide8.xml" Id="Re213e0e976984b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dc912a90204832" /><Relationship Type="http://schemas.openxmlformats.org/officeDocument/2006/relationships/notesSlide" Target="/ppt/notesSlides/notesSlide9.xml" Id="R684a2708dd8f46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1e3ce3108d4c39" /><Relationship Type="http://schemas.openxmlformats.org/officeDocument/2006/relationships/notesSlide" Target="/ppt/notesSlides/notesSlide10.xml" Id="Re1a05addc2924d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Geometry errors on valid scenes</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0.333333</c:v>
                </c:pt>
                <c:pt idx="1">
                  <c:v>0.333333</c:v>
                </c:pt>
                <c:pt idx="2">
                  <c:v>0.533333</c:v>
                </c:pt>
                <c:pt idx="3">
                  <c:v>0.866667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0933376"/>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Standalone model seconds per task</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16.513225</c:v>
                </c:pt>
                <c:pt idx="1">
                  <c:v>37.130908</c:v>
                </c:pt>
                <c:pt idx="2">
                  <c:v>48.559426</c:v>
                </c:pt>
                <c:pt idx="3">
                  <c:v>50.154999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64.1983987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29D51C-9B8E-4E3E-9B51-447915DCB0FB}"/>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C700532C-4AFF-4007-AC09-21B9A3095C5E}"/>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1</a:t>
            </a:r>
          </a:p>
        </p:txBody>
      </p:sp>
      <p:sp>
        <p:nvSpPr>
          <p:cNvPr id="3" name="">
            <a:extLst xmlns:a="http://schemas.openxmlformats.org/drawingml/2006/main">
              <a:ext uri="{FF2B5EF4-FFF2-40B4-BE49-F238E27FC236}">
                <a16:creationId xmlns:a16="http://schemas.microsoft.com/office/drawing/2014/main" id="{883C9DD4-F55A-43BD-9C9D-7D1050EB1049}"/>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24 October 2026</a:t>
            </a:r>
          </a:p>
        </p:txBody>
      </p:sp>
      <p:sp>
        <p:nvSpPr>
          <p:cNvPr id="4" name="">
            <a:extLst xmlns:a="http://schemas.openxmlformats.org/drawingml/2006/main">
              <a:ext uri="{FF2B5EF4-FFF2-40B4-BE49-F238E27FC236}">
                <a16:creationId xmlns:a16="http://schemas.microsoft.com/office/drawing/2014/main" id="{8C2BA59C-BE36-4303-AFDE-78373A2918C6}"/>
              </a:ext>
            </a:extLst>
          </p:cNvPr>
          <p:cNvSpPr>
            <a:spLocks xmlns:a="http://schemas.openxmlformats.org/drawingml/2006/main" noGrp="1"/>
          </p:cNvSpPr>
          <p:nvPr/>
        </p:nvSpPr>
        <p:spPr>
          <a:xfrm xmlns:a="http://schemas.openxmlformats.org/drawingml/2006/main">
            <a:off x="609600" y="18288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1F4E79"/>
                </a:solidFill>
                <a:latin typeface="Arial"/>
                <a:ea typeface="Arial"/>
                <a:cs typeface="Arial"/>
              </a:defRPr>
            </a:defPPr>
            <a:lvl1pPr>
              <a:defRPr sz="4050" b="1">
                <a:solidFill>
                  <a:srgbClr val="1F4E79"/>
                </a:solidFill>
                <a:latin typeface="Arial"/>
                <a:ea typeface="Arial"/>
                <a:cs typeface="Arial"/>
              </a:defRPr>
            </a:lvl1pPr>
            <a:lvl2pPr>
              <a:defRPr sz="4050" b="1">
                <a:solidFill>
                  <a:srgbClr val="1F4E79"/>
                </a:solidFill>
                <a:latin typeface="Arial"/>
                <a:ea typeface="Arial"/>
                <a:cs typeface="Arial"/>
              </a:defRPr>
            </a:lvl2pPr>
            <a:lvl3pPr>
              <a:defRPr sz="4050" b="1">
                <a:solidFill>
                  <a:srgbClr val="1F4E79"/>
                </a:solidFill>
                <a:latin typeface="Arial"/>
                <a:ea typeface="Arial"/>
                <a:cs typeface="Arial"/>
              </a:defRPr>
            </a:lvl3pPr>
            <a:lvl4pPr>
              <a:defRPr sz="4050" b="1">
                <a:solidFill>
                  <a:srgbClr val="1F4E79"/>
                </a:solidFill>
                <a:latin typeface="Arial"/>
                <a:ea typeface="Arial"/>
                <a:cs typeface="Arial"/>
              </a:defRPr>
            </a:lvl4pPr>
            <a:lvl5pPr>
              <a:defRPr sz="4050" b="1">
                <a:solidFill>
                  <a:srgbClr val="1F4E79"/>
                </a:solidFill>
                <a:latin typeface="Arial"/>
                <a:ea typeface="Arial"/>
                <a:cs typeface="Arial"/>
              </a:defRPr>
            </a:lvl5pPr>
            <a:lvl6pPr>
              <a:defRPr sz="4050" b="1">
                <a:solidFill>
                  <a:srgbClr val="1F4E79"/>
                </a:solidFill>
                <a:latin typeface="Arial"/>
                <a:ea typeface="Arial"/>
                <a:cs typeface="Arial"/>
              </a:defRPr>
            </a:lvl6pPr>
            <a:lvl7pPr>
              <a:defRPr sz="4050" b="1">
                <a:solidFill>
                  <a:srgbClr val="1F4E79"/>
                </a:solidFill>
                <a:latin typeface="Arial"/>
                <a:ea typeface="Arial"/>
                <a:cs typeface="Arial"/>
              </a:defRPr>
            </a:lvl7pPr>
            <a:lvl8pPr>
              <a:defRPr sz="4050" b="1">
                <a:solidFill>
                  <a:srgbClr val="1F4E79"/>
                </a:solidFill>
                <a:latin typeface="Arial"/>
                <a:ea typeface="Arial"/>
                <a:cs typeface="Arial"/>
              </a:defRPr>
            </a:lvl8pPr>
            <a:lvl9pPr>
              <a:defRPr sz="4050" b="1">
                <a:solidFill>
                  <a:srgbClr val="1F4E79"/>
                </a:solidFill>
                <a:latin typeface="Arial"/>
                <a:ea typeface="Arial"/>
                <a:cs typeface="Arial"/>
              </a:defRPr>
            </a:lvl9pPr>
          </a:lstStyle>
          <a:p xmlns:a="http://schemas.openxmlformats.org/drawingml/2006/main">
            <a:pPr>
              <a:defRPr sz="4050" b="1">
                <a:solidFill>
                  <a:srgbClr val="1F4E79"/>
                </a:solidFill>
                <a:latin typeface="Arial"/>
                <a:ea typeface="Arial"/>
                <a:cs typeface="Arial"/>
              </a:defRPr>
            </a:pPr>
            <a:r>
              <a:rPr sz="4050" b="1">
                <a:solidFill>
                  <a:srgbClr val="1F4E79"/>
                </a:solidFill>
                <a:latin typeface="Arial"/>
                <a:ea typeface="Arial"/>
                <a:cs typeface="Arial"/>
              </a:rPr>
              <a:t>Programmatic and visual feedback</a:t>
            </a:r>
          </a:p>
          <a:p xmlns:a="http://schemas.openxmlformats.org/drawingml/2006/main">
            <a:pPr>
              <a:defRPr sz="4050" b="1">
                <a:solidFill>
                  <a:srgbClr val="1F4E79"/>
                </a:solidFill>
                <a:latin typeface="Arial"/>
                <a:ea typeface="Arial"/>
                <a:cs typeface="Arial"/>
              </a:defRPr>
            </a:pPr>
            <a:r>
              <a:rPr sz="405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A4546282-F2A8-4AF9-A237-1E848745673E}"/>
              </a:ext>
            </a:extLst>
          </p:cNvPr>
          <p:cNvSpPr>
            <a:spLocks xmlns:a="http://schemas.openxmlformats.org/drawingml/2006/main" noGrp="1"/>
          </p:cNvSpPr>
          <p:nvPr/>
        </p:nvSpPr>
        <p:spPr>
          <a:xfrm xmlns:a="http://schemas.openxmlformats.org/drawingml/2006/main">
            <a:off x="609600" y="4191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defRPr sz="2325" b="0">
                <a:solidFill>
                  <a:srgbClr val="1F4E79"/>
                </a:solidFill>
                <a:latin typeface="Arial"/>
                <a:ea typeface="Arial"/>
                <a:cs typeface="Arial"/>
              </a:defRPr>
            </a:lvl1pPr>
            <a:lvl2pPr>
              <a:defRPr sz="2325" b="0">
                <a:solidFill>
                  <a:srgbClr val="1F4E79"/>
                </a:solidFill>
                <a:latin typeface="Arial"/>
                <a:ea typeface="Arial"/>
                <a:cs typeface="Arial"/>
              </a:defRPr>
            </a:lvl2pPr>
            <a:lvl3pPr>
              <a:defRPr sz="2325" b="0">
                <a:solidFill>
                  <a:srgbClr val="1F4E79"/>
                </a:solidFill>
                <a:latin typeface="Arial"/>
                <a:ea typeface="Arial"/>
                <a:cs typeface="Arial"/>
              </a:defRPr>
            </a:lvl3pPr>
            <a:lvl4pPr>
              <a:defRPr sz="2325" b="0">
                <a:solidFill>
                  <a:srgbClr val="1F4E79"/>
                </a:solidFill>
                <a:latin typeface="Arial"/>
                <a:ea typeface="Arial"/>
                <a:cs typeface="Arial"/>
              </a:defRPr>
            </a:lvl4pPr>
            <a:lvl5pPr>
              <a:defRPr sz="2325" b="0">
                <a:solidFill>
                  <a:srgbClr val="1F4E79"/>
                </a:solidFill>
                <a:latin typeface="Arial"/>
                <a:ea typeface="Arial"/>
                <a:cs typeface="Arial"/>
              </a:defRPr>
            </a:lvl5pPr>
            <a:lvl6pPr>
              <a:defRPr sz="2325" b="0">
                <a:solidFill>
                  <a:srgbClr val="1F4E79"/>
                </a:solidFill>
                <a:latin typeface="Arial"/>
                <a:ea typeface="Arial"/>
                <a:cs typeface="Arial"/>
              </a:defRPr>
            </a:lvl6pPr>
            <a:lvl7pPr>
              <a:defRPr sz="2325" b="0">
                <a:solidFill>
                  <a:srgbClr val="1F4E79"/>
                </a:solidFill>
                <a:latin typeface="Arial"/>
                <a:ea typeface="Arial"/>
                <a:cs typeface="Arial"/>
              </a:defRPr>
            </a:lvl7pPr>
            <a:lvl8pPr>
              <a:defRPr sz="2325" b="0">
                <a:solidFill>
                  <a:srgbClr val="1F4E79"/>
                </a:solidFill>
                <a:latin typeface="Arial"/>
                <a:ea typeface="Arial"/>
                <a:cs typeface="Arial"/>
              </a:defRPr>
            </a:lvl8pPr>
            <a:lvl9pPr>
              <a:defRPr sz="2325" b="0">
                <a:solidFill>
                  <a:srgbClr val="1F4E79"/>
                </a:solidFill>
                <a:latin typeface="Arial"/>
                <a:ea typeface="Arial"/>
                <a:cs typeface="Arial"/>
              </a:defRPr>
            </a:lvl9pPr>
          </a:lstStyle>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15 test tasks</a:t>
            </a:r>
          </a:p>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One correction round on CPU</a:t>
            </a:r>
          </a:p>
        </p:txBody>
      </p:sp>
    </p:spTree>
    <p:extLst>
      <p:ext uri="{BB962C8B-B14F-4D97-AF65-F5344CB8AC3E}">
        <p14:creationId xmlns:p14="http://schemas.microsoft.com/office/powerpoint/2010/main" val="10904860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82DE31-4503-443C-83FC-B5D352DC0D16}"/>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Can feedback improve a generated flowchart?</a:t>
            </a:r>
          </a:p>
        </p:txBody>
      </p:sp>
      <p:sp>
        <p:nvSpPr>
          <p:cNvPr id="2" name="">
            <a:extLst xmlns:a="http://schemas.openxmlformats.org/drawingml/2006/main">
              <a:ext uri="{FF2B5EF4-FFF2-40B4-BE49-F238E27FC236}">
                <a16:creationId xmlns:a16="http://schemas.microsoft.com/office/drawing/2014/main" id="{CDF4BCC7-F138-44FA-AD77-5A051DB5A98C}"/>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2</a:t>
            </a:r>
          </a:p>
        </p:txBody>
      </p:sp>
      <p:sp>
        <p:nvSpPr>
          <p:cNvPr id="3" name="">
            <a:extLst xmlns:a="http://schemas.openxmlformats.org/drawingml/2006/main">
              <a:ext uri="{FF2B5EF4-FFF2-40B4-BE49-F238E27FC236}">
                <a16:creationId xmlns:a16="http://schemas.microsoft.com/office/drawing/2014/main" id="{7589836C-7BDA-4DAA-ADD5-6FFCEF97DDC7}"/>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Related work: Wang et al., IntroSVG (2026), arXiv:2603.09312</a:t>
            </a:r>
          </a:p>
        </p:txBody>
      </p:sp>
      <p:sp>
        <p:nvSpPr>
          <p:cNvPr id="4" name="">
            <a:extLst xmlns:a="http://schemas.openxmlformats.org/drawingml/2006/main">
              <a:ext uri="{FF2B5EF4-FFF2-40B4-BE49-F238E27FC236}">
                <a16:creationId xmlns:a16="http://schemas.microsoft.com/office/drawing/2014/main" id="{439789BE-E5C5-4775-9647-4BFCC4BEE550}"/>
              </a:ext>
            </a:extLst>
          </p:cNvPr>
          <p:cNvSpPr>
            <a:spLocks xmlns:a="http://schemas.openxmlformats.org/drawingml/2006/main" noGrp="1"/>
          </p:cNvSpPr>
          <p:nvPr/>
        </p:nvSpPr>
        <p:spPr>
          <a:xfrm xmlns:a="http://schemas.openxmlformats.org/drawingml/2006/main">
            <a:off x="609600" y="18097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Text descriptions require correct directed graphs.</a:t>
            </a:r>
          </a:p>
        </p:txBody>
      </p:sp>
      <p:sp>
        <p:nvSpPr>
          <p:cNvPr id="5" name="">
            <a:extLst xmlns:a="http://schemas.openxmlformats.org/drawingml/2006/main">
              <a:ext uri="{FF2B5EF4-FFF2-40B4-BE49-F238E27FC236}">
                <a16:creationId xmlns:a16="http://schemas.microsoft.com/office/drawing/2014/main" id="{F45E2B22-9A0E-4151-BCDB-FF073AAC83CC}"/>
              </a:ext>
            </a:extLst>
          </p:cNvPr>
          <p:cNvSpPr>
            <a:spLocks xmlns:a="http://schemas.openxmlformats.org/drawingml/2006/main" noGrp="1"/>
          </p:cNvSpPr>
          <p:nvPr/>
        </p:nvSpPr>
        <p:spPr>
          <a:xfrm xmlns:a="http://schemas.openxmlformats.org/drawingml/2006/main">
            <a:off x="609600" y="29146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Readable layouts can still contain incorrect branches.</a:t>
            </a:r>
          </a:p>
        </p:txBody>
      </p:sp>
      <p:sp>
        <p:nvSpPr>
          <p:cNvPr id="6" name="">
            <a:extLst xmlns:a="http://schemas.openxmlformats.org/drawingml/2006/main">
              <a:ext uri="{FF2B5EF4-FFF2-40B4-BE49-F238E27FC236}">
                <a16:creationId xmlns:a16="http://schemas.microsoft.com/office/drawing/2014/main" id="{12DBEEFA-1ACC-4547-997A-667EC46D7BBE}"/>
              </a:ext>
            </a:extLst>
          </p:cNvPr>
          <p:cNvSpPr>
            <a:spLocks xmlns:a="http://schemas.openxmlformats.org/drawingml/2006/main" noGrp="1"/>
          </p:cNvSpPr>
          <p:nvPr/>
        </p:nvSpPr>
        <p:spPr>
          <a:xfrm xmlns:a="http://schemas.openxmlformats.org/drawingml/2006/main">
            <a:off x="609600" y="40195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Compare feedback sources on the same initial output.</a:t>
            </a:r>
          </a:p>
        </p:txBody>
      </p:sp>
    </p:spTree>
    <p:extLst>
      <p:ext uri="{BB962C8B-B14F-4D97-AF65-F5344CB8AC3E}">
        <p14:creationId xmlns:p14="http://schemas.microsoft.com/office/powerpoint/2010/main" val="11043304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5D745F-EACE-4BBA-8255-8B44C5A279FE}"/>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All edit arms share one initial diagram</a:t>
            </a:r>
          </a:p>
        </p:txBody>
      </p:sp>
      <p:sp>
        <p:nvSpPr>
          <p:cNvPr id="2" name="">
            <a:extLst xmlns:a="http://schemas.openxmlformats.org/drawingml/2006/main">
              <a:ext uri="{FF2B5EF4-FFF2-40B4-BE49-F238E27FC236}">
                <a16:creationId xmlns:a16="http://schemas.microsoft.com/office/drawing/2014/main" id="{78CAB534-972B-485A-AF1F-8BC8A9731EA4}"/>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3</a:t>
            </a:r>
          </a:p>
        </p:txBody>
      </p:sp>
      <p:sp>
        <p:nvSpPr>
          <p:cNvPr id="3" name="">
            <a:extLst xmlns:a="http://schemas.openxmlformats.org/drawingml/2006/main">
              <a:ext uri="{FF2B5EF4-FFF2-40B4-BE49-F238E27FC236}">
                <a16:creationId xmlns:a16="http://schemas.microsoft.com/office/drawing/2014/main" id="{7440308E-1D22-42A2-B511-9D4D012B9F9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src/flowrefine/runner.py and prompts.py</a:t>
            </a:r>
          </a:p>
        </p:txBody>
      </p:sp>
      <p:sp>
        <p:nvSpPr>
          <p:cNvPr id="4" name="">
            <a:extLst xmlns:a="http://schemas.openxmlformats.org/drawingml/2006/main">
              <a:ext uri="{FF2B5EF4-FFF2-40B4-BE49-F238E27FC236}">
                <a16:creationId xmlns:a16="http://schemas.microsoft.com/office/drawing/2014/main" id="{D60FBEDE-34CE-44CC-BDC2-07F5A4E10F5A}"/>
              </a:ext>
            </a:extLst>
          </p:cNvPr>
          <p:cNvSpPr>
            <a:spLocks xmlns:a="http://schemas.openxmlformats.org/drawingml/2006/main" noGrp="1"/>
          </p:cNvSpPr>
          <p:nvPr/>
        </p:nvSpPr>
        <p:spPr>
          <a:xfrm xmlns:a="http://schemas.openxmlformats.org/drawingml/2006/main">
            <a:off x="609600" y="17526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B0</a:t>
            </a:r>
          </a:p>
        </p:txBody>
      </p:sp>
      <p:sp>
        <p:nvSpPr>
          <p:cNvPr id="5" name="">
            <a:extLst xmlns:a="http://schemas.openxmlformats.org/drawingml/2006/main">
              <a:ext uri="{FF2B5EF4-FFF2-40B4-BE49-F238E27FC236}">
                <a16:creationId xmlns:a16="http://schemas.microsoft.com/office/drawing/2014/main" id="{69A56051-8798-4FC9-8A41-2A7563DA8614}"/>
              </a:ext>
            </a:extLst>
          </p:cNvPr>
          <p:cNvSpPr>
            <a:spLocks xmlns:a="http://schemas.openxmlformats.org/drawingml/2006/main" noGrp="1"/>
          </p:cNvSpPr>
          <p:nvPr/>
        </p:nvSpPr>
        <p:spPr>
          <a:xfrm xmlns:a="http://schemas.openxmlformats.org/drawingml/2006/main">
            <a:off x="1952625" y="1752600"/>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Generate JSON, render SVG and PNG</a:t>
            </a:r>
          </a:p>
        </p:txBody>
      </p:sp>
      <p:sp>
        <p:nvSpPr>
          <p:cNvPr id="6" name="">
            <a:extLst xmlns:a="http://schemas.openxmlformats.org/drawingml/2006/main">
              <a:ext uri="{FF2B5EF4-FFF2-40B4-BE49-F238E27FC236}">
                <a16:creationId xmlns:a16="http://schemas.microsoft.com/office/drawing/2014/main" id="{4493DBBF-C9D1-48F5-AAE1-D6D0A842B4EE}"/>
              </a:ext>
            </a:extLst>
          </p:cNvPr>
          <p:cNvSpPr>
            <a:spLocks xmlns:a="http://schemas.openxmlformats.org/drawingml/2006/main" noGrp="1"/>
          </p:cNvSpPr>
          <p:nvPr/>
        </p:nvSpPr>
        <p:spPr>
          <a:xfrm xmlns:a="http://schemas.openxmlformats.org/drawingml/2006/main">
            <a:off x="609600" y="27146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B1</a:t>
            </a:r>
          </a:p>
        </p:txBody>
      </p:sp>
      <p:sp>
        <p:nvSpPr>
          <p:cNvPr id="7" name="">
            <a:extLst xmlns:a="http://schemas.openxmlformats.org/drawingml/2006/main">
              <a:ext uri="{FF2B5EF4-FFF2-40B4-BE49-F238E27FC236}">
                <a16:creationId xmlns:a16="http://schemas.microsoft.com/office/drawing/2014/main" id="{BAF2FBDE-C964-49A9-929D-C950B5E92B25}"/>
              </a:ext>
            </a:extLst>
          </p:cNvPr>
          <p:cNvSpPr>
            <a:spLocks xmlns:a="http://schemas.openxmlformats.org/drawingml/2006/main" noGrp="1"/>
          </p:cNvSpPr>
          <p:nvPr/>
        </p:nvSpPr>
        <p:spPr>
          <a:xfrm xmlns:a="http://schemas.openxmlformats.org/drawingml/2006/main">
            <a:off x="1952625" y="271462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Edit using geometry checks</a:t>
            </a:r>
          </a:p>
        </p:txBody>
      </p:sp>
      <p:sp>
        <p:nvSpPr>
          <p:cNvPr id="8" name="">
            <a:extLst xmlns:a="http://schemas.openxmlformats.org/drawingml/2006/main">
              <a:ext uri="{FF2B5EF4-FFF2-40B4-BE49-F238E27FC236}">
                <a16:creationId xmlns:a16="http://schemas.microsoft.com/office/drawing/2014/main" id="{BC12E97D-2CCA-45AD-8AB5-D4DE5E356E36}"/>
              </a:ext>
            </a:extLst>
          </p:cNvPr>
          <p:cNvSpPr>
            <a:spLocks xmlns:a="http://schemas.openxmlformats.org/drawingml/2006/main" noGrp="1"/>
          </p:cNvSpPr>
          <p:nvPr/>
        </p:nvSpPr>
        <p:spPr>
          <a:xfrm xmlns:a="http://schemas.openxmlformats.org/drawingml/2006/main">
            <a:off x="609600" y="36766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B2</a:t>
            </a:r>
          </a:p>
        </p:txBody>
      </p:sp>
      <p:sp>
        <p:nvSpPr>
          <p:cNvPr id="9" name="">
            <a:extLst xmlns:a="http://schemas.openxmlformats.org/drawingml/2006/main">
              <a:ext uri="{FF2B5EF4-FFF2-40B4-BE49-F238E27FC236}">
                <a16:creationId xmlns:a16="http://schemas.microsoft.com/office/drawing/2014/main" id="{2B6AAB5D-EB11-4C25-9F13-2B7F4D103EE2}"/>
              </a:ext>
            </a:extLst>
          </p:cNvPr>
          <p:cNvSpPr>
            <a:spLocks xmlns:a="http://schemas.openxmlformats.org/drawingml/2006/main" noGrp="1"/>
          </p:cNvSpPr>
          <p:nvPr/>
        </p:nvSpPr>
        <p:spPr>
          <a:xfrm xmlns:a="http://schemas.openxmlformats.org/drawingml/2006/main">
            <a:off x="1952625" y="3676650"/>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Edit using the shared image critique</a:t>
            </a:r>
          </a:p>
        </p:txBody>
      </p:sp>
      <p:sp>
        <p:nvSpPr>
          <p:cNvPr id="10" name="">
            <a:extLst xmlns:a="http://schemas.openxmlformats.org/drawingml/2006/main">
              <a:ext uri="{FF2B5EF4-FFF2-40B4-BE49-F238E27FC236}">
                <a16:creationId xmlns:a16="http://schemas.microsoft.com/office/drawing/2014/main" id="{57177D98-B0D0-4AA5-9597-65AAA65C3F4B}"/>
              </a:ext>
            </a:extLst>
          </p:cNvPr>
          <p:cNvSpPr>
            <a:spLocks xmlns:a="http://schemas.openxmlformats.org/drawingml/2006/main" noGrp="1"/>
          </p:cNvSpPr>
          <p:nvPr/>
        </p:nvSpPr>
        <p:spPr>
          <a:xfrm xmlns:a="http://schemas.openxmlformats.org/drawingml/2006/main">
            <a:off x="609600" y="463867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B3</a:t>
            </a:r>
          </a:p>
        </p:txBody>
      </p:sp>
      <p:sp>
        <p:nvSpPr>
          <p:cNvPr id="11" name="">
            <a:extLst xmlns:a="http://schemas.openxmlformats.org/drawingml/2006/main">
              <a:ext uri="{FF2B5EF4-FFF2-40B4-BE49-F238E27FC236}">
                <a16:creationId xmlns:a16="http://schemas.microsoft.com/office/drawing/2014/main" id="{D34445BC-D304-48D7-8660-D229339F8A76}"/>
              </a:ext>
            </a:extLst>
          </p:cNvPr>
          <p:cNvSpPr>
            <a:spLocks xmlns:a="http://schemas.openxmlformats.org/drawingml/2006/main" noGrp="1"/>
          </p:cNvSpPr>
          <p:nvPr/>
        </p:nvSpPr>
        <p:spPr>
          <a:xfrm xmlns:a="http://schemas.openxmlformats.org/drawingml/2006/main">
            <a:off x="1952625" y="463867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4E79"/>
                </a:solidFill>
                <a:latin typeface="Arial"/>
                <a:ea typeface="Arial"/>
                <a:cs typeface="Arial"/>
              </a:defRPr>
            </a:defPPr>
            <a:lvl1pPr>
              <a:defRPr sz="2250" b="0">
                <a:solidFill>
                  <a:srgbClr val="1F4E79"/>
                </a:solidFill>
                <a:latin typeface="Arial"/>
                <a:ea typeface="Arial"/>
                <a:cs typeface="Arial"/>
              </a:defRPr>
            </a:lvl1pPr>
            <a:lvl2pPr>
              <a:defRPr sz="2250" b="0">
                <a:solidFill>
                  <a:srgbClr val="1F4E79"/>
                </a:solidFill>
                <a:latin typeface="Arial"/>
                <a:ea typeface="Arial"/>
                <a:cs typeface="Arial"/>
              </a:defRPr>
            </a:lvl2pPr>
            <a:lvl3pPr>
              <a:defRPr sz="2250" b="0">
                <a:solidFill>
                  <a:srgbClr val="1F4E79"/>
                </a:solidFill>
                <a:latin typeface="Arial"/>
                <a:ea typeface="Arial"/>
                <a:cs typeface="Arial"/>
              </a:defRPr>
            </a:lvl3pPr>
            <a:lvl4pPr>
              <a:defRPr sz="2250" b="0">
                <a:solidFill>
                  <a:srgbClr val="1F4E79"/>
                </a:solidFill>
                <a:latin typeface="Arial"/>
                <a:ea typeface="Arial"/>
                <a:cs typeface="Arial"/>
              </a:defRPr>
            </a:lvl4pPr>
            <a:lvl5pPr>
              <a:defRPr sz="2250" b="0">
                <a:solidFill>
                  <a:srgbClr val="1F4E79"/>
                </a:solidFill>
                <a:latin typeface="Arial"/>
                <a:ea typeface="Arial"/>
                <a:cs typeface="Arial"/>
              </a:defRPr>
            </a:lvl5pPr>
            <a:lvl6pPr>
              <a:defRPr sz="2250" b="0">
                <a:solidFill>
                  <a:srgbClr val="1F4E79"/>
                </a:solidFill>
                <a:latin typeface="Arial"/>
                <a:ea typeface="Arial"/>
                <a:cs typeface="Arial"/>
              </a:defRPr>
            </a:lvl6pPr>
            <a:lvl7pPr>
              <a:defRPr sz="2250" b="0">
                <a:solidFill>
                  <a:srgbClr val="1F4E79"/>
                </a:solidFill>
                <a:latin typeface="Arial"/>
                <a:ea typeface="Arial"/>
                <a:cs typeface="Arial"/>
              </a:defRPr>
            </a:lvl7pPr>
            <a:lvl8pPr>
              <a:defRPr sz="2250" b="0">
                <a:solidFill>
                  <a:srgbClr val="1F4E79"/>
                </a:solidFill>
                <a:latin typeface="Arial"/>
                <a:ea typeface="Arial"/>
                <a:cs typeface="Arial"/>
              </a:defRPr>
            </a:lvl8pPr>
            <a:lvl9pPr>
              <a:defRPr sz="2250" b="0">
                <a:solidFill>
                  <a:srgbClr val="1F4E79"/>
                </a:solidFill>
                <a:latin typeface="Arial"/>
                <a:ea typeface="Arial"/>
                <a:cs typeface="Arial"/>
              </a:defRPr>
            </a:lvl9pPr>
          </a:lstStyle>
          <a:p xmlns:a="http://schemas.openxmlformats.org/drawingml/2006/main">
            <a:pPr>
              <a:defRPr sz="2250" b="0">
                <a:solidFill>
                  <a:srgbClr val="1F4E79"/>
                </a:solidFill>
                <a:latin typeface="Arial"/>
                <a:ea typeface="Arial"/>
                <a:cs typeface="Arial"/>
              </a:defRPr>
            </a:pPr>
            <a:r>
              <a:rPr sz="2250" b="0">
                <a:solidFill>
                  <a:srgbClr val="1F4E79"/>
                </a:solidFill>
                <a:latin typeface="Arial"/>
                <a:ea typeface="Arial"/>
                <a:cs typeface="Arial"/>
              </a:rPr>
              <a:t>Edit using both feedback sources</a:t>
            </a:r>
          </a:p>
        </p:txBody>
      </p:sp>
    </p:spTree>
    <p:extLst>
      <p:ext uri="{BB962C8B-B14F-4D97-AF65-F5344CB8AC3E}">
        <p14:creationId xmlns:p14="http://schemas.microsoft.com/office/powerpoint/2010/main" val="13023458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29E19E-4CEE-4DA1-84A6-2C43647CB6FD}"/>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benchmark isolates familiar graph structures</a:t>
            </a:r>
          </a:p>
        </p:txBody>
      </p:sp>
      <p:sp>
        <p:nvSpPr>
          <p:cNvPr id="2" name="">
            <a:extLst xmlns:a="http://schemas.openxmlformats.org/drawingml/2006/main">
              <a:ext uri="{FF2B5EF4-FFF2-40B4-BE49-F238E27FC236}">
                <a16:creationId xmlns:a16="http://schemas.microsoft.com/office/drawing/2014/main" id="{D4B48089-EE6C-4D46-93C8-113839FA5E58}"/>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4</a:t>
            </a:r>
          </a:p>
        </p:txBody>
      </p:sp>
      <p:sp>
        <p:nvSpPr>
          <p:cNvPr id="3" name="">
            <a:extLst xmlns:a="http://schemas.openxmlformats.org/drawingml/2006/main">
              <a:ext uri="{FF2B5EF4-FFF2-40B4-BE49-F238E27FC236}">
                <a16:creationId xmlns:a16="http://schemas.microsoft.com/office/drawing/2014/main" id="{C49971B5-C82D-4A8A-92EF-F554A9D25849}"/>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data/DATASET_CARD.md and dataset.py</a:t>
            </a:r>
          </a:p>
        </p:txBody>
      </p:sp>
      <p:sp>
        <p:nvSpPr>
          <p:cNvPr id="4" name="">
            <a:extLst xmlns:a="http://schemas.openxmlformats.org/drawingml/2006/main">
              <a:ext uri="{FF2B5EF4-FFF2-40B4-BE49-F238E27FC236}">
                <a16:creationId xmlns:a16="http://schemas.microsoft.com/office/drawing/2014/main" id="{9703F0A1-B0E9-4EE0-940B-51A7EC05F023}"/>
              </a:ext>
            </a:extLst>
          </p:cNvPr>
          <p:cNvSpPr>
            <a:spLocks xmlns:a="http://schemas.openxmlformats.org/drawingml/2006/main" noGrp="1"/>
          </p:cNvSpPr>
          <p:nvPr/>
        </p:nvSpPr>
        <p:spPr>
          <a:xfrm xmlns:a="http://schemas.openxmlformats.org/drawingml/2006/main">
            <a:off x="609600" y="16954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5 development tasks and 15 test tasks</a:t>
            </a:r>
          </a:p>
        </p:txBody>
      </p:sp>
      <p:sp>
        <p:nvSpPr>
          <p:cNvPr id="5" name="">
            <a:extLst xmlns:a="http://schemas.openxmlformats.org/drawingml/2006/main">
              <a:ext uri="{FF2B5EF4-FFF2-40B4-BE49-F238E27FC236}">
                <a16:creationId xmlns:a16="http://schemas.microsoft.com/office/drawing/2014/main" id="{DC8AEAD2-753C-451A-AAEF-56B296C69E12}"/>
              </a:ext>
            </a:extLst>
          </p:cNvPr>
          <p:cNvSpPr>
            <a:spLocks xmlns:a="http://schemas.openxmlformats.org/drawingml/2006/main" noGrp="1"/>
          </p:cNvSpPr>
          <p:nvPr/>
        </p:nvSpPr>
        <p:spPr>
          <a:xfrm xmlns:a="http://schemas.openxmlformats.org/drawingml/2006/main">
            <a:off x="609600" y="26193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Chains, branches and loops with 6–7 nodes</a:t>
            </a:r>
          </a:p>
        </p:txBody>
      </p:sp>
      <p:sp>
        <p:nvSpPr>
          <p:cNvPr id="6" name="">
            <a:extLst xmlns:a="http://schemas.openxmlformats.org/drawingml/2006/main">
              <a:ext uri="{FF2B5EF4-FFF2-40B4-BE49-F238E27FC236}">
                <a16:creationId xmlns:a16="http://schemas.microsoft.com/office/drawing/2014/main" id="{66FB4C37-1A96-4843-A9A5-FB342914B76E}"/>
              </a:ext>
            </a:extLst>
          </p:cNvPr>
          <p:cNvSpPr>
            <a:spLocks xmlns:a="http://schemas.openxmlformats.org/drawingml/2006/main" noGrp="1"/>
          </p:cNvSpPr>
          <p:nvPr/>
        </p:nvSpPr>
        <p:spPr>
          <a:xfrm xmlns:a="http://schemas.openxmlformats.org/drawingml/2006/main">
            <a:off x="609600" y="35433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Exact labels, node types and directed edge matching</a:t>
            </a:r>
          </a:p>
        </p:txBody>
      </p:sp>
      <p:sp>
        <p:nvSpPr>
          <p:cNvPr id="7" name="">
            <a:extLst xmlns:a="http://schemas.openxmlformats.org/drawingml/2006/main">
              <a:ext uri="{FF2B5EF4-FFF2-40B4-BE49-F238E27FC236}">
                <a16:creationId xmlns:a16="http://schemas.microsoft.com/office/drawing/2014/main" id="{9F8749EB-0070-4532-BB2F-16809BDBA9C9}"/>
              </a:ext>
            </a:extLst>
          </p:cNvPr>
          <p:cNvSpPr>
            <a:spLocks xmlns:a="http://schemas.openxmlformats.org/drawingml/2006/main" noGrp="1"/>
          </p:cNvSpPr>
          <p:nvPr/>
        </p:nvSpPr>
        <p:spPr>
          <a:xfrm xmlns:a="http://schemas.openxmlformats.org/drawingml/2006/main">
            <a:off x="609600" y="44672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Reference graphs enter evaluation only</a:t>
            </a:r>
          </a:p>
        </p:txBody>
      </p:sp>
    </p:spTree>
    <p:extLst>
      <p:ext uri="{BB962C8B-B14F-4D97-AF65-F5344CB8AC3E}">
        <p14:creationId xmlns:p14="http://schemas.microsoft.com/office/powerpoint/2010/main" val="10890582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FD14D8-4567-419B-A1CB-5544A0EAFACD}"/>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Every tested edit lowers mean edge F1</a:t>
            </a:r>
          </a:p>
        </p:txBody>
      </p:sp>
      <p:sp>
        <p:nvSpPr>
          <p:cNvPr id="2" name="">
            <a:extLst xmlns:a="http://schemas.openxmlformats.org/drawingml/2006/main">
              <a:ext uri="{FF2B5EF4-FFF2-40B4-BE49-F238E27FC236}">
                <a16:creationId xmlns:a16="http://schemas.microsoft.com/office/drawing/2014/main" id="{E9BE404F-DC94-4E13-94B9-B8FD6F280F6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5</a:t>
            </a:r>
          </a:p>
        </p:txBody>
      </p:sp>
      <p:sp>
        <p:nvSpPr>
          <p:cNvPr id="3" name="">
            <a:extLst xmlns:a="http://schemas.openxmlformats.org/drawingml/2006/main">
              <a:ext uri="{FF2B5EF4-FFF2-40B4-BE49-F238E27FC236}">
                <a16:creationId xmlns:a16="http://schemas.microsoft.com/office/drawing/2014/main" id="{CFB042FB-F3F6-4BB6-BAF3-4607E7EB0BA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saved model outputs, aggregate.json; edge F1 on executed tasks</a:t>
            </a:r>
          </a:p>
        </p:txBody>
      </p:sp>
      <p:graphicFrame>
        <p:nvGraphicFramePr>
          <p:cNvPr id="4" name="Chart">
            <a:extLst xmlns:a="http://schemas.openxmlformats.org/drawingml/2006/main">
              <a:ext uri="{FF2B5EF4-FFF2-40B4-BE49-F238E27FC236}">
                <a16:creationId xmlns:a16="http://schemas.microsoft.com/office/drawing/2014/main" id="{6FD7BBBF-05BC-4F19-902F-D1699DFB3764}"/>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d5265e6bcce04492"/>
          </a:graphicData>
        </a:graphic>
      </p:graphicFrame>
      <p:sp>
        <p:nvSpPr>
          <p:cNvPr id="5" name="">
            <a:extLst xmlns:a="http://schemas.openxmlformats.org/drawingml/2006/main">
              <a:ext uri="{FF2B5EF4-FFF2-40B4-BE49-F238E27FC236}">
                <a16:creationId xmlns:a16="http://schemas.microsoft.com/office/drawing/2014/main" id="{FB648D5C-F493-4B62-B97B-AECAD8B4AAB6}"/>
              </a:ext>
            </a:extLst>
          </p:cNvPr>
          <p:cNvSpPr>
            <a:spLocks xmlns:a="http://schemas.openxmlformats.org/drawingml/2006/main" noGrp="1"/>
          </p:cNvSpPr>
          <p:nvPr/>
        </p:nvSpPr>
        <p:spPr>
          <a:xfrm xmlns:a="http://schemas.openxmlformats.org/drawingml/2006/main">
            <a:off x="8048625" y="1752600"/>
            <a:ext cx="338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Exact graph matches</a:t>
            </a:r>
          </a:p>
        </p:txBody>
      </p:sp>
      <p:sp>
        <p:nvSpPr>
          <p:cNvPr id="6" name="">
            <a:extLst xmlns:a="http://schemas.openxmlformats.org/drawingml/2006/main">
              <a:ext uri="{FF2B5EF4-FFF2-40B4-BE49-F238E27FC236}">
                <a16:creationId xmlns:a16="http://schemas.microsoft.com/office/drawing/2014/main" id="{F5C23432-0D95-4FD8-A709-F19EB1659430}"/>
              </a:ext>
            </a:extLst>
          </p:cNvPr>
          <p:cNvSpPr>
            <a:spLocks xmlns:a="http://schemas.openxmlformats.org/drawingml/2006/main" noGrp="1"/>
          </p:cNvSpPr>
          <p:nvPr/>
        </p:nvSpPr>
        <p:spPr>
          <a:xfrm xmlns:a="http://schemas.openxmlformats.org/drawingml/2006/main">
            <a:off x="8048625" y="24765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B0: 11 / 15</a:t>
            </a:r>
          </a:p>
        </p:txBody>
      </p:sp>
      <p:sp>
        <p:nvSpPr>
          <p:cNvPr id="7" name="">
            <a:extLst xmlns:a="http://schemas.openxmlformats.org/drawingml/2006/main">
              <a:ext uri="{FF2B5EF4-FFF2-40B4-BE49-F238E27FC236}">
                <a16:creationId xmlns:a16="http://schemas.microsoft.com/office/drawing/2014/main" id="{B49797C8-C360-45A3-A606-12EE60BA30A6}"/>
              </a:ext>
            </a:extLst>
          </p:cNvPr>
          <p:cNvSpPr>
            <a:spLocks xmlns:a="http://schemas.openxmlformats.org/drawingml/2006/main" noGrp="1"/>
          </p:cNvSpPr>
          <p:nvPr/>
        </p:nvSpPr>
        <p:spPr>
          <a:xfrm xmlns:a="http://schemas.openxmlformats.org/drawingml/2006/main">
            <a:off x="8048625" y="31242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B1: 11 / 15</a:t>
            </a:r>
          </a:p>
        </p:txBody>
      </p:sp>
      <p:sp>
        <p:nvSpPr>
          <p:cNvPr id="8" name="">
            <a:extLst xmlns:a="http://schemas.openxmlformats.org/drawingml/2006/main">
              <a:ext uri="{FF2B5EF4-FFF2-40B4-BE49-F238E27FC236}">
                <a16:creationId xmlns:a16="http://schemas.microsoft.com/office/drawing/2014/main" id="{82236E92-2E35-499D-9FC0-C12F538083E0}"/>
              </a:ext>
            </a:extLst>
          </p:cNvPr>
          <p:cNvSpPr>
            <a:spLocks xmlns:a="http://schemas.openxmlformats.org/drawingml/2006/main" noGrp="1"/>
          </p:cNvSpPr>
          <p:nvPr/>
        </p:nvSpPr>
        <p:spPr>
          <a:xfrm xmlns:a="http://schemas.openxmlformats.org/drawingml/2006/main">
            <a:off x="8048625" y="37719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B2: 9 / 15</a:t>
            </a:r>
          </a:p>
        </p:txBody>
      </p:sp>
      <p:sp>
        <p:nvSpPr>
          <p:cNvPr id="9" name="">
            <a:extLst xmlns:a="http://schemas.openxmlformats.org/drawingml/2006/main">
              <a:ext uri="{FF2B5EF4-FFF2-40B4-BE49-F238E27FC236}">
                <a16:creationId xmlns:a16="http://schemas.microsoft.com/office/drawing/2014/main" id="{5B5EAEBD-936D-48F8-9196-93C21415A08A}"/>
              </a:ext>
            </a:extLst>
          </p:cNvPr>
          <p:cNvSpPr>
            <a:spLocks xmlns:a="http://schemas.openxmlformats.org/drawingml/2006/main" noGrp="1"/>
          </p:cNvSpPr>
          <p:nvPr/>
        </p:nvSpPr>
        <p:spPr>
          <a:xfrm xmlns:a="http://schemas.openxmlformats.org/drawingml/2006/main">
            <a:off x="8048625" y="44196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B3: 7 / 15</a:t>
            </a:r>
          </a:p>
        </p:txBody>
      </p:sp>
    </p:spTree>
    <p:extLst>
      <p:ext uri="{BB962C8B-B14F-4D97-AF65-F5344CB8AC3E}">
        <p14:creationId xmlns:p14="http://schemas.microsoft.com/office/powerpoint/2010/main" val="3220183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7964AB-8604-4663-B046-78E1E0FE5C5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Geometry scores require valid output coverage</a:t>
            </a:r>
          </a:p>
        </p:txBody>
      </p:sp>
      <p:sp>
        <p:nvSpPr>
          <p:cNvPr id="2" name="">
            <a:extLst xmlns:a="http://schemas.openxmlformats.org/drawingml/2006/main">
              <a:ext uri="{FF2B5EF4-FFF2-40B4-BE49-F238E27FC236}">
                <a16:creationId xmlns:a16="http://schemas.microsoft.com/office/drawing/2014/main" id="{8EB45D08-2A97-4F8C-A4F0-943CEF5F7CEC}"/>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6</a:t>
            </a:r>
          </a:p>
        </p:txBody>
      </p:sp>
      <p:sp>
        <p:nvSpPr>
          <p:cNvPr id="3" name="">
            <a:extLst xmlns:a="http://schemas.openxmlformats.org/drawingml/2006/main">
              <a:ext uri="{FF2B5EF4-FFF2-40B4-BE49-F238E27FC236}">
                <a16:creationId xmlns:a16="http://schemas.microsoft.com/office/drawing/2014/main" id="{EF01C722-51C7-4D30-A671-140644014BD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aggregate.json; error counts on valid scenes only</a:t>
            </a:r>
          </a:p>
        </p:txBody>
      </p:sp>
      <p:graphicFrame>
        <p:nvGraphicFramePr>
          <p:cNvPr id="4" name="Chart">
            <a:extLst xmlns:a="http://schemas.openxmlformats.org/drawingml/2006/main">
              <a:ext uri="{FF2B5EF4-FFF2-40B4-BE49-F238E27FC236}">
                <a16:creationId xmlns:a16="http://schemas.microsoft.com/office/drawing/2014/main" id="{0AFE80AD-2A4B-48C7-9C62-0B288055720F}"/>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87fbe1bb6487409f"/>
          </a:graphicData>
        </a:graphic>
      </p:graphicFrame>
      <p:sp>
        <p:nvSpPr>
          <p:cNvPr id="5" name="">
            <a:extLst xmlns:a="http://schemas.openxmlformats.org/drawingml/2006/main">
              <a:ext uri="{FF2B5EF4-FFF2-40B4-BE49-F238E27FC236}">
                <a16:creationId xmlns:a16="http://schemas.microsoft.com/office/drawing/2014/main" id="{B665CDFD-B60E-4371-83CA-879DC1C21A20}"/>
              </a:ext>
            </a:extLst>
          </p:cNvPr>
          <p:cNvSpPr>
            <a:spLocks xmlns:a="http://schemas.openxmlformats.org/drawingml/2006/main" noGrp="1"/>
          </p:cNvSpPr>
          <p:nvPr/>
        </p:nvSpPr>
        <p:spPr>
          <a:xfrm xmlns:a="http://schemas.openxmlformats.org/drawingml/2006/main">
            <a:off x="8048625" y="1752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Valid scenes / executed</a:t>
            </a:r>
          </a:p>
        </p:txBody>
      </p:sp>
      <p:sp>
        <p:nvSpPr>
          <p:cNvPr id="6" name="">
            <a:extLst xmlns:a="http://schemas.openxmlformats.org/drawingml/2006/main">
              <a:ext uri="{FF2B5EF4-FFF2-40B4-BE49-F238E27FC236}">
                <a16:creationId xmlns:a16="http://schemas.microsoft.com/office/drawing/2014/main" id="{49198D4B-6FE0-4933-AFC9-2EEEF7E26F0A}"/>
              </a:ext>
            </a:extLst>
          </p:cNvPr>
          <p:cNvSpPr>
            <a:spLocks xmlns:a="http://schemas.openxmlformats.org/drawingml/2006/main" noGrp="1"/>
          </p:cNvSpPr>
          <p:nvPr/>
        </p:nvSpPr>
        <p:spPr>
          <a:xfrm xmlns:a="http://schemas.openxmlformats.org/drawingml/2006/main">
            <a:off x="8048625" y="24765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B0: 15 / 15</a:t>
            </a:r>
          </a:p>
        </p:txBody>
      </p:sp>
      <p:sp>
        <p:nvSpPr>
          <p:cNvPr id="7" name="">
            <a:extLst xmlns:a="http://schemas.openxmlformats.org/drawingml/2006/main">
              <a:ext uri="{FF2B5EF4-FFF2-40B4-BE49-F238E27FC236}">
                <a16:creationId xmlns:a16="http://schemas.microsoft.com/office/drawing/2014/main" id="{EE938594-64D3-45E9-BC9A-618F001C15D1}"/>
              </a:ext>
            </a:extLst>
          </p:cNvPr>
          <p:cNvSpPr>
            <a:spLocks xmlns:a="http://schemas.openxmlformats.org/drawingml/2006/main" noGrp="1"/>
          </p:cNvSpPr>
          <p:nvPr/>
        </p:nvSpPr>
        <p:spPr>
          <a:xfrm xmlns:a="http://schemas.openxmlformats.org/drawingml/2006/main">
            <a:off x="8048625" y="31242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B1: 15 / 15</a:t>
            </a:r>
          </a:p>
        </p:txBody>
      </p:sp>
      <p:sp>
        <p:nvSpPr>
          <p:cNvPr id="8" name="">
            <a:extLst xmlns:a="http://schemas.openxmlformats.org/drawingml/2006/main">
              <a:ext uri="{FF2B5EF4-FFF2-40B4-BE49-F238E27FC236}">
                <a16:creationId xmlns:a16="http://schemas.microsoft.com/office/drawing/2014/main" id="{FD640DEE-FDF3-4A2F-B3B0-EB4DB00F7CFF}"/>
              </a:ext>
            </a:extLst>
          </p:cNvPr>
          <p:cNvSpPr>
            <a:spLocks xmlns:a="http://schemas.openxmlformats.org/drawingml/2006/main" noGrp="1"/>
          </p:cNvSpPr>
          <p:nvPr/>
        </p:nvSpPr>
        <p:spPr>
          <a:xfrm xmlns:a="http://schemas.openxmlformats.org/drawingml/2006/main">
            <a:off x="8048625" y="37719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B2: 15 / 15</a:t>
            </a:r>
          </a:p>
        </p:txBody>
      </p:sp>
      <p:sp>
        <p:nvSpPr>
          <p:cNvPr id="9" name="">
            <a:extLst xmlns:a="http://schemas.openxmlformats.org/drawingml/2006/main">
              <a:ext uri="{FF2B5EF4-FFF2-40B4-BE49-F238E27FC236}">
                <a16:creationId xmlns:a16="http://schemas.microsoft.com/office/drawing/2014/main" id="{A71336FA-0E7D-4E55-A40F-23A2820F7D76}"/>
              </a:ext>
            </a:extLst>
          </p:cNvPr>
          <p:cNvSpPr>
            <a:spLocks xmlns:a="http://schemas.openxmlformats.org/drawingml/2006/main" noGrp="1"/>
          </p:cNvSpPr>
          <p:nvPr/>
        </p:nvSpPr>
        <p:spPr>
          <a:xfrm xmlns:a="http://schemas.openxmlformats.org/drawingml/2006/main">
            <a:off x="8048625" y="4419600"/>
            <a:ext cx="3381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B3: 15 / 15</a:t>
            </a:r>
          </a:p>
        </p:txBody>
      </p:sp>
    </p:spTree>
    <p:extLst>
      <p:ext uri="{BB962C8B-B14F-4D97-AF65-F5344CB8AC3E}">
        <p14:creationId xmlns:p14="http://schemas.microsoft.com/office/powerpoint/2010/main" val="5451046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977122-A8CA-4CF3-BCCC-BE090ACDE69D}"/>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correction breaks an initially correct graph</a:t>
            </a:r>
          </a:p>
        </p:txBody>
      </p:sp>
      <p:sp>
        <p:nvSpPr>
          <p:cNvPr id="2" name="">
            <a:extLst xmlns:a="http://schemas.openxmlformats.org/drawingml/2006/main">
              <a:ext uri="{FF2B5EF4-FFF2-40B4-BE49-F238E27FC236}">
                <a16:creationId xmlns:a16="http://schemas.microsoft.com/office/drawing/2014/main" id="{89A0CB06-2BC4-467B-A8AD-9F6749BDD76E}"/>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7</a:t>
            </a:r>
          </a:p>
        </p:txBody>
      </p:sp>
      <p:sp>
        <p:nvSpPr>
          <p:cNvPr id="3" name="">
            <a:extLst xmlns:a="http://schemas.openxmlformats.org/drawingml/2006/main">
              <a:ext uri="{FF2B5EF4-FFF2-40B4-BE49-F238E27FC236}">
                <a16:creationId xmlns:a16="http://schemas.microsoft.com/office/drawing/2014/main" id="{346438E6-7E31-4F43-B19E-3B6574342F2A}"/>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test_chain_01, B0 and B3 scenes and metrics.csv</a:t>
            </a:r>
          </a:p>
        </p:txBody>
      </p:sp>
      <p:sp>
        <p:nvSpPr>
          <p:cNvPr id="4" name="">
            <a:extLst xmlns:a="http://schemas.openxmlformats.org/drawingml/2006/main">
              <a:ext uri="{FF2B5EF4-FFF2-40B4-BE49-F238E27FC236}">
                <a16:creationId xmlns:a16="http://schemas.microsoft.com/office/drawing/2014/main" id="{07A4C490-9E9E-4698-AA37-5FE4AAC3D422}"/>
              </a:ext>
            </a:extLst>
          </p:cNvPr>
          <p:cNvSpPr>
            <a:spLocks xmlns:a="http://schemas.openxmlformats.org/drawingml/2006/main" noGrp="1"/>
          </p:cNvSpPr>
          <p:nvPr/>
        </p:nvSpPr>
        <p:spPr>
          <a:xfrm xmlns:a="http://schemas.openxmlformats.org/drawingml/2006/main">
            <a:off x="609600" y="17526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test_chain_01: edge F1 1.00 before, 0.86 after</a:t>
            </a:r>
          </a:p>
        </p:txBody>
      </p:sp>
      <p:sp>
        <p:nvSpPr>
          <p:cNvPr id="5" name="">
            <a:extLst xmlns:a="http://schemas.openxmlformats.org/drawingml/2006/main">
              <a:ext uri="{FF2B5EF4-FFF2-40B4-BE49-F238E27FC236}">
                <a16:creationId xmlns:a16="http://schemas.microsoft.com/office/drawing/2014/main" id="{AA89E085-2886-4833-841E-6BAE630BF484}"/>
              </a:ext>
            </a:extLst>
          </p:cNvPr>
          <p:cNvSpPr>
            <a:spLocks xmlns:a="http://schemas.openxmlformats.org/drawingml/2006/main" noGrp="1"/>
          </p:cNvSpPr>
          <p:nvPr/>
        </p:nvSpPr>
        <p:spPr>
          <a:xfrm xmlns:a="http://schemas.openxmlformats.org/drawingml/2006/main">
            <a:off x="609600" y="27336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The combined edit adds unsupported connections:</a:t>
            </a:r>
          </a:p>
        </p:txBody>
      </p:sp>
      <p:sp>
        <p:nvSpPr>
          <p:cNvPr id="6" name="">
            <a:extLst xmlns:a="http://schemas.openxmlformats.org/drawingml/2006/main">
              <a:ext uri="{FF2B5EF4-FFF2-40B4-BE49-F238E27FC236}">
                <a16:creationId xmlns:a16="http://schemas.microsoft.com/office/drawing/2014/main" id="{9C1451DA-085B-472B-A105-2D2BBC988809}"/>
              </a:ext>
            </a:extLst>
          </p:cNvPr>
          <p:cNvSpPr>
            <a:spLocks xmlns:a="http://schemas.openxmlformats.org/drawingml/2006/main" noGrp="1"/>
          </p:cNvSpPr>
          <p:nvPr/>
        </p:nvSpPr>
        <p:spPr>
          <a:xfrm xmlns:a="http://schemas.openxmlformats.org/drawingml/2006/main">
            <a:off x="609600" y="36385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Attach shipping label to Parcel workflow complete (No)</a:t>
            </a:r>
          </a:p>
        </p:txBody>
      </p:sp>
      <p:sp>
        <p:nvSpPr>
          <p:cNvPr id="7" name="">
            <a:extLst xmlns:a="http://schemas.openxmlformats.org/drawingml/2006/main">
              <a:ext uri="{FF2B5EF4-FFF2-40B4-BE49-F238E27FC236}">
                <a16:creationId xmlns:a16="http://schemas.microsoft.com/office/drawing/2014/main" id="{A0F4DAEA-A8C5-4883-896B-8ED7AF4BE80D}"/>
              </a:ext>
            </a:extLst>
          </p:cNvPr>
          <p:cNvSpPr>
            <a:spLocks xmlns:a="http://schemas.openxmlformats.org/drawingml/2006/main" noGrp="1"/>
          </p:cNvSpPr>
          <p:nvPr/>
        </p:nvSpPr>
        <p:spPr>
          <a:xfrm xmlns:a="http://schemas.openxmlformats.org/drawingml/2006/main">
            <a:off x="609600" y="45148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Print shipping label to Parcel workflow complete (Yes)</a:t>
            </a:r>
          </a:p>
        </p:txBody>
      </p:sp>
    </p:spTree>
    <p:extLst>
      <p:ext uri="{BB962C8B-B14F-4D97-AF65-F5344CB8AC3E}">
        <p14:creationId xmlns:p14="http://schemas.microsoft.com/office/powerpoint/2010/main" val="24891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612E44-A50D-4D06-B622-31370E986EF6}"/>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Every correction adds CPU inference cost</a:t>
            </a:r>
          </a:p>
        </p:txBody>
      </p:sp>
      <p:sp>
        <p:nvSpPr>
          <p:cNvPr id="2" name="">
            <a:extLst xmlns:a="http://schemas.openxmlformats.org/drawingml/2006/main">
              <a:ext uri="{FF2B5EF4-FFF2-40B4-BE49-F238E27FC236}">
                <a16:creationId xmlns:a16="http://schemas.microsoft.com/office/drawing/2014/main" id="{A74879A6-247C-4814-9B6B-8B518AC2DEA9}"/>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8</a:t>
            </a:r>
          </a:p>
        </p:txBody>
      </p:sp>
      <p:sp>
        <p:nvSpPr>
          <p:cNvPr id="3" name="">
            <a:extLst xmlns:a="http://schemas.openxmlformats.org/drawingml/2006/main">
              <a:ext uri="{FF2B5EF4-FFF2-40B4-BE49-F238E27FC236}">
                <a16:creationId xmlns:a16="http://schemas.microsoft.com/office/drawing/2014/main" id="{B5930FA4-D56C-44BB-A0D6-EEE66D8C7349}"/>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call logs and aggregate.json; seconds per task</a:t>
            </a:r>
          </a:p>
        </p:txBody>
      </p:sp>
      <p:graphicFrame>
        <p:nvGraphicFramePr>
          <p:cNvPr id="4" name="Chart">
            <a:extLst xmlns:a="http://schemas.openxmlformats.org/drawingml/2006/main">
              <a:ext uri="{FF2B5EF4-FFF2-40B4-BE49-F238E27FC236}">
                <a16:creationId xmlns:a16="http://schemas.microsoft.com/office/drawing/2014/main" id="{1D7C3252-E621-4CF4-80C2-3C68CCBDE301}"/>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c76448f8f9e04af8"/>
          </a:graphicData>
        </a:graphic>
      </p:graphicFrame>
      <p:sp>
        <p:nvSpPr>
          <p:cNvPr id="5" name="">
            <a:extLst xmlns:a="http://schemas.openxmlformats.org/drawingml/2006/main">
              <a:ext uri="{FF2B5EF4-FFF2-40B4-BE49-F238E27FC236}">
                <a16:creationId xmlns:a16="http://schemas.microsoft.com/office/drawing/2014/main" id="{6F277E18-8C52-461C-9095-90CEB0A557E9}"/>
              </a:ext>
            </a:extLst>
          </p:cNvPr>
          <p:cNvSpPr>
            <a:spLocks xmlns:a="http://schemas.openxmlformats.org/drawingml/2006/main" noGrp="1"/>
          </p:cNvSpPr>
          <p:nvPr/>
        </p:nvSpPr>
        <p:spPr>
          <a:xfrm xmlns:a="http://schemas.openxmlformats.org/drawingml/2006/main">
            <a:off x="8048625" y="1905000"/>
            <a:ext cx="3381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Saved calls: 75</a:t>
            </a:r>
          </a:p>
        </p:txBody>
      </p:sp>
      <p:sp>
        <p:nvSpPr>
          <p:cNvPr id="6" name="">
            <a:extLst xmlns:a="http://schemas.openxmlformats.org/drawingml/2006/main">
              <a:ext uri="{FF2B5EF4-FFF2-40B4-BE49-F238E27FC236}">
                <a16:creationId xmlns:a16="http://schemas.microsoft.com/office/drawing/2014/main" id="{808B1937-AF06-49BF-A393-C3206076035B}"/>
              </a:ext>
            </a:extLst>
          </p:cNvPr>
          <p:cNvSpPr>
            <a:spLocks xmlns:a="http://schemas.openxmlformats.org/drawingml/2006/main" noGrp="1"/>
          </p:cNvSpPr>
          <p:nvPr/>
        </p:nvSpPr>
        <p:spPr>
          <a:xfrm xmlns:a="http://schemas.openxmlformats.org/drawingml/2006/main">
            <a:off x="8048625" y="3057525"/>
            <a:ext cx="3381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Shared calls count once in the actual total.</a:t>
            </a:r>
          </a:p>
        </p:txBody>
      </p:sp>
      <p:sp>
        <p:nvSpPr>
          <p:cNvPr id="7" name="">
            <a:extLst xmlns:a="http://schemas.openxmlformats.org/drawingml/2006/main">
              <a:ext uri="{FF2B5EF4-FFF2-40B4-BE49-F238E27FC236}">
                <a16:creationId xmlns:a16="http://schemas.microsoft.com/office/drawing/2014/main" id="{1EBCC413-677B-4D8A-8D0D-56F386BD3EB2}"/>
              </a:ext>
            </a:extLst>
          </p:cNvPr>
          <p:cNvSpPr>
            <a:spLocks xmlns:a="http://schemas.openxmlformats.org/drawingml/2006/main" noGrp="1"/>
          </p:cNvSpPr>
          <p:nvPr/>
        </p:nvSpPr>
        <p:spPr>
          <a:xfrm xmlns:a="http://schemas.openxmlformats.org/drawingml/2006/main">
            <a:off x="8048625" y="4210050"/>
            <a:ext cx="3381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Compare quality with coverage and cost.</a:t>
            </a:r>
          </a:p>
        </p:txBody>
      </p:sp>
    </p:spTree>
    <p:extLst>
      <p:ext uri="{BB962C8B-B14F-4D97-AF65-F5344CB8AC3E}">
        <p14:creationId xmlns:p14="http://schemas.microsoft.com/office/powerpoint/2010/main" val="7187832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B30C2F-CCD4-48D9-ADCA-71E5AC93453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pilot supports a limited empirical claim</a:t>
            </a:r>
          </a:p>
        </p:txBody>
      </p:sp>
      <p:sp>
        <p:nvSpPr>
          <p:cNvPr id="2" name="">
            <a:extLst xmlns:a="http://schemas.openxmlformats.org/drawingml/2006/main">
              <a:ext uri="{FF2B5EF4-FFF2-40B4-BE49-F238E27FC236}">
                <a16:creationId xmlns:a16="http://schemas.microsoft.com/office/drawing/2014/main" id="{7F58EF24-1BE6-44C9-9D79-9A0AC869C50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9</a:t>
            </a:r>
          </a:p>
        </p:txBody>
      </p:sp>
      <p:sp>
        <p:nvSpPr>
          <p:cNvPr id="3" name="">
            <a:extLst xmlns:a="http://schemas.openxmlformats.org/drawingml/2006/main">
              <a:ext uri="{FF2B5EF4-FFF2-40B4-BE49-F238E27FC236}">
                <a16:creationId xmlns:a16="http://schemas.microsoft.com/office/drawing/2014/main" id="{D7E94515-86A2-45ED-8EE6-6D1863D08D32}"/>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Sources: Qwen model card; SmolVLM GGUF card; Wang et al. (2026)</a:t>
            </a:r>
          </a:p>
        </p:txBody>
      </p:sp>
      <p:sp>
        <p:nvSpPr>
          <p:cNvPr id="4" name="">
            <a:extLst xmlns:a="http://schemas.openxmlformats.org/drawingml/2006/main">
              <a:ext uri="{FF2B5EF4-FFF2-40B4-BE49-F238E27FC236}">
                <a16:creationId xmlns:a16="http://schemas.microsoft.com/office/drawing/2014/main" id="{A1D06380-F364-46E8-98EB-E496B623F716}"/>
              </a:ext>
            </a:extLst>
          </p:cNvPr>
          <p:cNvSpPr>
            <a:spLocks xmlns:a="http://schemas.openxmlformats.org/drawingml/2006/main" noGrp="1"/>
          </p:cNvSpPr>
          <p:nvPr/>
        </p:nvSpPr>
        <p:spPr>
          <a:xfrm xmlns:a="http://schemas.openxmlformats.org/drawingml/2006/main">
            <a:off x="609600" y="16954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Small template dataset and one seed</a:t>
            </a:r>
          </a:p>
        </p:txBody>
      </p:sp>
      <p:sp>
        <p:nvSpPr>
          <p:cNvPr id="5" name="">
            <a:extLst xmlns:a="http://schemas.openxmlformats.org/drawingml/2006/main">
              <a:ext uri="{FF2B5EF4-FFF2-40B4-BE49-F238E27FC236}">
                <a16:creationId xmlns:a16="http://schemas.microsoft.com/office/drawing/2014/main" id="{C49D9081-DD51-46E6-B326-2CE358A85621}"/>
              </a:ext>
            </a:extLst>
          </p:cNvPr>
          <p:cNvSpPr>
            <a:spLocks xmlns:a="http://schemas.openxmlformats.org/drawingml/2006/main" noGrp="1"/>
          </p:cNvSpPr>
          <p:nvPr/>
        </p:nvSpPr>
        <p:spPr>
          <a:xfrm xmlns:a="http://schemas.openxmlformats.org/drawingml/2006/main">
            <a:off x="609600" y="26193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Strict labels can penalize valid rephrasings</a:t>
            </a:r>
          </a:p>
        </p:txBody>
      </p:sp>
      <p:sp>
        <p:nvSpPr>
          <p:cNvPr id="6" name="">
            <a:extLst xmlns:a="http://schemas.openxmlformats.org/drawingml/2006/main">
              <a:ext uri="{FF2B5EF4-FFF2-40B4-BE49-F238E27FC236}">
                <a16:creationId xmlns:a16="http://schemas.microsoft.com/office/drawing/2014/main" id="{7413EB4E-A22E-49B1-9E4A-03948CED670F}"/>
              </a:ext>
            </a:extLst>
          </p:cNvPr>
          <p:cNvSpPr>
            <a:spLocks xmlns:a="http://schemas.openxmlformats.org/drawingml/2006/main" noGrp="1"/>
          </p:cNvSpPr>
          <p:nvPr/>
        </p:nvSpPr>
        <p:spPr>
          <a:xfrm xmlns:a="http://schemas.openxmlformats.org/drawingml/2006/main">
            <a:off x="609600" y="35433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No human readability or regeneration baseline</a:t>
            </a:r>
          </a:p>
        </p:txBody>
      </p:sp>
      <p:sp>
        <p:nvSpPr>
          <p:cNvPr id="7" name="">
            <a:extLst xmlns:a="http://schemas.openxmlformats.org/drawingml/2006/main">
              <a:ext uri="{FF2B5EF4-FFF2-40B4-BE49-F238E27FC236}">
                <a16:creationId xmlns:a16="http://schemas.microsoft.com/office/drawing/2014/main" id="{D0D749CB-FAD7-43D0-AA11-72A9A2698B43}"/>
              </a:ext>
            </a:extLst>
          </p:cNvPr>
          <p:cNvSpPr>
            <a:spLocks xmlns:a="http://schemas.openxmlformats.org/drawingml/2006/main" noGrp="1"/>
          </p:cNvSpPr>
          <p:nvPr/>
        </p:nvSpPr>
        <p:spPr>
          <a:xfrm xmlns:a="http://schemas.openxmlformats.org/drawingml/2006/main">
            <a:off x="609600" y="44672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Models: Qwen2.5 and SmolVLM. Related work: IntroSVG</a:t>
            </a:r>
          </a:p>
        </p:txBody>
      </p:sp>
    </p:spTree>
    <p:extLst>
      <p:ext uri="{BB962C8B-B14F-4D97-AF65-F5344CB8AC3E}">
        <p14:creationId xmlns:p14="http://schemas.microsoft.com/office/powerpoint/2010/main" val="11330283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931119-C01E-4ABA-877C-419B3A534AFB}"/>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Feedback benefits depend on the observed pilot</a:t>
            </a:r>
          </a:p>
        </p:txBody>
      </p:sp>
      <p:sp>
        <p:nvSpPr>
          <p:cNvPr id="2" name="">
            <a:extLst xmlns:a="http://schemas.openxmlformats.org/drawingml/2006/main">
              <a:ext uri="{FF2B5EF4-FFF2-40B4-BE49-F238E27FC236}">
                <a16:creationId xmlns:a16="http://schemas.microsoft.com/office/drawing/2014/main" id="{B817AC77-921B-4C3B-8852-D93F7AA81A21}"/>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TEST PILOT  test_v1  10</a:t>
            </a:r>
          </a:p>
        </p:txBody>
      </p:sp>
      <p:sp>
        <p:nvSpPr>
          <p:cNvPr id="3" name="">
            <a:extLst xmlns:a="http://schemas.openxmlformats.org/drawingml/2006/main">
              <a:ext uri="{FF2B5EF4-FFF2-40B4-BE49-F238E27FC236}">
                <a16:creationId xmlns:a16="http://schemas.microsoft.com/office/drawing/2014/main" id="{4B707404-0557-46CE-8D50-BBC65AFBCEA7}"/>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Reproduction: README.md and notebooks/FlowRefine_CPU.ipynb</a:t>
            </a:r>
          </a:p>
        </p:txBody>
      </p:sp>
      <p:sp>
        <p:nvSpPr>
          <p:cNvPr id="4" name="">
            <a:extLst xmlns:a="http://schemas.openxmlformats.org/drawingml/2006/main">
              <a:ext uri="{FF2B5EF4-FFF2-40B4-BE49-F238E27FC236}">
                <a16:creationId xmlns:a16="http://schemas.microsoft.com/office/drawing/2014/main" id="{6EE6640A-A437-4A20-A7B3-D4BBEF805DFC}"/>
              </a:ext>
            </a:extLst>
          </p:cNvPr>
          <p:cNvSpPr>
            <a:spLocks xmlns:a="http://schemas.openxmlformats.org/drawingml/2006/main" noGrp="1"/>
          </p:cNvSpPr>
          <p:nvPr/>
        </p:nvSpPr>
        <p:spPr>
          <a:xfrm xmlns:a="http://schemas.openxmlformats.org/drawingml/2006/main">
            <a:off x="609600" y="1809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Every tested edit lowers mean edge F1</a:t>
            </a:r>
          </a:p>
        </p:txBody>
      </p:sp>
      <p:sp>
        <p:nvSpPr>
          <p:cNvPr id="5" name="">
            <a:extLst xmlns:a="http://schemas.openxmlformats.org/drawingml/2006/main">
              <a:ext uri="{FF2B5EF4-FFF2-40B4-BE49-F238E27FC236}">
                <a16:creationId xmlns:a16="http://schemas.microsoft.com/office/drawing/2014/main" id="{D99DC89F-FBFB-451C-9345-C447D94DD1C6}"/>
              </a:ext>
            </a:extLst>
          </p:cNvPr>
          <p:cNvSpPr>
            <a:spLocks xmlns:a="http://schemas.openxmlformats.org/drawingml/2006/main" noGrp="1"/>
          </p:cNvSpPr>
          <p:nvPr/>
        </p:nvSpPr>
        <p:spPr>
          <a:xfrm xmlns:a="http://schemas.openxmlformats.org/drawingml/2006/main">
            <a:off x="609600" y="28765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The system produces auditable SVG, JSON and CPU logs.</a:t>
            </a:r>
          </a:p>
        </p:txBody>
      </p:sp>
      <p:sp>
        <p:nvSpPr>
          <p:cNvPr id="6" name="">
            <a:extLst xmlns:a="http://schemas.openxmlformats.org/drawingml/2006/main">
              <a:ext uri="{FF2B5EF4-FFF2-40B4-BE49-F238E27FC236}">
                <a16:creationId xmlns:a16="http://schemas.microsoft.com/office/drawing/2014/main" id="{43B683AC-94EC-4DC5-8756-95E2E593FFFE}"/>
              </a:ext>
            </a:extLst>
          </p:cNvPr>
          <p:cNvSpPr>
            <a:spLocks xmlns:a="http://schemas.openxmlformats.org/drawingml/2006/main" noGrp="1"/>
          </p:cNvSpPr>
          <p:nvPr/>
        </p:nvSpPr>
        <p:spPr>
          <a:xfrm xmlns:a="http://schemas.openxmlformats.org/drawingml/2006/main">
            <a:off x="609600" y="3943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Broader claims need stronger critics and new tasks.</a:t>
            </a:r>
          </a:p>
        </p:txBody>
      </p:sp>
      <p:sp>
        <p:nvSpPr>
          <p:cNvPr id="7" name="">
            <a:extLst xmlns:a="http://schemas.openxmlformats.org/drawingml/2006/main">
              <a:ext uri="{FF2B5EF4-FFF2-40B4-BE49-F238E27FC236}">
                <a16:creationId xmlns:a16="http://schemas.microsoft.com/office/drawing/2014/main" id="{5B99A0DA-55E4-472F-AE47-824544C9918C}"/>
              </a:ext>
            </a:extLst>
          </p:cNvPr>
          <p:cNvSpPr>
            <a:spLocks xmlns:a="http://schemas.openxmlformats.org/drawingml/2006/main" noGrp="1"/>
          </p:cNvSpPr>
          <p:nvPr/>
        </p:nvSpPr>
        <p:spPr>
          <a:xfrm xmlns:a="http://schemas.openxmlformats.org/drawingml/2006/main">
            <a:off x="609600" y="5343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xmlns:a="http://schemas.openxmlformats.org/drawingml/2006/main">
            <a:pPr>
              <a:defRPr sz="1800" b="0">
                <a:solidFill>
                  <a:srgbClr val="1F4E79"/>
                </a:solidFill>
                <a:latin typeface="Arial"/>
                <a:ea typeface="Arial"/>
                <a:cs typeface="Arial"/>
              </a:defRPr>
            </a:pPr>
            <a:r>
              <a:rPr sz="1800" b="0">
                <a:solidFill>
                  <a:srgbClr val="1F4E79"/>
                </a:solidFill>
                <a:latin typeface="Arial"/>
                <a:ea typeface="Arial"/>
                <a:cs typeface="Arial"/>
              </a:rPr>
              <a:t>Run: test_v1, tasks: 15, README.md</a:t>
            </a:r>
          </a:p>
        </p:txBody>
      </p:sp>
    </p:spTree>
    <p:extLst>
      <p:ext uri="{BB962C8B-B14F-4D97-AF65-F5344CB8AC3E}">
        <p14:creationId xmlns:p14="http://schemas.microsoft.com/office/powerpoint/2010/main" val="1232788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2026-10-24T11:58:40.5190000Z</dcterms:created>
  <dcterms:modified xsi:type="dcterms:W3CDTF">2026-10-24T11:58:40.5190000Z</dcterms:modified>
</coreProperties>
</file>