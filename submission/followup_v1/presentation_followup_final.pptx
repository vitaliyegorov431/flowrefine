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8182fcfd4174e74" /><Relationship Type="http://schemas.openxmlformats.org/officeDocument/2006/relationships/extended-properties" Target="/docProps/app.xml" Id="R90c818b78b1b4880" /><Relationship Type="http://schemas.openxmlformats.org/officeDocument/2006/relationships/officeDocument" Target="/ppt/presentation.xml" Id="R1a2fbb89002746b3" /></Relationships>
</file>

<file path=ppt/presentation.xml><?xml version="1.0" encoding="utf-8"?>
<p:presentation xmlns:p="http://schemas.openxmlformats.org/presentationml/2006/main">
  <p:sldMasterIdLst>
    <p:sldMasterId xmlns:r="http://schemas.openxmlformats.org/officeDocument/2006/relationships" id="2147483648" r:id="R1685f8acc2d0484c"/>
  </p:sldMasterIdLst>
  <p:notesMasterIdLst>
    <p:notesMasterId xmlns:r="http://schemas.openxmlformats.org/officeDocument/2006/relationships" r:id="Rc692434574644a4f"/>
  </p:notesMasterIdLst>
  <p:sldIdLst>
    <p:sldId xmlns:r="http://schemas.openxmlformats.org/officeDocument/2006/relationships" id="256" r:id="R6c6ea5496efa4cce"/>
    <p:sldId xmlns:r="http://schemas.openxmlformats.org/officeDocument/2006/relationships" id="257" r:id="Rfa3c02fb449b4c5a"/>
    <p:sldId xmlns:r="http://schemas.openxmlformats.org/officeDocument/2006/relationships" id="258" r:id="R24ca33db10dd43b0"/>
    <p:sldId xmlns:r="http://schemas.openxmlformats.org/officeDocument/2006/relationships" id="259" r:id="R94319c483c8042ed"/>
    <p:sldId xmlns:r="http://schemas.openxmlformats.org/officeDocument/2006/relationships" id="260" r:id="R0e1b82fe697345be"/>
    <p:sldId xmlns:r="http://schemas.openxmlformats.org/officeDocument/2006/relationships" id="261" r:id="Ra77b4c24e6f64076"/>
    <p:sldId xmlns:r="http://schemas.openxmlformats.org/officeDocument/2006/relationships" id="262" r:id="Rdd18efbfed00489c"/>
    <p:sldId xmlns:r="http://schemas.openxmlformats.org/officeDocument/2006/relationships" id="263" r:id="Rec81431f92434971"/>
    <p:sldId xmlns:r="http://schemas.openxmlformats.org/officeDocument/2006/relationships" id="264" r:id="R781c4c6bc8ea473b"/>
    <p:sldId xmlns:r="http://schemas.openxmlformats.org/officeDocument/2006/relationships" id="265" r:id="Ra7a6bf3c868e4e6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a5d9d0d3e524716" /><Relationship Type="http://schemas.openxmlformats.org/officeDocument/2006/relationships/slideMaster" Target="/ppt/slideMasters/slideMaster1.xml" Id="R1685f8acc2d0484c" /><Relationship Type="http://schemas.openxmlformats.org/officeDocument/2006/relationships/notesMaster" Target="/ppt/notesMasters/notesMaster1.xml" Id="Rc692434574644a4f" /><Relationship Type="http://schemas.openxmlformats.org/officeDocument/2006/relationships/presProps" Target="/ppt/presProps.xml" Id="Rdd4e96da28b54e96" /><Relationship Type="http://schemas.openxmlformats.org/officeDocument/2006/relationships/tableStyles" Target="/ppt/tableStyles.xml" Id="Ra29f9a38fe054393" /><Relationship Type="http://schemas.openxmlformats.org/officeDocument/2006/relationships/slide" Target="/ppt/slides/slide1.xml" Id="R6c6ea5496efa4cce" /><Relationship Type="http://schemas.openxmlformats.org/officeDocument/2006/relationships/slide" Target="/ppt/slides/slide2.xml" Id="Rfa3c02fb449b4c5a" /><Relationship Type="http://schemas.openxmlformats.org/officeDocument/2006/relationships/slide" Target="/ppt/slides/slide3.xml" Id="R24ca33db10dd43b0" /><Relationship Type="http://schemas.openxmlformats.org/officeDocument/2006/relationships/slide" Target="/ppt/slides/slide4.xml" Id="R94319c483c8042ed" /><Relationship Type="http://schemas.openxmlformats.org/officeDocument/2006/relationships/slide" Target="/ppt/slides/slide5.xml" Id="R0e1b82fe697345be" /><Relationship Type="http://schemas.openxmlformats.org/officeDocument/2006/relationships/slide" Target="/ppt/slides/slide6.xml" Id="Ra77b4c24e6f64076" /><Relationship Type="http://schemas.openxmlformats.org/officeDocument/2006/relationships/slide" Target="/ppt/slides/slide7.xml" Id="Rdd18efbfed00489c" /><Relationship Type="http://schemas.openxmlformats.org/officeDocument/2006/relationships/slide" Target="/ppt/slides/slide8.xml" Id="Rec81431f92434971" /><Relationship Type="http://schemas.openxmlformats.org/officeDocument/2006/relationships/slide" Target="/ppt/slides/slide9.xml" Id="R781c4c6bc8ea473b" /><Relationship Type="http://schemas.openxmlformats.org/officeDocument/2006/relationships/slide" Target="/ppt/slides/slide10.xml" Id="Ra7a6bf3c868e4e6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c37ee691cc54d3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fed2cce97fc49b0" /><Relationship Type="http://schemas.openxmlformats.org/officeDocument/2006/relationships/notesMaster" Target="/ppt/notesMasters/notesMaster1.xml" Id="Ra0019cc48865446e" /></Relationships>
</file>

<file path=ppt/notesSlides/_rels/notesSlide2.xml.rels>&#65279;<?xml version="1.0" encoding="utf-8"?><Relationships xmlns="http://schemas.openxmlformats.org/package/2006/relationships"><Relationship Type="http://schemas.openxmlformats.org/officeDocument/2006/relationships/slide" Target="/ppt/slides/slide2.xml" Id="Rd50046ff330b4d4b" /><Relationship Type="http://schemas.openxmlformats.org/officeDocument/2006/relationships/notesMaster" Target="/ppt/notesMasters/notesMaster1.xml" Id="R6ab0034c511e4f41"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1175a3e1b74cd8" /><Relationship Type="http://schemas.openxmlformats.org/officeDocument/2006/relationships/notesMaster" Target="/ppt/notesMasters/notesMaster1.xml" Id="R3aa7c1e7ab444a42" /></Relationships>
</file>

<file path=ppt/notesSlides/_rels/notesSlide4.xml.rels>&#65279;<?xml version="1.0" encoding="utf-8"?><Relationships xmlns="http://schemas.openxmlformats.org/package/2006/relationships"><Relationship Type="http://schemas.openxmlformats.org/officeDocument/2006/relationships/slide" Target="/ppt/slides/slide4.xml" Id="R1ed9065f8d084198" /><Relationship Type="http://schemas.openxmlformats.org/officeDocument/2006/relationships/notesMaster" Target="/ppt/notesMasters/notesMaster1.xml" Id="R970ace8335184492" /></Relationships>
</file>

<file path=ppt/notesSlides/_rels/notesSlide5.xml.rels>&#65279;<?xml version="1.0" encoding="utf-8"?><Relationships xmlns="http://schemas.openxmlformats.org/package/2006/relationships"><Relationship Type="http://schemas.openxmlformats.org/officeDocument/2006/relationships/slide" Target="/ppt/slides/slide5.xml" Id="R5bb7e4d9473545f0" /><Relationship Type="http://schemas.openxmlformats.org/officeDocument/2006/relationships/notesMaster" Target="/ppt/notesMasters/notesMaster1.xml" Id="R64418758f2b744c4" /></Relationships>
</file>

<file path=ppt/notesSlides/_rels/notesSlide6.xml.rels>&#65279;<?xml version="1.0" encoding="utf-8"?><Relationships xmlns="http://schemas.openxmlformats.org/package/2006/relationships"><Relationship Type="http://schemas.openxmlformats.org/officeDocument/2006/relationships/slide" Target="/ppt/slides/slide6.xml" Id="R6f5056cddeb040ea" /><Relationship Type="http://schemas.openxmlformats.org/officeDocument/2006/relationships/notesMaster" Target="/ppt/notesMasters/notesMaster1.xml" Id="R430bb673f96d40dd" /></Relationships>
</file>

<file path=ppt/notesSlides/_rels/notesSlide7.xml.rels>&#65279;<?xml version="1.0" encoding="utf-8"?><Relationships xmlns="http://schemas.openxmlformats.org/package/2006/relationships"><Relationship Type="http://schemas.openxmlformats.org/officeDocument/2006/relationships/slide" Target="/ppt/slides/slide7.xml" Id="Raa35ba321530445a" /><Relationship Type="http://schemas.openxmlformats.org/officeDocument/2006/relationships/notesMaster" Target="/ppt/notesMasters/notesMaster1.xml" Id="R9da5238efc5b4d69" /></Relationships>
</file>

<file path=ppt/notesSlides/_rels/notesSlide8.xml.rels>&#65279;<?xml version="1.0" encoding="utf-8"?><Relationships xmlns="http://schemas.openxmlformats.org/package/2006/relationships"><Relationship Type="http://schemas.openxmlformats.org/officeDocument/2006/relationships/slide" Target="/ppt/slides/slide8.xml" Id="Reea74f6e7e9a43a2" /><Relationship Type="http://schemas.openxmlformats.org/officeDocument/2006/relationships/notesMaster" Target="/ppt/notesMasters/notesMaster1.xml" Id="Rd56fb24ab178462b" /></Relationships>
</file>

<file path=ppt/notesSlides/_rels/notesSlide9.xml.rels>&#65279;<?xml version="1.0" encoding="utf-8"?><Relationships xmlns="http://schemas.openxmlformats.org/package/2006/relationships"><Relationship Type="http://schemas.openxmlformats.org/officeDocument/2006/relationships/slide" Target="/ppt/slides/slide9.xml" Id="Rf05e57cb0af84beb" /><Relationship Type="http://schemas.openxmlformats.org/officeDocument/2006/relationships/notesMaster" Target="/ppt/notesMasters/notesMaster1.xml" Id="Rb40eb4759f12408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f49283495e94de8" /><Relationship Type="http://schemas.openxmlformats.org/officeDocument/2006/relationships/notesMaster" Target="/ppt/notesMasters/notesMaster1.xml" Id="Ra4b21eb35650436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Pretrained CPU models; no training. AI-assisted implementation and synthetic tasks. Original frozen test and later exploratory additions are explicitly distinguished.</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Generative AI final project | 24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question: whether deterministic or image-conditioned criticism improves graph correctness and layout. Later exploratory questions: whether editing alone changes correctness, and whether coordinates can be changed safely. No causal or universal claim follows from one seed and template-based tasks.</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Source: baseline report; follow-up protocol and saved manifests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B0-B3 are the original frozen experiment, not rerun. C0/L3 were designed after seeing original test outcomes. C0 is feedback-free editing, not independent generation or a perfectly single-variable ablation: the final instruction differs. L3 reuses saved B0 geometry and visual feedback and uses a different constrained output schema. No new visual-model call. The initial L3 format produced eight invalid saved scenes in sixteen logged calls, then one response was interrupted before persistence. A revised schema was tested on development and saved separately in layout_v2; the final L3 values describe that revision. All failed calls are retained and included in logged follow-up cost; interrupted cost is unknown. All models receive public descriptions only; references enter evaluation.</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Source: frozen_protocol.json; followup.py; run manifests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frozen results only. Node labels/types and labeled directed edges matched exactly after normalization. All 60 scenes valid. No original edit fixes an initially incorrect graph to exact correctness. Partial F1 changes and regressions are shown separately in the supplement.</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Source: frozen analysis/test_v1/aggregate.json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F1 up/down counts refer to edge F1. Exact fixed means incorrect B0 becomes exactly correct; broken means correct B0 becomes incorrect. All fifteen tasks are included. L3 preserves graph semantics by code, not model reasoning. C0 is post-test and one deterministic run.</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Source: analysis/followup_v1/metrics.csv; all changes paired to B0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Exploratory feedback-free editing control C0 is compared descriptively to B0 and B3 on the same saved tasks. The final instruction wording differs, so this is not a perfectly isolated causal ablation. No independent-regeneration arm, repeats or new held-out tasks.</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Source: follow-up C0 and frozen B0/B3 saved 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program reconstructs all nodes and edges from B0 and accepts only model coordinates. Semantic preservation is guaranteed by code, not learned. L3 cannot fix an incorrect B0 graph. Geometry proxies are not human readability. A different constrained schema and shorter output prevent attribution of cost changes to feedback quality alone.</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Source: revised runs/layout_v2; failed format attempt preserved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Affected four-node subgraph only; the earlier start, receive and weigh stages are omitted. All three original unlabeled edges remain in B3. Added unsupported edges are Print shipping label to Parcel workflow complete labeled Yes and Attach shipping label to Parcel workflow complete labeled No. The quote is a saved model output, not ground truth; edge additions illustrate association, not a proved causal mechanism. All nodes, labels, route segments and arrowheads are editable native slide objects.</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Affected subgraph: test_chain_01 B0/B3; saved scenes and visual feedback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Qwen: https://huggingface.co/Qwen/Qwen2.5-3B-Instruct-GGUF</a:t>
            </a:r>
          </a:p>
          <a:p xmlns:a="http://schemas.openxmlformats.org/drawingml/2006/main">
            <a:r>
              <a:t>SmolVLM: https://huggingface.co/ggml-org/SmolVLM-256M-Instruct-GGUF</a:t>
            </a:r>
          </a:p>
          <a:p xmlns:a="http://schemas.openxmlformats.org/drawingml/2006/main">
            <a:r>
              <a:t>Dataset and analysis are original AI-assisted project artifacts. No training, human readability experiment, unseen topology test or stronger-critic comparison. Detailed audit and case evidence are in the supplemental report and analysis directory.</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Sources: dataset card; manifests; critic audit; pretrained model cards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frozen result: criticism does not improve mean edge F1. Follow-up adds a descriptive feedback-free control and an enforceable topology constraint. Interpret measured C0 outcomes and geometry separately. Stronger critics, new held-out tasks, repetitions and human readability study remain future work. Original artifacts remain preserved. No public publication or submission is performed.</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Reproduction and saved demonstration: README.md; demo/followup.html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4b4fb2a4143433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5dbc7bdb2604f3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c20f923220b482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393d58fe3344f2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93de320b60e4f6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0871e49a9fb41c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9D1290B-0FE8-4CC7-852B-BAFFB18F4AA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11D86DC-746B-449C-AEA5-EAF1C3AC59E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9EE5206-359D-47F8-BF17-49BE4AC3CBC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1D95F28-7831-4848-BDB9-944A6AE65A9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1CB6BA1-31F6-4F4E-B11E-D53C538525D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7484782-E9AF-4FF4-8E3B-CE908AA94CE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EDC77B2-E616-4615-A29B-E748470623B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680D8EA-EBD9-4940-921D-6A7963B9C7E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06C076D-6EEA-43C2-813E-CCB1C20F43E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6C2CCCE-E833-4812-A55F-36A5D8BD0D9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14d57df42814ed8" /><Relationship Type="http://schemas.openxmlformats.org/officeDocument/2006/relationships/slideLayout" Target="/ppt/slideLayouts/slideLayout1.xml" Id="Rb95e24da88594b78" /><Relationship Type="http://schemas.openxmlformats.org/officeDocument/2006/relationships/slideLayout" Target="/ppt/slideLayouts/slideLayout2.xml" Id="Rbc4e482008064e39" /><Relationship Type="http://schemas.openxmlformats.org/officeDocument/2006/relationships/slideLayout" Target="/ppt/slideLayouts/slideLayout3.xml" Id="Re7de653691ba49b1" /><Relationship Type="http://schemas.openxmlformats.org/officeDocument/2006/relationships/slideLayout" Target="/ppt/slideLayouts/slideLayout4.xml" Id="R1722104c2dfb4bb5" /><Relationship Type="http://schemas.openxmlformats.org/officeDocument/2006/relationships/slideLayout" Target="/ppt/slideLayouts/slideLayout5.xml" Id="Rd8d40263488d453c" /><Relationship Type="http://schemas.openxmlformats.org/officeDocument/2006/relationships/slideLayout" Target="/ppt/slideLayouts/slideLayout6.xml" Id="R3f33b7f435ab43d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95e24da88594b78"/>
    <p:sldLayoutId xmlns:r="http://schemas.openxmlformats.org/officeDocument/2006/relationships" id="2147483650" r:id="Rbc4e482008064e39"/>
    <p:sldLayoutId xmlns:r="http://schemas.openxmlformats.org/officeDocument/2006/relationships" id="2147483651" r:id="Re7de653691ba49b1"/>
    <p:sldLayoutId xmlns:r="http://schemas.openxmlformats.org/officeDocument/2006/relationships" id="2147483652" r:id="R1722104c2dfb4bb5"/>
    <p:sldLayoutId xmlns:r="http://schemas.openxmlformats.org/officeDocument/2006/relationships" id="2147483653" r:id="Rd8d40263488d453c"/>
    <p:sldLayoutId xmlns:r="http://schemas.openxmlformats.org/officeDocument/2006/relationships" id="2147483654" r:id="R3f33b7f435ab43d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f73e630358d4f3f" /><Relationship Type="http://schemas.openxmlformats.org/officeDocument/2006/relationships/notesSlide" Target="/ppt/notesSlides/notesSlide1.xml" Id="R9aaf34d6ed434cc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bca79c107c64d9b" /><Relationship Type="http://schemas.openxmlformats.org/officeDocument/2006/relationships/notesSlide" Target="/ppt/notesSlides/notesSlide2.xml" Id="R3d34ecf8402146d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26f7fb3f1174e89" /><Relationship Type="http://schemas.openxmlformats.org/officeDocument/2006/relationships/notesSlide" Target="/ppt/notesSlides/notesSlide3.xml" Id="R04fe6150d28b419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825c87fb55a42ef" /><Relationship Type="http://schemas.openxmlformats.org/officeDocument/2006/relationships/chart" Target="/ppt/slides/charts/chart1.xml" Id="R3df6122c3b994006" /><Relationship Type="http://schemas.openxmlformats.org/officeDocument/2006/relationships/notesSlide" Target="/ppt/notesSlides/notesSlide4.xml" Id="R8a7a0b87daa14f4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c484fddfd5b4295" /><Relationship Type="http://schemas.openxmlformats.org/officeDocument/2006/relationships/notesSlide" Target="/ppt/notesSlides/notesSlide5.xml" Id="R75cb277b07fe4dc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db91f8f3fb9483d" /><Relationship Type="http://schemas.openxmlformats.org/officeDocument/2006/relationships/chart" Target="/ppt/slides/charts/chart2.xml" Id="R81bd6a37258b4977" /><Relationship Type="http://schemas.openxmlformats.org/officeDocument/2006/relationships/notesSlide" Target="/ppt/notesSlides/notesSlide6.xml" Id="Ra087181be2c64b7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c71d16a637c4244" /><Relationship Type="http://schemas.openxmlformats.org/officeDocument/2006/relationships/chart" Target="/ppt/slides/charts/chart3.xml" Id="Rac8edb22af6a4641" /><Relationship Type="http://schemas.openxmlformats.org/officeDocument/2006/relationships/notesSlide" Target="/ppt/notesSlides/notesSlide7.xml" Id="R1236b21a54a44d8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69322a35f314137" /><Relationship Type="http://schemas.openxmlformats.org/officeDocument/2006/relationships/notesSlide" Target="/ppt/notesSlides/notesSlide8.xml" Id="Rd4ea33188e694e6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0339a7afea844e4" /><Relationship Type="http://schemas.openxmlformats.org/officeDocument/2006/relationships/notesSlide" Target="/ppt/notesSlides/notesSlide9.xml" Id="R9a9440f4db46438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c3faf5ce4304263" /><Relationship Type="http://schemas.openxmlformats.org/officeDocument/2006/relationships/notesSlide" Target="/ppt/notesSlides/notesSlide10.xml" Id="R8b9731908f8b413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edge F1</c:v>
          </c:tx>
          <c:spPr>
            <a:solidFill xmlns:a="http://schemas.openxmlformats.org/drawingml/2006/main">
              <a:srgbClr val="2E75B6"/>
            </a:solidFill>
          </c:spPr>
          <c:invertIfNegative val="0"/>
          <c:cat>
            <c:strRef>
              <c:f>'Chart Data'!$A$2:$A$5</c:f>
              <c:strCache>
                <c:ptCount val="4"/>
                <c:pt idx="0">
                  <c:v>B0</c:v>
                </c:pt>
                <c:pt idx="1">
                  <c:v>B1</c:v>
                </c:pt>
                <c:pt idx="2">
                  <c:v>B2</c:v>
                </c:pt>
                <c:pt idx="3">
                  <c:v>B3</c:v>
                </c:pt>
              </c:strCache>
            </c:strRef>
          </c:cat>
          <c:val>
            <c:numRef>
              <c:f>'Chart Data'!$B$2:$B$5</c:f>
              <c:numCache>
                <c:formatCode>0.00</c:formatCode>
                <c:ptCount val="4"/>
                <c:pt idx="0">
                  <c:v>0.956777</c:v>
                </c:pt>
                <c:pt idx="1">
                  <c:v>0.941343</c:v>
                </c:pt>
                <c:pt idx="2">
                  <c:v>0.911767</c:v>
                </c:pt>
                <c:pt idx="3">
                  <c:v>0.899072</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b="1">
                  <a:solidFill>
                    <a:srgbClr val="1F4E79"/>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1F4E79"/>
                </a:solidFill>
                <a:latin typeface="Arial"/>
                <a:ea typeface="Arial"/>
                <a:cs typeface="Arial"/>
              </a:defRPr>
            </a:pPr>
          </a:p>
        </c:txPr>
        <c:crossAx val="48672768"/>
      </c:catAx>
      <c:valAx>
        <c:axId val="48672768"/>
        <c:scaling>
          <c:orientation val="minMax"/>
          <c:max val="1.12"/>
          <c:min val="0"/>
        </c:scaling>
        <c:delete val="0"/>
        <c:axPos val="l"/>
        <c:majorGridlines>
          <c:spPr>
            <a:ln xmlns:a="http://schemas.openxmlformats.org/drawingml/2006/main" w="9525">
              <a:solidFill>
                <a:srgbClr val="DCE6F1"/>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F4E79"/>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edge F1</c:v>
          </c:tx>
          <c:spPr>
            <a:solidFill xmlns:a="http://schemas.openxmlformats.org/drawingml/2006/main">
              <a:srgbClr val="2E75B6"/>
            </a:solidFill>
          </c:spPr>
          <c:invertIfNegative val="0"/>
          <c:cat>
            <c:strRef>
              <c:f>'Chart Data'!$A$2:$A$4</c:f>
              <c:strCache>
                <c:ptCount val="3"/>
                <c:pt idx="0">
                  <c:v>B0</c:v>
                </c:pt>
                <c:pt idx="1">
                  <c:v>B3</c:v>
                </c:pt>
                <c:pt idx="2">
                  <c:v>C0</c:v>
                </c:pt>
              </c:strCache>
            </c:strRef>
          </c:cat>
          <c:val>
            <c:numRef>
              <c:f>'Chart Data'!$B$2:$B$4</c:f>
              <c:numCache>
                <c:formatCode>0.00</c:formatCode>
                <c:ptCount val="3"/>
                <c:pt idx="0">
                  <c:v>0.956777</c:v>
                </c:pt>
                <c:pt idx="1">
                  <c:v>0.899072</c:v>
                </c:pt>
                <c:pt idx="2">
                  <c:v>0.956777</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b="1">
                  <a:solidFill>
                    <a:srgbClr val="1F4E79"/>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1F4E79"/>
                </a:solidFill>
                <a:latin typeface="Arial"/>
                <a:ea typeface="Arial"/>
                <a:cs typeface="Arial"/>
              </a:defRPr>
            </a:pPr>
          </a:p>
        </c:txPr>
        <c:crossAx val="48672768"/>
      </c:catAx>
      <c:valAx>
        <c:axId val="48672768"/>
        <c:scaling>
          <c:orientation val="minMax"/>
          <c:max val="1.12"/>
          <c:min val="0"/>
        </c:scaling>
        <c:delete val="0"/>
        <c:axPos val="l"/>
        <c:majorGridlines>
          <c:spPr>
            <a:ln xmlns:a="http://schemas.openxmlformats.org/drawingml/2006/main" w="9525">
              <a:solidFill>
                <a:srgbClr val="DCE6F1"/>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F4E79"/>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geometry errors</c:v>
          </c:tx>
          <c:spPr>
            <a:solidFill xmlns:a="http://schemas.openxmlformats.org/drawingml/2006/main">
              <a:srgbClr val="2E75B6"/>
            </a:solidFill>
          </c:spPr>
          <c:invertIfNegative val="0"/>
          <c:cat>
            <c:strRef>
              <c:f>'Chart Data'!$A$2:$A$4</c:f>
              <c:strCache>
                <c:ptCount val="3"/>
                <c:pt idx="0">
                  <c:v>B0</c:v>
                </c:pt>
                <c:pt idx="1">
                  <c:v>B3</c:v>
                </c:pt>
                <c:pt idx="2">
                  <c:v>L3 v2</c:v>
                </c:pt>
              </c:strCache>
            </c:strRef>
          </c:cat>
          <c:val>
            <c:numRef>
              <c:f>'Chart Data'!$B$2:$B$4</c:f>
              <c:numCache>
                <c:formatCode>0.00</c:formatCode>
                <c:ptCount val="3"/>
                <c:pt idx="0">
                  <c:v>0.333333</c:v>
                </c:pt>
                <c:pt idx="1">
                  <c:v>0.866667</c:v>
                </c:pt>
                <c:pt idx="2">
                  <c:v>0.466667</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b="1">
                  <a:solidFill>
                    <a:srgbClr val="1F4E79"/>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1F4E79"/>
                </a:solidFill>
                <a:latin typeface="Arial"/>
                <a:ea typeface="Arial"/>
                <a:cs typeface="Arial"/>
              </a:defRPr>
            </a:pPr>
          </a:p>
        </c:txPr>
        <c:crossAx val="48672768"/>
      </c:catAx>
      <c:valAx>
        <c:axId val="48672768"/>
        <c:scaling>
          <c:orientation val="minMax"/>
          <c:max val="1.2"/>
          <c:min val="0"/>
        </c:scaling>
        <c:delete val="0"/>
        <c:axPos val="l"/>
        <c:majorGridlines>
          <c:spPr>
            <a:ln xmlns:a="http://schemas.openxmlformats.org/drawingml/2006/main" w="9525">
              <a:solidFill>
                <a:srgbClr val="DCE6F1"/>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F4E79"/>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B40B4F9-1A1A-4E74-B9B5-6D34FC4D5496}"/>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FlowRefine</a:t>
            </a:r>
          </a:p>
        </p:txBody>
      </p:sp>
      <p:sp>
        <p:nvSpPr>
          <p:cNvPr id="2" name="">
            <a:extLst xmlns:a="http://schemas.openxmlformats.org/drawingml/2006/main">
              <a:ext uri="{FF2B5EF4-FFF2-40B4-BE49-F238E27FC236}">
                <a16:creationId xmlns:a16="http://schemas.microsoft.com/office/drawing/2014/main" id="{13C9BBFB-2226-4BE3-9054-46DAEF5C68F1}"/>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1</a:t>
            </a:r>
          </a:p>
        </p:txBody>
      </p:sp>
      <p:sp>
        <p:nvSpPr>
          <p:cNvPr id="3" name="">
            <a:extLst xmlns:a="http://schemas.openxmlformats.org/drawingml/2006/main">
              <a:ext uri="{FF2B5EF4-FFF2-40B4-BE49-F238E27FC236}">
                <a16:creationId xmlns:a16="http://schemas.microsoft.com/office/drawing/2014/main" id="{3214C873-0E96-454C-AAD8-191C09024138}"/>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Generative AI final project | 24 October 2026</a:t>
            </a:r>
          </a:p>
        </p:txBody>
      </p:sp>
      <p:sp>
        <p:nvSpPr>
          <p:cNvPr id="4" name="">
            <a:extLst xmlns:a="http://schemas.openxmlformats.org/drawingml/2006/main">
              <a:ext uri="{FF2B5EF4-FFF2-40B4-BE49-F238E27FC236}">
                <a16:creationId xmlns:a16="http://schemas.microsoft.com/office/drawing/2014/main" id="{90C630AD-9A25-4EFF-9F29-3380C6DC7D11}"/>
              </a:ext>
            </a:extLst>
          </p:cNvPr>
          <p:cNvSpPr>
            <a:spLocks xmlns:a="http://schemas.openxmlformats.org/drawingml/2006/main" noGrp="1"/>
          </p:cNvSpPr>
          <p:nvPr/>
        </p:nvSpPr>
        <p:spPr>
          <a:xfrm xmlns:a="http://schemas.openxmlformats.org/drawingml/2006/main">
            <a:off x="609600" y="1809750"/>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900" b="1">
                <a:solidFill>
                  <a:srgbClr val="1F4E79"/>
                </a:solidFill>
                <a:latin typeface="Arial"/>
                <a:ea typeface="Arial"/>
                <a:cs typeface="Arial"/>
              </a:defRPr>
            </a:defPPr>
            <a:lvl1pPr>
              <a:defRPr sz="3900" b="1">
                <a:solidFill>
                  <a:srgbClr val="1F4E79"/>
                </a:solidFill>
                <a:latin typeface="Arial"/>
                <a:ea typeface="Arial"/>
                <a:cs typeface="Arial"/>
              </a:defRPr>
            </a:lvl1pPr>
            <a:lvl2pPr>
              <a:defRPr sz="3900" b="1">
                <a:solidFill>
                  <a:srgbClr val="1F4E79"/>
                </a:solidFill>
                <a:latin typeface="Arial"/>
                <a:ea typeface="Arial"/>
                <a:cs typeface="Arial"/>
              </a:defRPr>
            </a:lvl2pPr>
            <a:lvl3pPr>
              <a:defRPr sz="3900" b="1">
                <a:solidFill>
                  <a:srgbClr val="1F4E79"/>
                </a:solidFill>
                <a:latin typeface="Arial"/>
                <a:ea typeface="Arial"/>
                <a:cs typeface="Arial"/>
              </a:defRPr>
            </a:lvl3pPr>
            <a:lvl4pPr>
              <a:defRPr sz="3900" b="1">
                <a:solidFill>
                  <a:srgbClr val="1F4E79"/>
                </a:solidFill>
                <a:latin typeface="Arial"/>
                <a:ea typeface="Arial"/>
                <a:cs typeface="Arial"/>
              </a:defRPr>
            </a:lvl4pPr>
            <a:lvl5pPr>
              <a:defRPr sz="3900" b="1">
                <a:solidFill>
                  <a:srgbClr val="1F4E79"/>
                </a:solidFill>
                <a:latin typeface="Arial"/>
                <a:ea typeface="Arial"/>
                <a:cs typeface="Arial"/>
              </a:defRPr>
            </a:lvl5pPr>
            <a:lvl6pPr>
              <a:defRPr sz="3900" b="1">
                <a:solidFill>
                  <a:srgbClr val="1F4E79"/>
                </a:solidFill>
                <a:latin typeface="Arial"/>
                <a:ea typeface="Arial"/>
                <a:cs typeface="Arial"/>
              </a:defRPr>
            </a:lvl6pPr>
            <a:lvl7pPr>
              <a:defRPr sz="3900" b="1">
                <a:solidFill>
                  <a:srgbClr val="1F4E79"/>
                </a:solidFill>
                <a:latin typeface="Arial"/>
                <a:ea typeface="Arial"/>
                <a:cs typeface="Arial"/>
              </a:defRPr>
            </a:lvl7pPr>
            <a:lvl8pPr>
              <a:defRPr sz="3900" b="1">
                <a:solidFill>
                  <a:srgbClr val="1F4E79"/>
                </a:solidFill>
                <a:latin typeface="Arial"/>
                <a:ea typeface="Arial"/>
                <a:cs typeface="Arial"/>
              </a:defRPr>
            </a:lvl8pPr>
            <a:lvl9pPr>
              <a:defRPr sz="3900" b="1">
                <a:solidFill>
                  <a:srgbClr val="1F4E79"/>
                </a:solidFill>
                <a:latin typeface="Arial"/>
                <a:ea typeface="Arial"/>
                <a:cs typeface="Arial"/>
              </a:defRPr>
            </a:lvl9pPr>
          </a:lstStyle>
          <a:p xmlns:a="http://schemas.openxmlformats.org/drawingml/2006/main">
            <a:pPr>
              <a:defRPr sz="3900" b="1">
                <a:solidFill>
                  <a:srgbClr val="1F4E79"/>
                </a:solidFill>
                <a:latin typeface="Arial"/>
                <a:ea typeface="Arial"/>
                <a:cs typeface="Arial"/>
              </a:defRPr>
            </a:pPr>
            <a:r>
              <a:rPr sz="3900" b="1">
                <a:solidFill>
                  <a:srgbClr val="1F4E79"/>
                </a:solidFill>
                <a:latin typeface="Arial"/>
                <a:ea typeface="Arial"/>
                <a:cs typeface="Arial"/>
              </a:rPr>
              <a:t>Feedback and constrained editing</a:t>
            </a:r>
          </a:p>
          <a:p xmlns:a="http://schemas.openxmlformats.org/drawingml/2006/main">
            <a:pPr>
              <a:defRPr sz="3900" b="1">
                <a:solidFill>
                  <a:srgbClr val="1F4E79"/>
                </a:solidFill>
                <a:latin typeface="Arial"/>
                <a:ea typeface="Arial"/>
                <a:cs typeface="Arial"/>
              </a:defRPr>
            </a:pPr>
            <a:r>
              <a:rPr sz="3900" b="1">
                <a:solidFill>
                  <a:srgbClr val="1F4E79"/>
                </a:solidFill>
                <a:latin typeface="Arial"/>
                <a:ea typeface="Arial"/>
                <a:cs typeface="Arial"/>
              </a:rPr>
              <a:t>for editable flowcharts</a:t>
            </a:r>
          </a:p>
        </p:txBody>
      </p:sp>
      <p:sp>
        <p:nvSpPr>
          <p:cNvPr id="5" name="">
            <a:extLst xmlns:a="http://schemas.openxmlformats.org/drawingml/2006/main">
              <a:ext uri="{FF2B5EF4-FFF2-40B4-BE49-F238E27FC236}">
                <a16:creationId xmlns:a16="http://schemas.microsoft.com/office/drawing/2014/main" id="{09BFA9F9-F644-4B27-B3E7-4B937577873D}"/>
              </a:ext>
            </a:extLst>
          </p:cNvPr>
          <p:cNvSpPr>
            <a:spLocks xmlns:a="http://schemas.openxmlformats.org/drawingml/2006/main" noGrp="1"/>
          </p:cNvSpPr>
          <p:nvPr/>
        </p:nvSpPr>
        <p:spPr>
          <a:xfrm xmlns:a="http://schemas.openxmlformats.org/drawingml/2006/main">
            <a:off x="609600" y="4000500"/>
            <a:ext cx="10763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0">
                <a:solidFill>
                  <a:srgbClr val="1F4E79"/>
                </a:solidFill>
                <a:latin typeface="Arial"/>
                <a:ea typeface="Arial"/>
                <a:cs typeface="Arial"/>
              </a:defRPr>
            </a:defPPr>
            <a:lvl1pPr>
              <a:defRPr sz="2325" b="0">
                <a:solidFill>
                  <a:srgbClr val="1F4E79"/>
                </a:solidFill>
                <a:latin typeface="Arial"/>
                <a:ea typeface="Arial"/>
                <a:cs typeface="Arial"/>
              </a:defRPr>
            </a:lvl1pPr>
            <a:lvl2pPr>
              <a:defRPr sz="2325" b="0">
                <a:solidFill>
                  <a:srgbClr val="1F4E79"/>
                </a:solidFill>
                <a:latin typeface="Arial"/>
                <a:ea typeface="Arial"/>
                <a:cs typeface="Arial"/>
              </a:defRPr>
            </a:lvl2pPr>
            <a:lvl3pPr>
              <a:defRPr sz="2325" b="0">
                <a:solidFill>
                  <a:srgbClr val="1F4E79"/>
                </a:solidFill>
                <a:latin typeface="Arial"/>
                <a:ea typeface="Arial"/>
                <a:cs typeface="Arial"/>
              </a:defRPr>
            </a:lvl3pPr>
            <a:lvl4pPr>
              <a:defRPr sz="2325" b="0">
                <a:solidFill>
                  <a:srgbClr val="1F4E79"/>
                </a:solidFill>
                <a:latin typeface="Arial"/>
                <a:ea typeface="Arial"/>
                <a:cs typeface="Arial"/>
              </a:defRPr>
            </a:lvl4pPr>
            <a:lvl5pPr>
              <a:defRPr sz="2325" b="0">
                <a:solidFill>
                  <a:srgbClr val="1F4E79"/>
                </a:solidFill>
                <a:latin typeface="Arial"/>
                <a:ea typeface="Arial"/>
                <a:cs typeface="Arial"/>
              </a:defRPr>
            </a:lvl5pPr>
            <a:lvl6pPr>
              <a:defRPr sz="2325" b="0">
                <a:solidFill>
                  <a:srgbClr val="1F4E79"/>
                </a:solidFill>
                <a:latin typeface="Arial"/>
                <a:ea typeface="Arial"/>
                <a:cs typeface="Arial"/>
              </a:defRPr>
            </a:lvl6pPr>
            <a:lvl7pPr>
              <a:defRPr sz="2325" b="0">
                <a:solidFill>
                  <a:srgbClr val="1F4E79"/>
                </a:solidFill>
                <a:latin typeface="Arial"/>
                <a:ea typeface="Arial"/>
                <a:cs typeface="Arial"/>
              </a:defRPr>
            </a:lvl7pPr>
            <a:lvl8pPr>
              <a:defRPr sz="2325" b="0">
                <a:solidFill>
                  <a:srgbClr val="1F4E79"/>
                </a:solidFill>
                <a:latin typeface="Arial"/>
                <a:ea typeface="Arial"/>
                <a:cs typeface="Arial"/>
              </a:defRPr>
            </a:lvl8pPr>
            <a:lvl9pPr>
              <a:defRPr sz="2325" b="0">
                <a:solidFill>
                  <a:srgbClr val="1F4E79"/>
                </a:solidFill>
                <a:latin typeface="Arial"/>
                <a:ea typeface="Arial"/>
                <a:cs typeface="Arial"/>
              </a:defRPr>
            </a:lvl9pPr>
          </a:lstStyle>
          <a:p xmlns:a="http://schemas.openxmlformats.org/drawingml/2006/main">
            <a:pPr>
              <a:defRPr sz="2325" b="0">
                <a:solidFill>
                  <a:srgbClr val="1F4E79"/>
                </a:solidFill>
                <a:latin typeface="Arial"/>
                <a:ea typeface="Arial"/>
                <a:cs typeface="Arial"/>
              </a:defRPr>
            </a:pPr>
            <a:r>
              <a:rPr sz="2325" b="0">
                <a:solidFill>
                  <a:srgbClr val="1F4E79"/>
                </a:solidFill>
                <a:latin typeface="Arial"/>
                <a:ea typeface="Arial"/>
                <a:cs typeface="Arial"/>
              </a:rPr>
              <a:t>Frozen four-arm pilot + exploratory follow-up</a:t>
            </a:r>
          </a:p>
          <a:p xmlns:a="http://schemas.openxmlformats.org/drawingml/2006/main">
            <a:pPr>
              <a:defRPr sz="2325" b="0">
                <a:solidFill>
                  <a:srgbClr val="1F4E79"/>
                </a:solidFill>
                <a:latin typeface="Arial"/>
                <a:ea typeface="Arial"/>
                <a:cs typeface="Arial"/>
              </a:defRPr>
            </a:pPr>
            <a:r>
              <a:rPr sz="2325" b="0">
                <a:solidFill>
                  <a:srgbClr val="1F4E79"/>
                </a:solidFill>
                <a:latin typeface="Arial"/>
                <a:ea typeface="Arial"/>
                <a:cs typeface="Arial"/>
              </a:rPr>
              <a:t>15 saved initial diagrams, one correction round</a:t>
            </a:r>
          </a:p>
        </p:txBody>
      </p:sp>
    </p:spTree>
    <p:extLst>
      <p:ext uri="{BB962C8B-B14F-4D97-AF65-F5344CB8AC3E}">
        <p14:creationId xmlns:p14="http://schemas.microsoft.com/office/powerpoint/2010/main" val="8787220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DBB1ABC-B7DC-44C1-824D-62F0EA71BD1E}"/>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Can criticism improve a generated flowchart?</a:t>
            </a:r>
          </a:p>
        </p:txBody>
      </p:sp>
      <p:sp>
        <p:nvSpPr>
          <p:cNvPr id="2" name="">
            <a:extLst xmlns:a="http://schemas.openxmlformats.org/drawingml/2006/main">
              <a:ext uri="{FF2B5EF4-FFF2-40B4-BE49-F238E27FC236}">
                <a16:creationId xmlns:a16="http://schemas.microsoft.com/office/drawing/2014/main" id="{F6362BAD-FC56-4569-AF88-9108DA1B8FAD}"/>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2</a:t>
            </a:r>
          </a:p>
        </p:txBody>
      </p:sp>
      <p:sp>
        <p:nvSpPr>
          <p:cNvPr id="3" name="">
            <a:extLst xmlns:a="http://schemas.openxmlformats.org/drawingml/2006/main">
              <a:ext uri="{FF2B5EF4-FFF2-40B4-BE49-F238E27FC236}">
                <a16:creationId xmlns:a16="http://schemas.microsoft.com/office/drawing/2014/main" id="{44CE480F-53D2-4995-A8FA-27D75E2938CB}"/>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Source: baseline report; follow-up protocol and saved manifests</a:t>
            </a:r>
          </a:p>
        </p:txBody>
      </p:sp>
      <p:sp>
        <p:nvSpPr>
          <p:cNvPr id="4" name="">
            <a:extLst xmlns:a="http://schemas.openxmlformats.org/drawingml/2006/main">
              <a:ext uri="{FF2B5EF4-FFF2-40B4-BE49-F238E27FC236}">
                <a16:creationId xmlns:a16="http://schemas.microsoft.com/office/drawing/2014/main" id="{F1DDA864-B64C-46DF-9DC9-71E89B68FD30}"/>
              </a:ext>
            </a:extLst>
          </p:cNvPr>
          <p:cNvSpPr>
            <a:spLocks xmlns:a="http://schemas.openxmlformats.org/drawingml/2006/main" noGrp="1"/>
          </p:cNvSpPr>
          <p:nvPr/>
        </p:nvSpPr>
        <p:spPr>
          <a:xfrm xmlns:a="http://schemas.openxmlformats.org/drawingml/2006/main">
            <a:off x="609600" y="1809750"/>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Generate editable JSON, then render SVG and PNG.</a:t>
            </a:r>
          </a:p>
        </p:txBody>
      </p:sp>
      <p:sp>
        <p:nvSpPr>
          <p:cNvPr id="5" name="">
            <a:extLst xmlns:a="http://schemas.openxmlformats.org/drawingml/2006/main">
              <a:ext uri="{FF2B5EF4-FFF2-40B4-BE49-F238E27FC236}">
                <a16:creationId xmlns:a16="http://schemas.microsoft.com/office/drawing/2014/main" id="{356B6834-A9B0-40DF-9A7B-24C59A46EBA9}"/>
              </a:ext>
            </a:extLst>
          </p:cNvPr>
          <p:cNvSpPr>
            <a:spLocks xmlns:a="http://schemas.openxmlformats.org/drawingml/2006/main" noGrp="1"/>
          </p:cNvSpPr>
          <p:nvPr/>
        </p:nvSpPr>
        <p:spPr>
          <a:xfrm xmlns:a="http://schemas.openxmlformats.org/drawingml/2006/main">
            <a:off x="609600" y="2905125"/>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Compare correctness before and after one edit.</a:t>
            </a:r>
          </a:p>
        </p:txBody>
      </p:sp>
      <p:sp>
        <p:nvSpPr>
          <p:cNvPr id="6" name="">
            <a:extLst xmlns:a="http://schemas.openxmlformats.org/drawingml/2006/main">
              <a:ext uri="{FF2B5EF4-FFF2-40B4-BE49-F238E27FC236}">
                <a16:creationId xmlns:a16="http://schemas.microsoft.com/office/drawing/2014/main" id="{9353AEDB-5B64-474C-9B26-0761C9D73BF5}"/>
              </a:ext>
            </a:extLst>
          </p:cNvPr>
          <p:cNvSpPr>
            <a:spLocks xmlns:a="http://schemas.openxmlformats.org/drawingml/2006/main" noGrp="1"/>
          </p:cNvSpPr>
          <p:nvPr/>
        </p:nvSpPr>
        <p:spPr>
          <a:xfrm xmlns:a="http://schemas.openxmlformats.org/drawingml/2006/main">
            <a:off x="609600" y="4000500"/>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Follow-up: edit without feedback; edit coordinates only.</a:t>
            </a:r>
          </a:p>
        </p:txBody>
      </p:sp>
    </p:spTree>
    <p:extLst>
      <p:ext uri="{BB962C8B-B14F-4D97-AF65-F5344CB8AC3E}">
        <p14:creationId xmlns:p14="http://schemas.microsoft.com/office/powerpoint/2010/main" val="80528335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9735D03-E7DE-461C-A88B-7FDF7EACA2EB}"/>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Every comparison reuses the same saved B0</a:t>
            </a:r>
          </a:p>
        </p:txBody>
      </p:sp>
      <p:sp>
        <p:nvSpPr>
          <p:cNvPr id="2" name="">
            <a:extLst xmlns:a="http://schemas.openxmlformats.org/drawingml/2006/main">
              <a:ext uri="{FF2B5EF4-FFF2-40B4-BE49-F238E27FC236}">
                <a16:creationId xmlns:a16="http://schemas.microsoft.com/office/drawing/2014/main" id="{63470A17-E218-4BAA-8279-E44D277AEEEA}"/>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3</a:t>
            </a:r>
          </a:p>
        </p:txBody>
      </p:sp>
      <p:sp>
        <p:nvSpPr>
          <p:cNvPr id="3" name="">
            <a:extLst xmlns:a="http://schemas.openxmlformats.org/drawingml/2006/main">
              <a:ext uri="{FF2B5EF4-FFF2-40B4-BE49-F238E27FC236}">
                <a16:creationId xmlns:a16="http://schemas.microsoft.com/office/drawing/2014/main" id="{6873649A-0A59-4206-939A-09E4024B48EC}"/>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Source: frozen_protocol.json; followup.py; run manifests</a:t>
            </a:r>
          </a:p>
        </p:txBody>
      </p:sp>
      <p:sp>
        <p:nvSpPr>
          <p:cNvPr id="4" name="">
            <a:extLst xmlns:a="http://schemas.openxmlformats.org/drawingml/2006/main">
              <a:ext uri="{FF2B5EF4-FFF2-40B4-BE49-F238E27FC236}">
                <a16:creationId xmlns:a16="http://schemas.microsoft.com/office/drawing/2014/main" id="{168CB81C-2F57-4CCB-AFFE-F6C1B51CF93C}"/>
              </a:ext>
            </a:extLst>
          </p:cNvPr>
          <p:cNvSpPr>
            <a:spLocks xmlns:a="http://schemas.openxmlformats.org/drawingml/2006/main" noGrp="1"/>
          </p:cNvSpPr>
          <p:nvPr/>
        </p:nvSpPr>
        <p:spPr>
          <a:xfrm xmlns:a="http://schemas.openxmlformats.org/drawingml/2006/main">
            <a:off x="609600" y="1619250"/>
            <a:ext cx="10763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Frozen: B0 initial; B1 program; B2 image; B3 both.</a:t>
            </a:r>
          </a:p>
        </p:txBody>
      </p:sp>
      <p:sp>
        <p:nvSpPr>
          <p:cNvPr id="5" name="">
            <a:extLst xmlns:a="http://schemas.openxmlformats.org/drawingml/2006/main">
              <a:ext uri="{FF2B5EF4-FFF2-40B4-BE49-F238E27FC236}">
                <a16:creationId xmlns:a16="http://schemas.microsoft.com/office/drawing/2014/main" id="{FEFED023-0F48-45FE-9269-1067E893106A}"/>
              </a:ext>
            </a:extLst>
          </p:cNvPr>
          <p:cNvSpPr>
            <a:spLocks xmlns:a="http://schemas.openxmlformats.org/drawingml/2006/main" noGrp="1"/>
          </p:cNvSpPr>
          <p:nvPr/>
        </p:nvSpPr>
        <p:spPr>
          <a:xfrm xmlns:a="http://schemas.openxmlformats.org/drawingml/2006/main">
            <a:off x="609600" y="2562225"/>
            <a:ext cx="10763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Post-test C0: rewrite B0 without external criticism.</a:t>
            </a:r>
          </a:p>
        </p:txBody>
      </p:sp>
      <p:sp>
        <p:nvSpPr>
          <p:cNvPr id="6" name="">
            <a:extLst xmlns:a="http://schemas.openxmlformats.org/drawingml/2006/main">
              <a:ext uri="{FF2B5EF4-FFF2-40B4-BE49-F238E27FC236}">
                <a16:creationId xmlns:a16="http://schemas.microsoft.com/office/drawing/2014/main" id="{8F884143-1208-43A9-A25B-8FD6A79E128C}"/>
              </a:ext>
            </a:extLst>
          </p:cNvPr>
          <p:cNvSpPr>
            <a:spLocks xmlns:a="http://schemas.openxmlformats.org/drawingml/2006/main" noGrp="1"/>
          </p:cNvSpPr>
          <p:nvPr/>
        </p:nvSpPr>
        <p:spPr>
          <a:xfrm xmlns:a="http://schemas.openxmlformats.org/drawingml/2006/main">
            <a:off x="609600" y="3505200"/>
            <a:ext cx="10763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Post-test L3 v2: both critiques; coordinates only.</a:t>
            </a:r>
          </a:p>
        </p:txBody>
      </p:sp>
      <p:sp>
        <p:nvSpPr>
          <p:cNvPr id="7" name="">
            <a:extLst xmlns:a="http://schemas.openxmlformats.org/drawingml/2006/main">
              <a:ext uri="{FF2B5EF4-FFF2-40B4-BE49-F238E27FC236}">
                <a16:creationId xmlns:a16="http://schemas.microsoft.com/office/drawing/2014/main" id="{F23989E8-96F0-4924-BFE1-B2FE3DF261AE}"/>
              </a:ext>
            </a:extLst>
          </p:cNvPr>
          <p:cNvSpPr>
            <a:spLocks xmlns:a="http://schemas.openxmlformats.org/drawingml/2006/main" noGrp="1"/>
          </p:cNvSpPr>
          <p:nvPr/>
        </p:nvSpPr>
        <p:spPr>
          <a:xfrm xmlns:a="http://schemas.openxmlformats.org/drawingml/2006/main">
            <a:off x="609600" y="4448175"/>
            <a:ext cx="10763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All 15 B0 and saved image critiques reused.</a:t>
            </a:r>
          </a:p>
        </p:txBody>
      </p:sp>
    </p:spTree>
    <p:extLst>
      <p:ext uri="{BB962C8B-B14F-4D97-AF65-F5344CB8AC3E}">
        <p14:creationId xmlns:p14="http://schemas.microsoft.com/office/powerpoint/2010/main" val="42465741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0D25077-F8E8-4F9F-B8FC-64CE4BF26414}"/>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The original feedback modes lower mean edge F1</a:t>
            </a:r>
          </a:p>
        </p:txBody>
      </p:sp>
      <p:sp>
        <p:nvSpPr>
          <p:cNvPr id="2" name="">
            <a:extLst xmlns:a="http://schemas.openxmlformats.org/drawingml/2006/main">
              <a:ext uri="{FF2B5EF4-FFF2-40B4-BE49-F238E27FC236}">
                <a16:creationId xmlns:a16="http://schemas.microsoft.com/office/drawing/2014/main" id="{61EC9754-1A50-41C0-B5A2-CB3F80E38E65}"/>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4</a:t>
            </a:r>
          </a:p>
        </p:txBody>
      </p:sp>
      <p:sp>
        <p:nvSpPr>
          <p:cNvPr id="3" name="">
            <a:extLst xmlns:a="http://schemas.openxmlformats.org/drawingml/2006/main">
              <a:ext uri="{FF2B5EF4-FFF2-40B4-BE49-F238E27FC236}">
                <a16:creationId xmlns:a16="http://schemas.microsoft.com/office/drawing/2014/main" id="{BC1D6324-3A20-43E0-8057-ECD01180BF30}"/>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Source: frozen analysis/test_v1/aggregate.json</a:t>
            </a:r>
          </a:p>
        </p:txBody>
      </p:sp>
      <p:sp>
        <p:nvSpPr>
          <p:cNvPr id="4" name="">
            <a:extLst xmlns:a="http://schemas.openxmlformats.org/drawingml/2006/main">
              <a:ext uri="{FF2B5EF4-FFF2-40B4-BE49-F238E27FC236}">
                <a16:creationId xmlns:a16="http://schemas.microsoft.com/office/drawing/2014/main" id="{218FC0D4-1782-4435-BF6E-B00FB512373E}"/>
              </a:ext>
            </a:extLst>
          </p:cNvPr>
          <p:cNvSpPr>
            <a:spLocks xmlns:a="http://schemas.openxmlformats.org/drawingml/2006/main" noGrp="1"/>
          </p:cNvSpPr>
          <p:nvPr/>
        </p:nvSpPr>
        <p:spPr>
          <a:xfrm xmlns:a="http://schemas.openxmlformats.org/drawingml/2006/main">
            <a:off x="609600" y="140970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1F4E79"/>
                </a:solidFill>
                <a:latin typeface="Arial"/>
                <a:ea typeface="Arial"/>
                <a:cs typeface="Arial"/>
              </a:defRPr>
            </a:defPPr>
            <a:lvl1pPr>
              <a:defRPr sz="1725" b="0">
                <a:solidFill>
                  <a:srgbClr val="1F4E79"/>
                </a:solidFill>
                <a:latin typeface="Arial"/>
                <a:ea typeface="Arial"/>
                <a:cs typeface="Arial"/>
              </a:defRPr>
            </a:lvl1pPr>
            <a:lvl2pPr>
              <a:defRPr sz="1725" b="0">
                <a:solidFill>
                  <a:srgbClr val="1F4E79"/>
                </a:solidFill>
                <a:latin typeface="Arial"/>
                <a:ea typeface="Arial"/>
                <a:cs typeface="Arial"/>
              </a:defRPr>
            </a:lvl2pPr>
            <a:lvl3pPr>
              <a:defRPr sz="1725" b="0">
                <a:solidFill>
                  <a:srgbClr val="1F4E79"/>
                </a:solidFill>
                <a:latin typeface="Arial"/>
                <a:ea typeface="Arial"/>
                <a:cs typeface="Arial"/>
              </a:defRPr>
            </a:lvl3pPr>
            <a:lvl4pPr>
              <a:defRPr sz="1725" b="0">
                <a:solidFill>
                  <a:srgbClr val="1F4E79"/>
                </a:solidFill>
                <a:latin typeface="Arial"/>
                <a:ea typeface="Arial"/>
                <a:cs typeface="Arial"/>
              </a:defRPr>
            </a:lvl4pPr>
            <a:lvl5pPr>
              <a:defRPr sz="1725" b="0">
                <a:solidFill>
                  <a:srgbClr val="1F4E79"/>
                </a:solidFill>
                <a:latin typeface="Arial"/>
                <a:ea typeface="Arial"/>
                <a:cs typeface="Arial"/>
              </a:defRPr>
            </a:lvl5pPr>
            <a:lvl6pPr>
              <a:defRPr sz="1725" b="0">
                <a:solidFill>
                  <a:srgbClr val="1F4E79"/>
                </a:solidFill>
                <a:latin typeface="Arial"/>
                <a:ea typeface="Arial"/>
                <a:cs typeface="Arial"/>
              </a:defRPr>
            </a:lvl6pPr>
            <a:lvl7pPr>
              <a:defRPr sz="1725" b="0">
                <a:solidFill>
                  <a:srgbClr val="1F4E79"/>
                </a:solidFill>
                <a:latin typeface="Arial"/>
                <a:ea typeface="Arial"/>
                <a:cs typeface="Arial"/>
              </a:defRPr>
            </a:lvl7pPr>
            <a:lvl8pPr>
              <a:defRPr sz="1725" b="0">
                <a:solidFill>
                  <a:srgbClr val="1F4E79"/>
                </a:solidFill>
                <a:latin typeface="Arial"/>
                <a:ea typeface="Arial"/>
                <a:cs typeface="Arial"/>
              </a:defRPr>
            </a:lvl8pPr>
            <a:lvl9pPr>
              <a:defRPr sz="1725" b="0">
                <a:solidFill>
                  <a:srgbClr val="1F4E79"/>
                </a:solidFill>
                <a:latin typeface="Arial"/>
                <a:ea typeface="Arial"/>
                <a:cs typeface="Arial"/>
              </a:defRPr>
            </a:lvl9pPr>
          </a:lstStyle>
          <a:p xmlns:a="http://schemas.openxmlformats.org/drawingml/2006/main">
            <a:pPr>
              <a:defRPr sz="1725" b="0">
                <a:solidFill>
                  <a:srgbClr val="1F4E79"/>
                </a:solidFill>
                <a:latin typeface="Arial"/>
                <a:ea typeface="Arial"/>
                <a:cs typeface="Arial"/>
              </a:defRPr>
            </a:pPr>
            <a:r>
              <a:rPr sz="1725" b="0">
                <a:solidFill>
                  <a:srgbClr val="1F4E79"/>
                </a:solidFill>
                <a:latin typeface="Arial"/>
                <a:ea typeface="Arial"/>
                <a:cs typeface="Arial"/>
              </a:rPr>
              <a:t>Mean edge F1 (higher is better)</a:t>
            </a:r>
          </a:p>
        </p:txBody>
      </p:sp>
      <p:graphicFrame>
        <p:nvGraphicFramePr>
          <p:cNvPr id="5" name="Chart">
            <a:extLst xmlns:a="http://schemas.openxmlformats.org/drawingml/2006/main">
              <a:ext uri="{FF2B5EF4-FFF2-40B4-BE49-F238E27FC236}">
                <a16:creationId xmlns:a16="http://schemas.microsoft.com/office/drawing/2014/main" id="{E4E7B363-D61F-4334-AAA5-14D08FFEEE4F}"/>
              </a:ext>
            </a:extLst>
          </p:cNvPr>
          <p:cNvGraphicFramePr/>
          <p:nvPr/>
        </p:nvGraphicFramePr>
        <p:xfrm>
          <a:off xmlns:a="http://schemas.openxmlformats.org/drawingml/2006/main" x="609600" y="1743075"/>
          <a:ext xmlns:a="http://schemas.openxmlformats.org/drawingml/2006/main" cx="7000875" cy="4019550"/>
        </p:xfrm>
        <a:graphic xmlns:a="http://schemas.openxmlformats.org/drawingml/2006/main">
          <a:graphicData uri="http://schemas.openxmlformats.org/drawingml/2006/chart">
            <c:chart xmlns:r="http://schemas.openxmlformats.org/officeDocument/2006/relationships" xmlns:c="http://schemas.openxmlformats.org/drawingml/2006/chart" r:id="R3df6122c3b994006"/>
          </a:graphicData>
        </a:graphic>
      </p:graphicFrame>
      <p:sp>
        <p:nvSpPr>
          <p:cNvPr id="6" name="">
            <a:extLst xmlns:a="http://schemas.openxmlformats.org/drawingml/2006/main">
              <a:ext uri="{FF2B5EF4-FFF2-40B4-BE49-F238E27FC236}">
                <a16:creationId xmlns:a16="http://schemas.microsoft.com/office/drawing/2014/main" id="{7BC115F8-4153-43B1-8709-9B1A3D6E5E46}"/>
              </a:ext>
            </a:extLst>
          </p:cNvPr>
          <p:cNvSpPr>
            <a:spLocks xmlns:a="http://schemas.openxmlformats.org/drawingml/2006/main" noGrp="1"/>
          </p:cNvSpPr>
          <p:nvPr/>
        </p:nvSpPr>
        <p:spPr>
          <a:xfrm xmlns:a="http://schemas.openxmlformats.org/drawingml/2006/main">
            <a:off x="8048625" y="18097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F4E79"/>
                </a:solidFill>
                <a:latin typeface="Arial"/>
                <a:ea typeface="Arial"/>
                <a:cs typeface="Arial"/>
              </a:defRPr>
            </a:defPPr>
            <a:lvl1pPr>
              <a:defRPr sz="2175" b="1">
                <a:solidFill>
                  <a:srgbClr val="1F4E79"/>
                </a:solidFill>
                <a:latin typeface="Arial"/>
                <a:ea typeface="Arial"/>
                <a:cs typeface="Arial"/>
              </a:defRPr>
            </a:lvl1pPr>
            <a:lvl2pPr>
              <a:defRPr sz="2175" b="1">
                <a:solidFill>
                  <a:srgbClr val="1F4E79"/>
                </a:solidFill>
                <a:latin typeface="Arial"/>
                <a:ea typeface="Arial"/>
                <a:cs typeface="Arial"/>
              </a:defRPr>
            </a:lvl2pPr>
            <a:lvl3pPr>
              <a:defRPr sz="2175" b="1">
                <a:solidFill>
                  <a:srgbClr val="1F4E79"/>
                </a:solidFill>
                <a:latin typeface="Arial"/>
                <a:ea typeface="Arial"/>
                <a:cs typeface="Arial"/>
              </a:defRPr>
            </a:lvl3pPr>
            <a:lvl4pPr>
              <a:defRPr sz="2175" b="1">
                <a:solidFill>
                  <a:srgbClr val="1F4E79"/>
                </a:solidFill>
                <a:latin typeface="Arial"/>
                <a:ea typeface="Arial"/>
                <a:cs typeface="Arial"/>
              </a:defRPr>
            </a:lvl4pPr>
            <a:lvl5pPr>
              <a:defRPr sz="2175" b="1">
                <a:solidFill>
                  <a:srgbClr val="1F4E79"/>
                </a:solidFill>
                <a:latin typeface="Arial"/>
                <a:ea typeface="Arial"/>
                <a:cs typeface="Arial"/>
              </a:defRPr>
            </a:lvl5pPr>
            <a:lvl6pPr>
              <a:defRPr sz="2175" b="1">
                <a:solidFill>
                  <a:srgbClr val="1F4E79"/>
                </a:solidFill>
                <a:latin typeface="Arial"/>
                <a:ea typeface="Arial"/>
                <a:cs typeface="Arial"/>
              </a:defRPr>
            </a:lvl6pPr>
            <a:lvl7pPr>
              <a:defRPr sz="2175" b="1">
                <a:solidFill>
                  <a:srgbClr val="1F4E79"/>
                </a:solidFill>
                <a:latin typeface="Arial"/>
                <a:ea typeface="Arial"/>
                <a:cs typeface="Arial"/>
              </a:defRPr>
            </a:lvl7pPr>
            <a:lvl8pPr>
              <a:defRPr sz="2175" b="1">
                <a:solidFill>
                  <a:srgbClr val="1F4E79"/>
                </a:solidFill>
                <a:latin typeface="Arial"/>
                <a:ea typeface="Arial"/>
                <a:cs typeface="Arial"/>
              </a:defRPr>
            </a:lvl8pPr>
            <a:lvl9pPr>
              <a:defRPr sz="2175" b="1">
                <a:solidFill>
                  <a:srgbClr val="1F4E79"/>
                </a:solidFill>
                <a:latin typeface="Arial"/>
                <a:ea typeface="Arial"/>
                <a:cs typeface="Arial"/>
              </a:defRPr>
            </a:lvl9pPr>
          </a:lstStyle>
          <a:p xmlns:a="http://schemas.openxmlformats.org/drawingml/2006/main">
            <a:pPr>
              <a:defRPr sz="2175" b="1">
                <a:solidFill>
                  <a:srgbClr val="1F4E79"/>
                </a:solidFill>
                <a:latin typeface="Arial"/>
                <a:ea typeface="Arial"/>
                <a:cs typeface="Arial"/>
              </a:defRPr>
            </a:pPr>
            <a:r>
              <a:rPr sz="2175" b="1">
                <a:solidFill>
                  <a:srgbClr val="1F4E79"/>
                </a:solidFill>
                <a:latin typeface="Arial"/>
                <a:ea typeface="Arial"/>
                <a:cs typeface="Arial"/>
              </a:rPr>
              <a:t>Exact graphs / 15</a:t>
            </a:r>
          </a:p>
        </p:txBody>
      </p:sp>
      <p:sp>
        <p:nvSpPr>
          <p:cNvPr id="7" name="">
            <a:extLst xmlns:a="http://schemas.openxmlformats.org/drawingml/2006/main">
              <a:ext uri="{FF2B5EF4-FFF2-40B4-BE49-F238E27FC236}">
                <a16:creationId xmlns:a16="http://schemas.microsoft.com/office/drawing/2014/main" id="{1FF88AF1-35E7-495D-A071-ED781154D384}"/>
              </a:ext>
            </a:extLst>
          </p:cNvPr>
          <p:cNvSpPr>
            <a:spLocks xmlns:a="http://schemas.openxmlformats.org/drawingml/2006/main" noGrp="1"/>
          </p:cNvSpPr>
          <p:nvPr/>
        </p:nvSpPr>
        <p:spPr>
          <a:xfrm xmlns:a="http://schemas.openxmlformats.org/drawingml/2006/main">
            <a:off x="8048625" y="2524125"/>
            <a:ext cx="323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B0: 11</a:t>
            </a:r>
          </a:p>
        </p:txBody>
      </p:sp>
      <p:sp>
        <p:nvSpPr>
          <p:cNvPr id="8" name="">
            <a:extLst xmlns:a="http://schemas.openxmlformats.org/drawingml/2006/main">
              <a:ext uri="{FF2B5EF4-FFF2-40B4-BE49-F238E27FC236}">
                <a16:creationId xmlns:a16="http://schemas.microsoft.com/office/drawing/2014/main" id="{5D1B97CE-9069-4442-86BD-3CCF32256BCA}"/>
              </a:ext>
            </a:extLst>
          </p:cNvPr>
          <p:cNvSpPr>
            <a:spLocks xmlns:a="http://schemas.openxmlformats.org/drawingml/2006/main" noGrp="1"/>
          </p:cNvSpPr>
          <p:nvPr/>
        </p:nvSpPr>
        <p:spPr>
          <a:xfrm xmlns:a="http://schemas.openxmlformats.org/drawingml/2006/main">
            <a:off x="8048625" y="3190875"/>
            <a:ext cx="323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B1: 11</a:t>
            </a:r>
          </a:p>
        </p:txBody>
      </p:sp>
      <p:sp>
        <p:nvSpPr>
          <p:cNvPr id="9" name="">
            <a:extLst xmlns:a="http://schemas.openxmlformats.org/drawingml/2006/main">
              <a:ext uri="{FF2B5EF4-FFF2-40B4-BE49-F238E27FC236}">
                <a16:creationId xmlns:a16="http://schemas.microsoft.com/office/drawing/2014/main" id="{28D67F05-D1A5-4BF1-B470-8A362EBDBF59}"/>
              </a:ext>
            </a:extLst>
          </p:cNvPr>
          <p:cNvSpPr>
            <a:spLocks xmlns:a="http://schemas.openxmlformats.org/drawingml/2006/main" noGrp="1"/>
          </p:cNvSpPr>
          <p:nvPr/>
        </p:nvSpPr>
        <p:spPr>
          <a:xfrm xmlns:a="http://schemas.openxmlformats.org/drawingml/2006/main">
            <a:off x="8048625" y="3857625"/>
            <a:ext cx="323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B2: 9</a:t>
            </a:r>
          </a:p>
        </p:txBody>
      </p:sp>
      <p:sp>
        <p:nvSpPr>
          <p:cNvPr id="10" name="">
            <a:extLst xmlns:a="http://schemas.openxmlformats.org/drawingml/2006/main">
              <a:ext uri="{FF2B5EF4-FFF2-40B4-BE49-F238E27FC236}">
                <a16:creationId xmlns:a16="http://schemas.microsoft.com/office/drawing/2014/main" id="{9557DC5E-DD4C-4251-AB4F-A876029501E1}"/>
              </a:ext>
            </a:extLst>
          </p:cNvPr>
          <p:cNvSpPr>
            <a:spLocks xmlns:a="http://schemas.openxmlformats.org/drawingml/2006/main" noGrp="1"/>
          </p:cNvSpPr>
          <p:nvPr/>
        </p:nvSpPr>
        <p:spPr>
          <a:xfrm xmlns:a="http://schemas.openxmlformats.org/drawingml/2006/main">
            <a:off x="8048625" y="4524375"/>
            <a:ext cx="323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B3: 7</a:t>
            </a:r>
          </a:p>
        </p:txBody>
      </p:sp>
    </p:spTree>
    <p:extLst>
      <p:ext uri="{BB962C8B-B14F-4D97-AF65-F5344CB8AC3E}">
        <p14:creationId xmlns:p14="http://schemas.microsoft.com/office/powerpoint/2010/main" val="96158979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CC65CF2-BDD5-4182-8F06-26E98FBDA4F4}"/>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Paired outcomes distinguish fixes from regressions</a:t>
            </a:r>
          </a:p>
        </p:txBody>
      </p:sp>
      <p:sp>
        <p:nvSpPr>
          <p:cNvPr id="2" name="">
            <a:extLst xmlns:a="http://schemas.openxmlformats.org/drawingml/2006/main">
              <a:ext uri="{FF2B5EF4-FFF2-40B4-BE49-F238E27FC236}">
                <a16:creationId xmlns:a16="http://schemas.microsoft.com/office/drawing/2014/main" id="{FBA9DAA9-B552-4D4D-ACA5-77701F7D87D0}"/>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5</a:t>
            </a:r>
          </a:p>
        </p:txBody>
      </p:sp>
      <p:sp>
        <p:nvSpPr>
          <p:cNvPr id="3" name="">
            <a:extLst xmlns:a="http://schemas.openxmlformats.org/drawingml/2006/main">
              <a:ext uri="{FF2B5EF4-FFF2-40B4-BE49-F238E27FC236}">
                <a16:creationId xmlns:a16="http://schemas.microsoft.com/office/drawing/2014/main" id="{2723E908-B13E-4395-80DE-C5F8D2FD1A85}"/>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Source: analysis/followup_v1/metrics.csv; all changes paired to B0</a:t>
            </a:r>
          </a:p>
        </p:txBody>
      </p:sp>
      <p:graphicFrame>
        <p:nvGraphicFramePr>
          <p:cNvPr id="4" name="">
            <a:extLst xmlns:a="http://schemas.openxmlformats.org/drawingml/2006/main">
              <a:ext uri="{FF2B5EF4-FFF2-40B4-BE49-F238E27FC236}">
                <a16:creationId xmlns:a16="http://schemas.microsoft.com/office/drawing/2014/main" id="{75CDCE03-8EC5-468B-A166-66C8EF0562BE}"/>
              </a:ext>
            </a:extLst>
          </p:cNvPr>
          <p:cNvGraphicFramePr/>
          <p:nvPr/>
        </p:nvGraphicFramePr>
        <p:xfrm>
          <a:off xmlns:a="http://schemas.openxmlformats.org/drawingml/2006/main" x="609600" y="1685925"/>
          <a:ext xmlns:a="http://schemas.openxmlformats.org/drawingml/2006/main" cx="10858500" cy="3819525"/>
        </p:xfrm>
        <a:graphic xmlns:a="http://schemas.openxmlformats.org/drawingml/2006/main">
          <a:graphicData uri="http://schemas.openxmlformats.org/drawingml/2006/table">
            <a:tbl>
              <a:tblPr/>
              <a:tblGrid>
                <a:gridCol w="1447800"/>
                <a:gridCol w="1809750"/>
                <a:gridCol w="2000250"/>
                <a:gridCol w="2286000"/>
                <a:gridCol w="3314700"/>
              </a:tblGrid>
              <a:tr h="636588">
                <a:tc>
                  <a:txBody>
                    <a:bodyPr lIns="95250" tIns="95250" rIns="95250" bIns="95250"/>
                    <a:lstStyle/>
                    <a:p>
                      <a:r>
                        <a:rPr sz="2025" b="1">
                          <a:solidFill>
                            <a:srgbClr val="1F4E79"/>
                          </a:solidFill>
                          <a:latin typeface="Arial"/>
                          <a:ea typeface="Arial"/>
                          <a:cs typeface="Arial"/>
                        </a:rPr>
                        <a:t>Arm</a:t>
                      </a:r>
                    </a:p>
                  </a:txBody>
                  <a:tcPr marL="91440" marR="91440" marT="45720" marB="45720">
                    <a:solidFill>
                      <a:srgbClr val="FFFFFF"/>
                    </a:solidFill>
                  </a:tcPr>
                </a:tc>
                <a:tc>
                  <a:txBody>
                    <a:bodyPr lIns="95250" tIns="95250" rIns="95250" bIns="95250"/>
                    <a:lstStyle/>
                    <a:p>
                      <a:r>
                        <a:rPr sz="2025" b="1">
                          <a:solidFill>
                            <a:srgbClr val="1F4E79"/>
                          </a:solidFill>
                          <a:latin typeface="Arial"/>
                          <a:ea typeface="Arial"/>
                          <a:cs typeface="Arial"/>
                        </a:rPr>
                        <a:t>F1 up</a:t>
                      </a:r>
                    </a:p>
                  </a:txBody>
                  <a:tcPr marL="91440" marR="91440" marT="45720" marB="45720">
                    <a:solidFill>
                      <a:srgbClr val="FFFFFF"/>
                    </a:solidFill>
                  </a:tcPr>
                </a:tc>
                <a:tc>
                  <a:txBody>
                    <a:bodyPr lIns="95250" tIns="95250" rIns="95250" bIns="95250"/>
                    <a:lstStyle/>
                    <a:p>
                      <a:r>
                        <a:rPr sz="2025" b="1">
                          <a:solidFill>
                            <a:srgbClr val="1F4E79"/>
                          </a:solidFill>
                          <a:latin typeface="Arial"/>
                          <a:ea typeface="Arial"/>
                          <a:cs typeface="Arial"/>
                        </a:rPr>
                        <a:t>F1 down</a:t>
                      </a:r>
                    </a:p>
                  </a:txBody>
                  <a:tcPr marL="91440" marR="91440" marT="45720" marB="45720">
                    <a:solidFill>
                      <a:srgbClr val="FFFFFF"/>
                    </a:solidFill>
                  </a:tcPr>
                </a:tc>
                <a:tc>
                  <a:txBody>
                    <a:bodyPr lIns="95250" tIns="95250" rIns="95250" bIns="95250"/>
                    <a:lstStyle/>
                    <a:p>
                      <a:r>
                        <a:rPr sz="2025" b="1">
                          <a:solidFill>
                            <a:srgbClr val="1F4E79"/>
                          </a:solidFill>
                          <a:latin typeface="Arial"/>
                          <a:ea typeface="Arial"/>
                          <a:cs typeface="Arial"/>
                        </a:rPr>
                        <a:t>Exact fixed</a:t>
                      </a:r>
                    </a:p>
                  </a:txBody>
                  <a:tcPr marL="91440" marR="91440" marT="45720" marB="45720">
                    <a:solidFill>
                      <a:srgbClr val="FFFFFF"/>
                    </a:solidFill>
                  </a:tcPr>
                </a:tc>
                <a:tc>
                  <a:txBody>
                    <a:bodyPr lIns="95250" tIns="95250" rIns="95250" bIns="95250"/>
                    <a:lstStyle/>
                    <a:p>
                      <a:r>
                        <a:rPr sz="2025" b="1">
                          <a:solidFill>
                            <a:srgbClr val="1F4E79"/>
                          </a:solidFill>
                          <a:latin typeface="Arial"/>
                          <a:ea typeface="Arial"/>
                          <a:cs typeface="Arial"/>
                        </a:rPr>
                        <a:t>Exact broken</a:t>
                      </a:r>
                    </a:p>
                  </a:txBody>
                  <a:tcPr marL="91440" marR="91440" marT="45720" marB="45720">
                    <a:solidFill>
                      <a:srgbClr val="FFFFFF"/>
                    </a:solidFill>
                  </a:tcPr>
                </a:tc>
              </a:tr>
              <a:tr h="636588">
                <a:tc>
                  <a:txBody>
                    <a:bodyPr lIns="95250" tIns="95250" rIns="95250" bIns="95250"/>
                    <a:lstStyle/>
                    <a:p>
                      <a:r>
                        <a:rPr sz="2025" b="0">
                          <a:solidFill>
                            <a:srgbClr val="1F4E79"/>
                          </a:solidFill>
                          <a:latin typeface="Arial"/>
                          <a:ea typeface="Arial"/>
                          <a:cs typeface="Arial"/>
                        </a:rPr>
                        <a:t>B1</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1</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1</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r>
              <a:tr h="636588">
                <a:tc>
                  <a:txBody>
                    <a:bodyPr lIns="95250" tIns="95250" rIns="95250" bIns="95250"/>
                    <a:lstStyle/>
                    <a:p>
                      <a:r>
                        <a:rPr sz="2025" b="0">
                          <a:solidFill>
                            <a:srgbClr val="1F4E79"/>
                          </a:solidFill>
                          <a:latin typeface="Arial"/>
                          <a:ea typeface="Arial"/>
                          <a:cs typeface="Arial"/>
                        </a:rPr>
                        <a:t>B2</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1</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4</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2</a:t>
                      </a:r>
                    </a:p>
                  </a:txBody>
                  <a:tcPr marL="91440" marR="91440" marT="45720" marB="45720">
                    <a:solidFill>
                      <a:srgbClr val="FFFFFF"/>
                    </a:solidFill>
                  </a:tcPr>
                </a:tc>
              </a:tr>
              <a:tr h="636588">
                <a:tc>
                  <a:txBody>
                    <a:bodyPr lIns="95250" tIns="95250" rIns="95250" bIns="95250"/>
                    <a:lstStyle/>
                    <a:p>
                      <a:r>
                        <a:rPr sz="2025" b="0">
                          <a:solidFill>
                            <a:srgbClr val="1F4E79"/>
                          </a:solidFill>
                          <a:latin typeface="Arial"/>
                          <a:ea typeface="Arial"/>
                          <a:cs typeface="Arial"/>
                        </a:rPr>
                        <a:t>B3</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1</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5</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4</a:t>
                      </a:r>
                    </a:p>
                  </a:txBody>
                  <a:tcPr marL="91440" marR="91440" marT="45720" marB="45720">
                    <a:solidFill>
                      <a:srgbClr val="FFFFFF"/>
                    </a:solidFill>
                  </a:tcPr>
                </a:tc>
              </a:tr>
              <a:tr h="636588">
                <a:tc>
                  <a:txBody>
                    <a:bodyPr lIns="95250" tIns="95250" rIns="95250" bIns="95250"/>
                    <a:lstStyle/>
                    <a:p>
                      <a:r>
                        <a:rPr sz="2025" b="0">
                          <a:solidFill>
                            <a:srgbClr val="1F4E79"/>
                          </a:solidFill>
                          <a:latin typeface="Arial"/>
                          <a:ea typeface="Arial"/>
                          <a:cs typeface="Arial"/>
                        </a:rPr>
                        <a:t>C0</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r>
              <a:tr h="636588">
                <a:tc>
                  <a:txBody>
                    <a:bodyPr lIns="95250" tIns="95250" rIns="95250" bIns="95250"/>
                    <a:lstStyle/>
                    <a:p>
                      <a:r>
                        <a:rPr sz="2025" b="0">
                          <a:solidFill>
                            <a:srgbClr val="1F4E79"/>
                          </a:solidFill>
                          <a:latin typeface="Arial"/>
                          <a:ea typeface="Arial"/>
                          <a:cs typeface="Arial"/>
                        </a:rPr>
                        <a:t>L3</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88428752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CD5E7A0-A564-42D3-98A4-4A542B1A0E30}"/>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C0 keeps the original semantic scores</a:t>
            </a:r>
          </a:p>
        </p:txBody>
      </p:sp>
      <p:sp>
        <p:nvSpPr>
          <p:cNvPr id="2" name="">
            <a:extLst xmlns:a="http://schemas.openxmlformats.org/drawingml/2006/main">
              <a:ext uri="{FF2B5EF4-FFF2-40B4-BE49-F238E27FC236}">
                <a16:creationId xmlns:a16="http://schemas.microsoft.com/office/drawing/2014/main" id="{4AEA3F66-134A-479B-AB43-5FB9151A4EA5}"/>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6</a:t>
            </a:r>
          </a:p>
        </p:txBody>
      </p:sp>
      <p:sp>
        <p:nvSpPr>
          <p:cNvPr id="3" name="">
            <a:extLst xmlns:a="http://schemas.openxmlformats.org/drawingml/2006/main">
              <a:ext uri="{FF2B5EF4-FFF2-40B4-BE49-F238E27FC236}">
                <a16:creationId xmlns:a16="http://schemas.microsoft.com/office/drawing/2014/main" id="{13874321-C529-49E5-A690-9B31B741D576}"/>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Source: follow-up C0 and frozen B0/B3 saved outputs</a:t>
            </a:r>
          </a:p>
        </p:txBody>
      </p:sp>
      <p:sp>
        <p:nvSpPr>
          <p:cNvPr id="4" name="">
            <a:extLst xmlns:a="http://schemas.openxmlformats.org/drawingml/2006/main">
              <a:ext uri="{FF2B5EF4-FFF2-40B4-BE49-F238E27FC236}">
                <a16:creationId xmlns:a16="http://schemas.microsoft.com/office/drawing/2014/main" id="{29A591C0-687C-4F3D-AC7C-68B2BB4670D9}"/>
              </a:ext>
            </a:extLst>
          </p:cNvPr>
          <p:cNvSpPr>
            <a:spLocks xmlns:a="http://schemas.openxmlformats.org/drawingml/2006/main" noGrp="1"/>
          </p:cNvSpPr>
          <p:nvPr/>
        </p:nvSpPr>
        <p:spPr>
          <a:xfrm xmlns:a="http://schemas.openxmlformats.org/drawingml/2006/main">
            <a:off x="609600" y="140970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1F4E79"/>
                </a:solidFill>
                <a:latin typeface="Arial"/>
                <a:ea typeface="Arial"/>
                <a:cs typeface="Arial"/>
              </a:defRPr>
            </a:defPPr>
            <a:lvl1pPr>
              <a:defRPr sz="1725" b="0">
                <a:solidFill>
                  <a:srgbClr val="1F4E79"/>
                </a:solidFill>
                <a:latin typeface="Arial"/>
                <a:ea typeface="Arial"/>
                <a:cs typeface="Arial"/>
              </a:defRPr>
            </a:lvl1pPr>
            <a:lvl2pPr>
              <a:defRPr sz="1725" b="0">
                <a:solidFill>
                  <a:srgbClr val="1F4E79"/>
                </a:solidFill>
                <a:latin typeface="Arial"/>
                <a:ea typeface="Arial"/>
                <a:cs typeface="Arial"/>
              </a:defRPr>
            </a:lvl2pPr>
            <a:lvl3pPr>
              <a:defRPr sz="1725" b="0">
                <a:solidFill>
                  <a:srgbClr val="1F4E79"/>
                </a:solidFill>
                <a:latin typeface="Arial"/>
                <a:ea typeface="Arial"/>
                <a:cs typeface="Arial"/>
              </a:defRPr>
            </a:lvl3pPr>
            <a:lvl4pPr>
              <a:defRPr sz="1725" b="0">
                <a:solidFill>
                  <a:srgbClr val="1F4E79"/>
                </a:solidFill>
                <a:latin typeface="Arial"/>
                <a:ea typeface="Arial"/>
                <a:cs typeface="Arial"/>
              </a:defRPr>
            </a:lvl4pPr>
            <a:lvl5pPr>
              <a:defRPr sz="1725" b="0">
                <a:solidFill>
                  <a:srgbClr val="1F4E79"/>
                </a:solidFill>
                <a:latin typeface="Arial"/>
                <a:ea typeface="Arial"/>
                <a:cs typeface="Arial"/>
              </a:defRPr>
            </a:lvl5pPr>
            <a:lvl6pPr>
              <a:defRPr sz="1725" b="0">
                <a:solidFill>
                  <a:srgbClr val="1F4E79"/>
                </a:solidFill>
                <a:latin typeface="Arial"/>
                <a:ea typeface="Arial"/>
                <a:cs typeface="Arial"/>
              </a:defRPr>
            </a:lvl6pPr>
            <a:lvl7pPr>
              <a:defRPr sz="1725" b="0">
                <a:solidFill>
                  <a:srgbClr val="1F4E79"/>
                </a:solidFill>
                <a:latin typeface="Arial"/>
                <a:ea typeface="Arial"/>
                <a:cs typeface="Arial"/>
              </a:defRPr>
            </a:lvl7pPr>
            <a:lvl8pPr>
              <a:defRPr sz="1725" b="0">
                <a:solidFill>
                  <a:srgbClr val="1F4E79"/>
                </a:solidFill>
                <a:latin typeface="Arial"/>
                <a:ea typeface="Arial"/>
                <a:cs typeface="Arial"/>
              </a:defRPr>
            </a:lvl8pPr>
            <a:lvl9pPr>
              <a:defRPr sz="1725" b="0">
                <a:solidFill>
                  <a:srgbClr val="1F4E79"/>
                </a:solidFill>
                <a:latin typeface="Arial"/>
                <a:ea typeface="Arial"/>
                <a:cs typeface="Arial"/>
              </a:defRPr>
            </a:lvl9pPr>
          </a:lstStyle>
          <a:p xmlns:a="http://schemas.openxmlformats.org/drawingml/2006/main">
            <a:pPr>
              <a:defRPr sz="1725" b="0">
                <a:solidFill>
                  <a:srgbClr val="1F4E79"/>
                </a:solidFill>
                <a:latin typeface="Arial"/>
                <a:ea typeface="Arial"/>
                <a:cs typeface="Arial"/>
              </a:defRPr>
            </a:pPr>
            <a:r>
              <a:rPr sz="1725" b="0">
                <a:solidFill>
                  <a:srgbClr val="1F4E79"/>
                </a:solidFill>
                <a:latin typeface="Arial"/>
                <a:ea typeface="Arial"/>
                <a:cs typeface="Arial"/>
              </a:rPr>
              <a:t>Mean edge F1 (higher is better)</a:t>
            </a:r>
          </a:p>
        </p:txBody>
      </p:sp>
      <p:graphicFrame>
        <p:nvGraphicFramePr>
          <p:cNvPr id="5" name="Chart">
            <a:extLst xmlns:a="http://schemas.openxmlformats.org/drawingml/2006/main">
              <a:ext uri="{FF2B5EF4-FFF2-40B4-BE49-F238E27FC236}">
                <a16:creationId xmlns:a16="http://schemas.microsoft.com/office/drawing/2014/main" id="{93D207EF-6CB7-4BAD-B2E0-7548CA8D8D93}"/>
              </a:ext>
            </a:extLst>
          </p:cNvPr>
          <p:cNvGraphicFramePr/>
          <p:nvPr/>
        </p:nvGraphicFramePr>
        <p:xfrm>
          <a:off xmlns:a="http://schemas.openxmlformats.org/drawingml/2006/main" x="609600" y="1743075"/>
          <a:ext xmlns:a="http://schemas.openxmlformats.org/drawingml/2006/main" cx="7000875" cy="4019550"/>
        </p:xfrm>
        <a:graphic xmlns:a="http://schemas.openxmlformats.org/drawingml/2006/main">
          <a:graphicData uri="http://schemas.openxmlformats.org/drawingml/2006/chart">
            <c:chart xmlns:r="http://schemas.openxmlformats.org/officeDocument/2006/relationships" xmlns:c="http://schemas.openxmlformats.org/drawingml/2006/chart" r:id="R81bd6a37258b4977"/>
          </a:graphicData>
        </a:graphic>
      </p:graphicFrame>
      <p:sp>
        <p:nvSpPr>
          <p:cNvPr id="6" name="">
            <a:extLst xmlns:a="http://schemas.openxmlformats.org/drawingml/2006/main">
              <a:ext uri="{FF2B5EF4-FFF2-40B4-BE49-F238E27FC236}">
                <a16:creationId xmlns:a16="http://schemas.microsoft.com/office/drawing/2014/main" id="{7CFAD9B3-7E65-4538-8883-0EE099E4308C}"/>
              </a:ext>
            </a:extLst>
          </p:cNvPr>
          <p:cNvSpPr>
            <a:spLocks xmlns:a="http://schemas.openxmlformats.org/drawingml/2006/main" noGrp="1"/>
          </p:cNvSpPr>
          <p:nvPr/>
        </p:nvSpPr>
        <p:spPr>
          <a:xfrm xmlns:a="http://schemas.openxmlformats.org/drawingml/2006/main">
            <a:off x="8048625" y="2000250"/>
            <a:ext cx="333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Exact C0: 11/15</a:t>
            </a:r>
          </a:p>
        </p:txBody>
      </p:sp>
      <p:sp>
        <p:nvSpPr>
          <p:cNvPr id="7" name="">
            <a:extLst xmlns:a="http://schemas.openxmlformats.org/drawingml/2006/main">
              <a:ext uri="{FF2B5EF4-FFF2-40B4-BE49-F238E27FC236}">
                <a16:creationId xmlns:a16="http://schemas.microsoft.com/office/drawing/2014/main" id="{64721983-B929-4FF2-9386-DA186ECE2AB4}"/>
              </a:ext>
            </a:extLst>
          </p:cNvPr>
          <p:cNvSpPr>
            <a:spLocks xmlns:a="http://schemas.openxmlformats.org/drawingml/2006/main" noGrp="1"/>
          </p:cNvSpPr>
          <p:nvPr/>
        </p:nvSpPr>
        <p:spPr>
          <a:xfrm xmlns:a="http://schemas.openxmlformats.org/drawingml/2006/main">
            <a:off x="8048625" y="2952750"/>
            <a:ext cx="333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Fixed: 0</a:t>
            </a:r>
          </a:p>
        </p:txBody>
      </p:sp>
      <p:sp>
        <p:nvSpPr>
          <p:cNvPr id="8" name="">
            <a:extLst xmlns:a="http://schemas.openxmlformats.org/drawingml/2006/main">
              <a:ext uri="{FF2B5EF4-FFF2-40B4-BE49-F238E27FC236}">
                <a16:creationId xmlns:a16="http://schemas.microsoft.com/office/drawing/2014/main" id="{1BB8749B-4FC8-4F6C-934D-1DD43356D11D}"/>
              </a:ext>
            </a:extLst>
          </p:cNvPr>
          <p:cNvSpPr>
            <a:spLocks xmlns:a="http://schemas.openxmlformats.org/drawingml/2006/main" noGrp="1"/>
          </p:cNvSpPr>
          <p:nvPr/>
        </p:nvSpPr>
        <p:spPr>
          <a:xfrm xmlns:a="http://schemas.openxmlformats.org/drawingml/2006/main">
            <a:off x="8048625" y="3905250"/>
            <a:ext cx="333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Broken: 0</a:t>
            </a:r>
          </a:p>
        </p:txBody>
      </p:sp>
    </p:spTree>
    <p:extLst>
      <p:ext uri="{BB962C8B-B14F-4D97-AF65-F5344CB8AC3E}">
        <p14:creationId xmlns:p14="http://schemas.microsoft.com/office/powerpoint/2010/main" val="197395633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9FB125F-5A4B-4F43-B47C-8AFA1D26134C}"/>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Coordinates-only editing preserves graph structure</a:t>
            </a:r>
          </a:p>
        </p:txBody>
      </p:sp>
      <p:sp>
        <p:nvSpPr>
          <p:cNvPr id="2" name="">
            <a:extLst xmlns:a="http://schemas.openxmlformats.org/drawingml/2006/main">
              <a:ext uri="{FF2B5EF4-FFF2-40B4-BE49-F238E27FC236}">
                <a16:creationId xmlns:a16="http://schemas.microsoft.com/office/drawing/2014/main" id="{84DC5F4F-B934-433E-B4A3-D405139F9F4A}"/>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7</a:t>
            </a:r>
          </a:p>
        </p:txBody>
      </p:sp>
      <p:sp>
        <p:nvSpPr>
          <p:cNvPr id="3" name="">
            <a:extLst xmlns:a="http://schemas.openxmlformats.org/drawingml/2006/main">
              <a:ext uri="{FF2B5EF4-FFF2-40B4-BE49-F238E27FC236}">
                <a16:creationId xmlns:a16="http://schemas.microsoft.com/office/drawing/2014/main" id="{D1C60010-8AE8-4481-8A08-EF6EC81CE215}"/>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Source: revised runs/layout_v2; failed format attempt preserved separately</a:t>
            </a:r>
          </a:p>
        </p:txBody>
      </p:sp>
      <p:sp>
        <p:nvSpPr>
          <p:cNvPr id="4" name="">
            <a:extLst xmlns:a="http://schemas.openxmlformats.org/drawingml/2006/main">
              <a:ext uri="{FF2B5EF4-FFF2-40B4-BE49-F238E27FC236}">
                <a16:creationId xmlns:a16="http://schemas.microsoft.com/office/drawing/2014/main" id="{8B6202DF-1DC2-4AD1-B73C-FC2B3B8E529A}"/>
              </a:ext>
            </a:extLst>
          </p:cNvPr>
          <p:cNvSpPr>
            <a:spLocks xmlns:a="http://schemas.openxmlformats.org/drawingml/2006/main" noGrp="1"/>
          </p:cNvSpPr>
          <p:nvPr/>
        </p:nvSpPr>
        <p:spPr>
          <a:xfrm xmlns:a="http://schemas.openxmlformats.org/drawingml/2006/main">
            <a:off x="609600" y="140970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1F4E79"/>
                </a:solidFill>
                <a:latin typeface="Arial"/>
                <a:ea typeface="Arial"/>
                <a:cs typeface="Arial"/>
              </a:defRPr>
            </a:defPPr>
            <a:lvl1pPr>
              <a:defRPr sz="1725" b="0">
                <a:solidFill>
                  <a:srgbClr val="1F4E79"/>
                </a:solidFill>
                <a:latin typeface="Arial"/>
                <a:ea typeface="Arial"/>
                <a:cs typeface="Arial"/>
              </a:defRPr>
            </a:lvl1pPr>
            <a:lvl2pPr>
              <a:defRPr sz="1725" b="0">
                <a:solidFill>
                  <a:srgbClr val="1F4E79"/>
                </a:solidFill>
                <a:latin typeface="Arial"/>
                <a:ea typeface="Arial"/>
                <a:cs typeface="Arial"/>
              </a:defRPr>
            </a:lvl2pPr>
            <a:lvl3pPr>
              <a:defRPr sz="1725" b="0">
                <a:solidFill>
                  <a:srgbClr val="1F4E79"/>
                </a:solidFill>
                <a:latin typeface="Arial"/>
                <a:ea typeface="Arial"/>
                <a:cs typeface="Arial"/>
              </a:defRPr>
            </a:lvl3pPr>
            <a:lvl4pPr>
              <a:defRPr sz="1725" b="0">
                <a:solidFill>
                  <a:srgbClr val="1F4E79"/>
                </a:solidFill>
                <a:latin typeface="Arial"/>
                <a:ea typeface="Arial"/>
                <a:cs typeface="Arial"/>
              </a:defRPr>
            </a:lvl4pPr>
            <a:lvl5pPr>
              <a:defRPr sz="1725" b="0">
                <a:solidFill>
                  <a:srgbClr val="1F4E79"/>
                </a:solidFill>
                <a:latin typeface="Arial"/>
                <a:ea typeface="Arial"/>
                <a:cs typeface="Arial"/>
              </a:defRPr>
            </a:lvl5pPr>
            <a:lvl6pPr>
              <a:defRPr sz="1725" b="0">
                <a:solidFill>
                  <a:srgbClr val="1F4E79"/>
                </a:solidFill>
                <a:latin typeface="Arial"/>
                <a:ea typeface="Arial"/>
                <a:cs typeface="Arial"/>
              </a:defRPr>
            </a:lvl6pPr>
            <a:lvl7pPr>
              <a:defRPr sz="1725" b="0">
                <a:solidFill>
                  <a:srgbClr val="1F4E79"/>
                </a:solidFill>
                <a:latin typeface="Arial"/>
                <a:ea typeface="Arial"/>
                <a:cs typeface="Arial"/>
              </a:defRPr>
            </a:lvl7pPr>
            <a:lvl8pPr>
              <a:defRPr sz="1725" b="0">
                <a:solidFill>
                  <a:srgbClr val="1F4E79"/>
                </a:solidFill>
                <a:latin typeface="Arial"/>
                <a:ea typeface="Arial"/>
                <a:cs typeface="Arial"/>
              </a:defRPr>
            </a:lvl8pPr>
            <a:lvl9pPr>
              <a:defRPr sz="1725" b="0">
                <a:solidFill>
                  <a:srgbClr val="1F4E79"/>
                </a:solidFill>
                <a:latin typeface="Arial"/>
                <a:ea typeface="Arial"/>
                <a:cs typeface="Arial"/>
              </a:defRPr>
            </a:lvl9pPr>
          </a:lstStyle>
          <a:p xmlns:a="http://schemas.openxmlformats.org/drawingml/2006/main">
            <a:pPr>
              <a:defRPr sz="1725" b="0">
                <a:solidFill>
                  <a:srgbClr val="1F4E79"/>
                </a:solidFill>
                <a:latin typeface="Arial"/>
                <a:ea typeface="Arial"/>
                <a:cs typeface="Arial"/>
              </a:defRPr>
            </a:pPr>
            <a:r>
              <a:rPr sz="1725" b="0">
                <a:solidFill>
                  <a:srgbClr val="1F4E79"/>
                </a:solidFill>
                <a:latin typeface="Arial"/>
                <a:ea typeface="Arial"/>
                <a:cs typeface="Arial"/>
              </a:rPr>
              <a:t>Mean geometry errors / diagram (lower is better)</a:t>
            </a:r>
          </a:p>
        </p:txBody>
      </p:sp>
      <p:graphicFrame>
        <p:nvGraphicFramePr>
          <p:cNvPr id="5" name="Chart">
            <a:extLst xmlns:a="http://schemas.openxmlformats.org/drawingml/2006/main">
              <a:ext uri="{FF2B5EF4-FFF2-40B4-BE49-F238E27FC236}">
                <a16:creationId xmlns:a16="http://schemas.microsoft.com/office/drawing/2014/main" id="{FB8252E0-3B28-4F71-AD93-5142F08D7A7F}"/>
              </a:ext>
            </a:extLst>
          </p:cNvPr>
          <p:cNvGraphicFramePr/>
          <p:nvPr/>
        </p:nvGraphicFramePr>
        <p:xfrm>
          <a:off xmlns:a="http://schemas.openxmlformats.org/drawingml/2006/main" x="609600" y="1743075"/>
          <a:ext xmlns:a="http://schemas.openxmlformats.org/drawingml/2006/main" cx="7000875" cy="4019550"/>
        </p:xfrm>
        <a:graphic xmlns:a="http://schemas.openxmlformats.org/drawingml/2006/main">
          <a:graphicData uri="http://schemas.openxmlformats.org/drawingml/2006/chart">
            <c:chart xmlns:r="http://schemas.openxmlformats.org/officeDocument/2006/relationships" xmlns:c="http://schemas.openxmlformats.org/drawingml/2006/chart" r:id="Rac8edb22af6a4641"/>
          </a:graphicData>
        </a:graphic>
      </p:graphicFrame>
      <p:sp>
        <p:nvSpPr>
          <p:cNvPr id="6" name="">
            <a:extLst xmlns:a="http://schemas.openxmlformats.org/drawingml/2006/main">
              <a:ext uri="{FF2B5EF4-FFF2-40B4-BE49-F238E27FC236}">
                <a16:creationId xmlns:a16="http://schemas.microsoft.com/office/drawing/2014/main" id="{611A2463-2EE2-4267-A733-D546FCA16E56}"/>
              </a:ext>
            </a:extLst>
          </p:cNvPr>
          <p:cNvSpPr>
            <a:spLocks xmlns:a="http://schemas.openxmlformats.org/drawingml/2006/main" noGrp="1"/>
          </p:cNvSpPr>
          <p:nvPr/>
        </p:nvSpPr>
        <p:spPr>
          <a:xfrm xmlns:a="http://schemas.openxmlformats.org/drawingml/2006/main">
            <a:off x="8048625" y="1847850"/>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F4E79"/>
                </a:solidFill>
                <a:latin typeface="Arial"/>
                <a:ea typeface="Arial"/>
                <a:cs typeface="Arial"/>
              </a:defRPr>
            </a:defPPr>
            <a:lvl1pPr>
              <a:defRPr sz="2025" b="0">
                <a:solidFill>
                  <a:srgbClr val="1F4E79"/>
                </a:solidFill>
                <a:latin typeface="Arial"/>
                <a:ea typeface="Arial"/>
                <a:cs typeface="Arial"/>
              </a:defRPr>
            </a:lvl1pPr>
            <a:lvl2pPr>
              <a:defRPr sz="2025" b="0">
                <a:solidFill>
                  <a:srgbClr val="1F4E79"/>
                </a:solidFill>
                <a:latin typeface="Arial"/>
                <a:ea typeface="Arial"/>
                <a:cs typeface="Arial"/>
              </a:defRPr>
            </a:lvl2pPr>
            <a:lvl3pPr>
              <a:defRPr sz="2025" b="0">
                <a:solidFill>
                  <a:srgbClr val="1F4E79"/>
                </a:solidFill>
                <a:latin typeface="Arial"/>
                <a:ea typeface="Arial"/>
                <a:cs typeface="Arial"/>
              </a:defRPr>
            </a:lvl3pPr>
            <a:lvl4pPr>
              <a:defRPr sz="2025" b="0">
                <a:solidFill>
                  <a:srgbClr val="1F4E79"/>
                </a:solidFill>
                <a:latin typeface="Arial"/>
                <a:ea typeface="Arial"/>
                <a:cs typeface="Arial"/>
              </a:defRPr>
            </a:lvl4pPr>
            <a:lvl5pPr>
              <a:defRPr sz="2025" b="0">
                <a:solidFill>
                  <a:srgbClr val="1F4E79"/>
                </a:solidFill>
                <a:latin typeface="Arial"/>
                <a:ea typeface="Arial"/>
                <a:cs typeface="Arial"/>
              </a:defRPr>
            </a:lvl5pPr>
            <a:lvl6pPr>
              <a:defRPr sz="2025" b="0">
                <a:solidFill>
                  <a:srgbClr val="1F4E79"/>
                </a:solidFill>
                <a:latin typeface="Arial"/>
                <a:ea typeface="Arial"/>
                <a:cs typeface="Arial"/>
              </a:defRPr>
            </a:lvl6pPr>
            <a:lvl7pPr>
              <a:defRPr sz="2025" b="0">
                <a:solidFill>
                  <a:srgbClr val="1F4E79"/>
                </a:solidFill>
                <a:latin typeface="Arial"/>
                <a:ea typeface="Arial"/>
                <a:cs typeface="Arial"/>
              </a:defRPr>
            </a:lvl7pPr>
            <a:lvl8pPr>
              <a:defRPr sz="2025" b="0">
                <a:solidFill>
                  <a:srgbClr val="1F4E79"/>
                </a:solidFill>
                <a:latin typeface="Arial"/>
                <a:ea typeface="Arial"/>
                <a:cs typeface="Arial"/>
              </a:defRPr>
            </a:lvl8pPr>
            <a:lvl9pPr>
              <a:defRPr sz="2025" b="0">
                <a:solidFill>
                  <a:srgbClr val="1F4E79"/>
                </a:solidFill>
                <a:latin typeface="Arial"/>
                <a:ea typeface="Arial"/>
                <a:cs typeface="Arial"/>
              </a:defRPr>
            </a:lvl9pPr>
          </a:lstStyle>
          <a:p xmlns:a="http://schemas.openxmlformats.org/drawingml/2006/main">
            <a:pPr>
              <a:defRPr sz="2025" b="0">
                <a:solidFill>
                  <a:srgbClr val="1F4E79"/>
                </a:solidFill>
                <a:latin typeface="Arial"/>
                <a:ea typeface="Arial"/>
                <a:cs typeface="Arial"/>
              </a:defRPr>
            </a:pPr>
            <a:r>
              <a:rPr sz="2025" b="0">
                <a:solidFill>
                  <a:srgbClr val="1F4E79"/>
                </a:solidFill>
                <a:latin typeface="Arial"/>
                <a:ea typeface="Arial"/>
                <a:cs typeface="Arial"/>
              </a:rPr>
              <a:t>Exact L3 v2: 11/15</a:t>
            </a:r>
          </a:p>
        </p:txBody>
      </p:sp>
      <p:sp>
        <p:nvSpPr>
          <p:cNvPr id="7" name="">
            <a:extLst xmlns:a="http://schemas.openxmlformats.org/drawingml/2006/main">
              <a:ext uri="{FF2B5EF4-FFF2-40B4-BE49-F238E27FC236}">
                <a16:creationId xmlns:a16="http://schemas.microsoft.com/office/drawing/2014/main" id="{54AF1848-D8EE-4BDD-869E-A5146B966156}"/>
              </a:ext>
            </a:extLst>
          </p:cNvPr>
          <p:cNvSpPr>
            <a:spLocks xmlns:a="http://schemas.openxmlformats.org/drawingml/2006/main" noGrp="1"/>
          </p:cNvSpPr>
          <p:nvPr/>
        </p:nvSpPr>
        <p:spPr>
          <a:xfrm xmlns:a="http://schemas.openxmlformats.org/drawingml/2006/main">
            <a:off x="8048625" y="2686050"/>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F4E79"/>
                </a:solidFill>
                <a:latin typeface="Arial"/>
                <a:ea typeface="Arial"/>
                <a:cs typeface="Arial"/>
              </a:defRPr>
            </a:defPPr>
            <a:lvl1pPr>
              <a:defRPr sz="2025" b="0">
                <a:solidFill>
                  <a:srgbClr val="1F4E79"/>
                </a:solidFill>
                <a:latin typeface="Arial"/>
                <a:ea typeface="Arial"/>
                <a:cs typeface="Arial"/>
              </a:defRPr>
            </a:lvl1pPr>
            <a:lvl2pPr>
              <a:defRPr sz="2025" b="0">
                <a:solidFill>
                  <a:srgbClr val="1F4E79"/>
                </a:solidFill>
                <a:latin typeface="Arial"/>
                <a:ea typeface="Arial"/>
                <a:cs typeface="Arial"/>
              </a:defRPr>
            </a:lvl2pPr>
            <a:lvl3pPr>
              <a:defRPr sz="2025" b="0">
                <a:solidFill>
                  <a:srgbClr val="1F4E79"/>
                </a:solidFill>
                <a:latin typeface="Arial"/>
                <a:ea typeface="Arial"/>
                <a:cs typeface="Arial"/>
              </a:defRPr>
            </a:lvl3pPr>
            <a:lvl4pPr>
              <a:defRPr sz="2025" b="0">
                <a:solidFill>
                  <a:srgbClr val="1F4E79"/>
                </a:solidFill>
                <a:latin typeface="Arial"/>
                <a:ea typeface="Arial"/>
                <a:cs typeface="Arial"/>
              </a:defRPr>
            </a:lvl4pPr>
            <a:lvl5pPr>
              <a:defRPr sz="2025" b="0">
                <a:solidFill>
                  <a:srgbClr val="1F4E79"/>
                </a:solidFill>
                <a:latin typeface="Arial"/>
                <a:ea typeface="Arial"/>
                <a:cs typeface="Arial"/>
              </a:defRPr>
            </a:lvl5pPr>
            <a:lvl6pPr>
              <a:defRPr sz="2025" b="0">
                <a:solidFill>
                  <a:srgbClr val="1F4E79"/>
                </a:solidFill>
                <a:latin typeface="Arial"/>
                <a:ea typeface="Arial"/>
                <a:cs typeface="Arial"/>
              </a:defRPr>
            </a:lvl6pPr>
            <a:lvl7pPr>
              <a:defRPr sz="2025" b="0">
                <a:solidFill>
                  <a:srgbClr val="1F4E79"/>
                </a:solidFill>
                <a:latin typeface="Arial"/>
                <a:ea typeface="Arial"/>
                <a:cs typeface="Arial"/>
              </a:defRPr>
            </a:lvl7pPr>
            <a:lvl8pPr>
              <a:defRPr sz="2025" b="0">
                <a:solidFill>
                  <a:srgbClr val="1F4E79"/>
                </a:solidFill>
                <a:latin typeface="Arial"/>
                <a:ea typeface="Arial"/>
                <a:cs typeface="Arial"/>
              </a:defRPr>
            </a:lvl8pPr>
            <a:lvl9pPr>
              <a:defRPr sz="2025" b="0">
                <a:solidFill>
                  <a:srgbClr val="1F4E79"/>
                </a:solidFill>
                <a:latin typeface="Arial"/>
                <a:ea typeface="Arial"/>
                <a:cs typeface="Arial"/>
              </a:defRPr>
            </a:lvl9pPr>
          </a:lstStyle>
          <a:p xmlns:a="http://schemas.openxmlformats.org/drawingml/2006/main">
            <a:pPr>
              <a:defRPr sz="2025" b="0">
                <a:solidFill>
                  <a:srgbClr val="1F4E79"/>
                </a:solidFill>
                <a:latin typeface="Arial"/>
                <a:ea typeface="Arial"/>
                <a:cs typeface="Arial"/>
              </a:defRPr>
            </a:pPr>
            <a:r>
              <a:rPr sz="2025" b="0">
                <a:solidFill>
                  <a:srgbClr val="1F4E79"/>
                </a:solidFill>
                <a:latin typeface="Arial"/>
                <a:ea typeface="Arial"/>
                <a:cs typeface="Arial"/>
              </a:rPr>
              <a:t>Topology enforced</a:t>
            </a:r>
          </a:p>
        </p:txBody>
      </p:sp>
      <p:sp>
        <p:nvSpPr>
          <p:cNvPr id="8" name="">
            <a:extLst xmlns:a="http://schemas.openxmlformats.org/drawingml/2006/main">
              <a:ext uri="{FF2B5EF4-FFF2-40B4-BE49-F238E27FC236}">
                <a16:creationId xmlns:a16="http://schemas.microsoft.com/office/drawing/2014/main" id="{1D659DDE-370E-46B3-8007-764B0CCDB309}"/>
              </a:ext>
            </a:extLst>
          </p:cNvPr>
          <p:cNvSpPr>
            <a:spLocks xmlns:a="http://schemas.openxmlformats.org/drawingml/2006/main" noGrp="1"/>
          </p:cNvSpPr>
          <p:nvPr/>
        </p:nvSpPr>
        <p:spPr>
          <a:xfrm xmlns:a="http://schemas.openxmlformats.org/drawingml/2006/main">
            <a:off x="8048625" y="3524250"/>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F4E79"/>
                </a:solidFill>
                <a:latin typeface="Arial"/>
                <a:ea typeface="Arial"/>
                <a:cs typeface="Arial"/>
              </a:defRPr>
            </a:defPPr>
            <a:lvl1pPr>
              <a:defRPr sz="2025" b="0">
                <a:solidFill>
                  <a:srgbClr val="1F4E79"/>
                </a:solidFill>
                <a:latin typeface="Arial"/>
                <a:ea typeface="Arial"/>
                <a:cs typeface="Arial"/>
              </a:defRPr>
            </a:lvl1pPr>
            <a:lvl2pPr>
              <a:defRPr sz="2025" b="0">
                <a:solidFill>
                  <a:srgbClr val="1F4E79"/>
                </a:solidFill>
                <a:latin typeface="Arial"/>
                <a:ea typeface="Arial"/>
                <a:cs typeface="Arial"/>
              </a:defRPr>
            </a:lvl2pPr>
            <a:lvl3pPr>
              <a:defRPr sz="2025" b="0">
                <a:solidFill>
                  <a:srgbClr val="1F4E79"/>
                </a:solidFill>
                <a:latin typeface="Arial"/>
                <a:ea typeface="Arial"/>
                <a:cs typeface="Arial"/>
              </a:defRPr>
            </a:lvl3pPr>
            <a:lvl4pPr>
              <a:defRPr sz="2025" b="0">
                <a:solidFill>
                  <a:srgbClr val="1F4E79"/>
                </a:solidFill>
                <a:latin typeface="Arial"/>
                <a:ea typeface="Arial"/>
                <a:cs typeface="Arial"/>
              </a:defRPr>
            </a:lvl4pPr>
            <a:lvl5pPr>
              <a:defRPr sz="2025" b="0">
                <a:solidFill>
                  <a:srgbClr val="1F4E79"/>
                </a:solidFill>
                <a:latin typeface="Arial"/>
                <a:ea typeface="Arial"/>
                <a:cs typeface="Arial"/>
              </a:defRPr>
            </a:lvl5pPr>
            <a:lvl6pPr>
              <a:defRPr sz="2025" b="0">
                <a:solidFill>
                  <a:srgbClr val="1F4E79"/>
                </a:solidFill>
                <a:latin typeface="Arial"/>
                <a:ea typeface="Arial"/>
                <a:cs typeface="Arial"/>
              </a:defRPr>
            </a:lvl6pPr>
            <a:lvl7pPr>
              <a:defRPr sz="2025" b="0">
                <a:solidFill>
                  <a:srgbClr val="1F4E79"/>
                </a:solidFill>
                <a:latin typeface="Arial"/>
                <a:ea typeface="Arial"/>
                <a:cs typeface="Arial"/>
              </a:defRPr>
            </a:lvl7pPr>
            <a:lvl8pPr>
              <a:defRPr sz="2025" b="0">
                <a:solidFill>
                  <a:srgbClr val="1F4E79"/>
                </a:solidFill>
                <a:latin typeface="Arial"/>
                <a:ea typeface="Arial"/>
                <a:cs typeface="Arial"/>
              </a:defRPr>
            </a:lvl8pPr>
            <a:lvl9pPr>
              <a:defRPr sz="2025" b="0">
                <a:solidFill>
                  <a:srgbClr val="1F4E79"/>
                </a:solidFill>
                <a:latin typeface="Arial"/>
                <a:ea typeface="Arial"/>
                <a:cs typeface="Arial"/>
              </a:defRPr>
            </a:lvl9pPr>
          </a:lstStyle>
          <a:p xmlns:a="http://schemas.openxmlformats.org/drawingml/2006/main">
            <a:pPr>
              <a:defRPr sz="2025" b="0">
                <a:solidFill>
                  <a:srgbClr val="1F4E79"/>
                </a:solidFill>
                <a:latin typeface="Arial"/>
                <a:ea typeface="Arial"/>
                <a:cs typeface="Arial"/>
              </a:defRPr>
            </a:pPr>
            <a:r>
              <a:rPr sz="2025" b="0">
                <a:solidFill>
                  <a:srgbClr val="1F4E79"/>
                </a:solidFill>
                <a:latin typeface="Arial"/>
                <a:ea typeface="Arial"/>
                <a:cs typeface="Arial"/>
              </a:rPr>
              <a:t>v1: 8 invalid scenes</a:t>
            </a:r>
          </a:p>
        </p:txBody>
      </p:sp>
      <p:sp>
        <p:nvSpPr>
          <p:cNvPr id="9" name="">
            <a:extLst xmlns:a="http://schemas.openxmlformats.org/drawingml/2006/main">
              <a:ext uri="{FF2B5EF4-FFF2-40B4-BE49-F238E27FC236}">
                <a16:creationId xmlns:a16="http://schemas.microsoft.com/office/drawing/2014/main" id="{826E4A94-DA9F-4DAA-9CCC-A5AFF900A17C}"/>
              </a:ext>
            </a:extLst>
          </p:cNvPr>
          <p:cNvSpPr>
            <a:spLocks xmlns:a="http://schemas.openxmlformats.org/drawingml/2006/main" noGrp="1"/>
          </p:cNvSpPr>
          <p:nvPr/>
        </p:nvSpPr>
        <p:spPr>
          <a:xfrm xmlns:a="http://schemas.openxmlformats.org/drawingml/2006/main">
            <a:off x="8048625" y="4362450"/>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F4E79"/>
                </a:solidFill>
                <a:latin typeface="Arial"/>
                <a:ea typeface="Arial"/>
                <a:cs typeface="Arial"/>
              </a:defRPr>
            </a:defPPr>
            <a:lvl1pPr>
              <a:defRPr sz="2025" b="0">
                <a:solidFill>
                  <a:srgbClr val="1F4E79"/>
                </a:solidFill>
                <a:latin typeface="Arial"/>
                <a:ea typeface="Arial"/>
                <a:cs typeface="Arial"/>
              </a:defRPr>
            </a:lvl1pPr>
            <a:lvl2pPr>
              <a:defRPr sz="2025" b="0">
                <a:solidFill>
                  <a:srgbClr val="1F4E79"/>
                </a:solidFill>
                <a:latin typeface="Arial"/>
                <a:ea typeface="Arial"/>
                <a:cs typeface="Arial"/>
              </a:defRPr>
            </a:lvl2pPr>
            <a:lvl3pPr>
              <a:defRPr sz="2025" b="0">
                <a:solidFill>
                  <a:srgbClr val="1F4E79"/>
                </a:solidFill>
                <a:latin typeface="Arial"/>
                <a:ea typeface="Arial"/>
                <a:cs typeface="Arial"/>
              </a:defRPr>
            </a:lvl3pPr>
            <a:lvl4pPr>
              <a:defRPr sz="2025" b="0">
                <a:solidFill>
                  <a:srgbClr val="1F4E79"/>
                </a:solidFill>
                <a:latin typeface="Arial"/>
                <a:ea typeface="Arial"/>
                <a:cs typeface="Arial"/>
              </a:defRPr>
            </a:lvl4pPr>
            <a:lvl5pPr>
              <a:defRPr sz="2025" b="0">
                <a:solidFill>
                  <a:srgbClr val="1F4E79"/>
                </a:solidFill>
                <a:latin typeface="Arial"/>
                <a:ea typeface="Arial"/>
                <a:cs typeface="Arial"/>
              </a:defRPr>
            </a:lvl5pPr>
            <a:lvl6pPr>
              <a:defRPr sz="2025" b="0">
                <a:solidFill>
                  <a:srgbClr val="1F4E79"/>
                </a:solidFill>
                <a:latin typeface="Arial"/>
                <a:ea typeface="Arial"/>
                <a:cs typeface="Arial"/>
              </a:defRPr>
            </a:lvl6pPr>
            <a:lvl7pPr>
              <a:defRPr sz="2025" b="0">
                <a:solidFill>
                  <a:srgbClr val="1F4E79"/>
                </a:solidFill>
                <a:latin typeface="Arial"/>
                <a:ea typeface="Arial"/>
                <a:cs typeface="Arial"/>
              </a:defRPr>
            </a:lvl7pPr>
            <a:lvl8pPr>
              <a:defRPr sz="2025" b="0">
                <a:solidFill>
                  <a:srgbClr val="1F4E79"/>
                </a:solidFill>
                <a:latin typeface="Arial"/>
                <a:ea typeface="Arial"/>
                <a:cs typeface="Arial"/>
              </a:defRPr>
            </a:lvl8pPr>
            <a:lvl9pPr>
              <a:defRPr sz="2025" b="0">
                <a:solidFill>
                  <a:srgbClr val="1F4E79"/>
                </a:solidFill>
                <a:latin typeface="Arial"/>
                <a:ea typeface="Arial"/>
                <a:cs typeface="Arial"/>
              </a:defRPr>
            </a:lvl9pPr>
          </a:lstStyle>
          <a:p xmlns:a="http://schemas.openxmlformats.org/drawingml/2006/main">
            <a:pPr>
              <a:defRPr sz="2025" b="0">
                <a:solidFill>
                  <a:srgbClr val="1F4E79"/>
                </a:solidFill>
                <a:latin typeface="Arial"/>
                <a:ea typeface="Arial"/>
                <a:cs typeface="Arial"/>
              </a:defRPr>
            </a:pPr>
            <a:r>
              <a:rPr sz="2025" b="0">
                <a:solidFill>
                  <a:srgbClr val="1F4E79"/>
                </a:solidFill>
                <a:latin typeface="Arial"/>
                <a:ea typeface="Arial"/>
                <a:cs typeface="Arial"/>
              </a:rPr>
              <a:t>16 failed-format calls</a:t>
            </a:r>
          </a:p>
        </p:txBody>
      </p:sp>
    </p:spTree>
    <p:extLst>
      <p:ext uri="{BB962C8B-B14F-4D97-AF65-F5344CB8AC3E}">
        <p14:creationId xmlns:p14="http://schemas.microsoft.com/office/powerpoint/2010/main" val="121286120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5FF1A308-DB85-427B-9756-2C5C9AC731EB}"/>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A combined edit adds two wrong shortcuts</a:t>
            </a:r>
          </a:p>
        </p:txBody>
      </p:sp>
      <p:sp>
        <p:nvSpPr>
          <p:cNvPr id="2" name="">
            <a:extLst xmlns:a="http://schemas.openxmlformats.org/drawingml/2006/main">
              <a:ext uri="{FF2B5EF4-FFF2-40B4-BE49-F238E27FC236}">
                <a16:creationId xmlns:a16="http://schemas.microsoft.com/office/drawing/2014/main" id="{DEBC7AE5-1567-490F-BE6C-54425125A571}"/>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8</a:t>
            </a:r>
          </a:p>
        </p:txBody>
      </p:sp>
      <p:sp>
        <p:nvSpPr>
          <p:cNvPr id="3" name="">
            <a:extLst xmlns:a="http://schemas.openxmlformats.org/drawingml/2006/main">
              <a:ext uri="{FF2B5EF4-FFF2-40B4-BE49-F238E27FC236}">
                <a16:creationId xmlns:a16="http://schemas.microsoft.com/office/drawing/2014/main" id="{CCC6AF55-CE7E-4A63-8170-6C7B261FF291}"/>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Affected subgraph: test_chain_01 B0/B3; saved scenes and visual feedback</a:t>
            </a:r>
          </a:p>
        </p:txBody>
      </p:sp>
      <p:sp>
        <p:nvSpPr>
          <p:cNvPr id="4" name="">
            <a:extLst xmlns:a="http://schemas.openxmlformats.org/drawingml/2006/main">
              <a:ext uri="{FF2B5EF4-FFF2-40B4-BE49-F238E27FC236}">
                <a16:creationId xmlns:a16="http://schemas.microsoft.com/office/drawing/2014/main" id="{E4A31D2B-F800-497F-9796-360AC6AFB0F5}"/>
              </a:ext>
            </a:extLst>
          </p:cNvPr>
          <p:cNvSpPr>
            <a:spLocks xmlns:a="http://schemas.openxmlformats.org/drawingml/2006/main" noGrp="1"/>
          </p:cNvSpPr>
          <p:nvPr/>
        </p:nvSpPr>
        <p:spPr>
          <a:xfrm xmlns:a="http://schemas.openxmlformats.org/drawingml/2006/main">
            <a:off x="1047750" y="158115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F4E79"/>
                </a:solidFill>
                <a:latin typeface="Arial"/>
                <a:ea typeface="Arial"/>
                <a:cs typeface="Arial"/>
              </a:defRPr>
            </a:defPPr>
            <a:lvl1pPr>
              <a:defRPr sz="2025" b="1">
                <a:solidFill>
                  <a:srgbClr val="1F4E79"/>
                </a:solidFill>
                <a:latin typeface="Arial"/>
                <a:ea typeface="Arial"/>
                <a:cs typeface="Arial"/>
              </a:defRPr>
            </a:lvl1pPr>
            <a:lvl2pPr>
              <a:defRPr sz="2025" b="1">
                <a:solidFill>
                  <a:srgbClr val="1F4E79"/>
                </a:solidFill>
                <a:latin typeface="Arial"/>
                <a:ea typeface="Arial"/>
                <a:cs typeface="Arial"/>
              </a:defRPr>
            </a:lvl2pPr>
            <a:lvl3pPr>
              <a:defRPr sz="2025" b="1">
                <a:solidFill>
                  <a:srgbClr val="1F4E79"/>
                </a:solidFill>
                <a:latin typeface="Arial"/>
                <a:ea typeface="Arial"/>
                <a:cs typeface="Arial"/>
              </a:defRPr>
            </a:lvl3pPr>
            <a:lvl4pPr>
              <a:defRPr sz="2025" b="1">
                <a:solidFill>
                  <a:srgbClr val="1F4E79"/>
                </a:solidFill>
                <a:latin typeface="Arial"/>
                <a:ea typeface="Arial"/>
                <a:cs typeface="Arial"/>
              </a:defRPr>
            </a:lvl4pPr>
            <a:lvl5pPr>
              <a:defRPr sz="2025" b="1">
                <a:solidFill>
                  <a:srgbClr val="1F4E79"/>
                </a:solidFill>
                <a:latin typeface="Arial"/>
                <a:ea typeface="Arial"/>
                <a:cs typeface="Arial"/>
              </a:defRPr>
            </a:lvl5pPr>
            <a:lvl6pPr>
              <a:defRPr sz="2025" b="1">
                <a:solidFill>
                  <a:srgbClr val="1F4E79"/>
                </a:solidFill>
                <a:latin typeface="Arial"/>
                <a:ea typeface="Arial"/>
                <a:cs typeface="Arial"/>
              </a:defRPr>
            </a:lvl6pPr>
            <a:lvl7pPr>
              <a:defRPr sz="2025" b="1">
                <a:solidFill>
                  <a:srgbClr val="1F4E79"/>
                </a:solidFill>
                <a:latin typeface="Arial"/>
                <a:ea typeface="Arial"/>
                <a:cs typeface="Arial"/>
              </a:defRPr>
            </a:lvl7pPr>
            <a:lvl8pPr>
              <a:defRPr sz="2025" b="1">
                <a:solidFill>
                  <a:srgbClr val="1F4E79"/>
                </a:solidFill>
                <a:latin typeface="Arial"/>
                <a:ea typeface="Arial"/>
                <a:cs typeface="Arial"/>
              </a:defRPr>
            </a:lvl8pPr>
            <a:lvl9pPr>
              <a:defRPr sz="2025" b="1">
                <a:solidFill>
                  <a:srgbClr val="1F4E79"/>
                </a:solidFill>
                <a:latin typeface="Arial"/>
                <a:ea typeface="Arial"/>
                <a:cs typeface="Arial"/>
              </a:defRPr>
            </a:lvl9pPr>
          </a:lstStyle>
          <a:p xmlns:a="http://schemas.openxmlformats.org/drawingml/2006/main">
            <a:pPr>
              <a:defRPr sz="2025" b="1">
                <a:solidFill>
                  <a:srgbClr val="1F4E79"/>
                </a:solidFill>
                <a:latin typeface="Arial"/>
                <a:ea typeface="Arial"/>
                <a:cs typeface="Arial"/>
              </a:defRPr>
            </a:pPr>
            <a:r>
              <a:rPr sz="2025" b="1">
                <a:solidFill>
                  <a:srgbClr val="1F4E79"/>
                </a:solidFill>
                <a:latin typeface="Arial"/>
                <a:ea typeface="Arial"/>
                <a:cs typeface="Arial"/>
              </a:rPr>
              <a:t>B0: correct subgraph</a:t>
            </a:r>
          </a:p>
        </p:txBody>
      </p:sp>
      <p:sp>
        <p:nvSpPr>
          <p:cNvPr id="5" name="">
            <a:extLst xmlns:a="http://schemas.openxmlformats.org/drawingml/2006/main">
              <a:ext uri="{FF2B5EF4-FFF2-40B4-BE49-F238E27FC236}">
                <a16:creationId xmlns:a16="http://schemas.microsoft.com/office/drawing/2014/main" id="{46FE2112-9B39-4D91-8020-154EA2829F82}"/>
              </a:ext>
            </a:extLst>
          </p:cNvPr>
          <p:cNvSpPr>
            <a:spLocks xmlns:a="http://schemas.openxmlformats.org/drawingml/2006/main" noGrp="1"/>
          </p:cNvSpPr>
          <p:nvPr/>
        </p:nvSpPr>
        <p:spPr>
          <a:xfrm xmlns:a="http://schemas.openxmlformats.org/drawingml/2006/main">
            <a:off x="7429500" y="1581150"/>
            <a:ext cx="419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F4E79"/>
                </a:solidFill>
                <a:latin typeface="Arial"/>
                <a:ea typeface="Arial"/>
                <a:cs typeface="Arial"/>
              </a:defRPr>
            </a:defPPr>
            <a:lvl1pPr>
              <a:defRPr sz="2025" b="1">
                <a:solidFill>
                  <a:srgbClr val="1F4E79"/>
                </a:solidFill>
                <a:latin typeface="Arial"/>
                <a:ea typeface="Arial"/>
                <a:cs typeface="Arial"/>
              </a:defRPr>
            </a:lvl1pPr>
            <a:lvl2pPr>
              <a:defRPr sz="2025" b="1">
                <a:solidFill>
                  <a:srgbClr val="1F4E79"/>
                </a:solidFill>
                <a:latin typeface="Arial"/>
                <a:ea typeface="Arial"/>
                <a:cs typeface="Arial"/>
              </a:defRPr>
            </a:lvl2pPr>
            <a:lvl3pPr>
              <a:defRPr sz="2025" b="1">
                <a:solidFill>
                  <a:srgbClr val="1F4E79"/>
                </a:solidFill>
                <a:latin typeface="Arial"/>
                <a:ea typeface="Arial"/>
                <a:cs typeface="Arial"/>
              </a:defRPr>
            </a:lvl3pPr>
            <a:lvl4pPr>
              <a:defRPr sz="2025" b="1">
                <a:solidFill>
                  <a:srgbClr val="1F4E79"/>
                </a:solidFill>
                <a:latin typeface="Arial"/>
                <a:ea typeface="Arial"/>
                <a:cs typeface="Arial"/>
              </a:defRPr>
            </a:lvl4pPr>
            <a:lvl5pPr>
              <a:defRPr sz="2025" b="1">
                <a:solidFill>
                  <a:srgbClr val="1F4E79"/>
                </a:solidFill>
                <a:latin typeface="Arial"/>
                <a:ea typeface="Arial"/>
                <a:cs typeface="Arial"/>
              </a:defRPr>
            </a:lvl5pPr>
            <a:lvl6pPr>
              <a:defRPr sz="2025" b="1">
                <a:solidFill>
                  <a:srgbClr val="1F4E79"/>
                </a:solidFill>
                <a:latin typeface="Arial"/>
                <a:ea typeface="Arial"/>
                <a:cs typeface="Arial"/>
              </a:defRPr>
            </a:lvl6pPr>
            <a:lvl7pPr>
              <a:defRPr sz="2025" b="1">
                <a:solidFill>
                  <a:srgbClr val="1F4E79"/>
                </a:solidFill>
                <a:latin typeface="Arial"/>
                <a:ea typeface="Arial"/>
                <a:cs typeface="Arial"/>
              </a:defRPr>
            </a:lvl7pPr>
            <a:lvl8pPr>
              <a:defRPr sz="2025" b="1">
                <a:solidFill>
                  <a:srgbClr val="1F4E79"/>
                </a:solidFill>
                <a:latin typeface="Arial"/>
                <a:ea typeface="Arial"/>
                <a:cs typeface="Arial"/>
              </a:defRPr>
            </a:lvl8pPr>
            <a:lvl9pPr>
              <a:defRPr sz="2025" b="1">
                <a:solidFill>
                  <a:srgbClr val="1F4E79"/>
                </a:solidFill>
                <a:latin typeface="Arial"/>
                <a:ea typeface="Arial"/>
                <a:cs typeface="Arial"/>
              </a:defRPr>
            </a:lvl9pPr>
          </a:lstStyle>
          <a:p xmlns:a="http://schemas.openxmlformats.org/drawingml/2006/main">
            <a:pPr>
              <a:defRPr sz="2025" b="1">
                <a:solidFill>
                  <a:srgbClr val="1F4E79"/>
                </a:solidFill>
                <a:latin typeface="Arial"/>
                <a:ea typeface="Arial"/>
                <a:cs typeface="Arial"/>
              </a:defRPr>
            </a:pPr>
            <a:r>
              <a:rPr sz="2025" b="1">
                <a:solidFill>
                  <a:srgbClr val="1F4E79"/>
                </a:solidFill>
                <a:latin typeface="Arial"/>
                <a:ea typeface="Arial"/>
                <a:cs typeface="Arial"/>
              </a:rPr>
              <a:t>B3: two added shortcuts</a:t>
            </a:r>
          </a:p>
        </p:txBody>
      </p:sp>
      <p:sp>
        <p:nvSpPr>
          <p:cNvPr id="6" name="">
            <a:extLst xmlns:a="http://schemas.openxmlformats.org/drawingml/2006/main">
              <a:ext uri="{FF2B5EF4-FFF2-40B4-BE49-F238E27FC236}">
                <a16:creationId xmlns:a16="http://schemas.microsoft.com/office/drawing/2014/main" id="{C2EF503B-BD1F-4FBA-85D0-443268FB5C38}"/>
              </a:ext>
            </a:extLst>
          </p:cNvPr>
          <p:cNvSpPr>
            <a:spLocks xmlns:a="http://schemas.openxmlformats.org/drawingml/2006/main" noGrp="1"/>
          </p:cNvSpPr>
          <p:nvPr/>
        </p:nvSpPr>
        <p:spPr>
          <a:xfrm xmlns:a="http://schemas.openxmlformats.org/drawingml/2006/main">
            <a:off x="1047750" y="2047875"/>
            <a:ext cx="2857500" cy="476250"/>
          </a:xfrm>
          <a:prstGeom xmlns:a="http://schemas.openxmlformats.org/drawingml/2006/main" prst="rect">
            <a:avLst/>
          </a:prstGeom>
          <a:solidFill xmlns:a="http://schemas.openxmlformats.org/drawingml/2006/main">
            <a:srgbClr val="FFFFFF"/>
          </a:solidFill>
          <a:ln xmlns:a="http://schemas.openxmlformats.org/drawingml/2006/main" w="12383">
            <a:solidFill>
              <a:srgbClr val="1F4E79"/>
            </a:solidFill>
          </a:ln>
        </p:spPr>
        <p:txBody>
          <a:bodyPr xmlns:a="http://schemas.openxmlformats.org/drawingml/2006/main" lIns="57150" tIns="57150" rIns="57150" bIns="57150" anchor="ctr"/>
          <a:lstStyle xmlns:a="http://schemas.openxmlformats.org/drawingml/2006/main">
            <a:defPPr algn="ctr">
              <a:defRPr sz="1800">
                <a:solidFill>
                  <a:srgbClr val="1F4E79"/>
                </a:solidFill>
                <a:latin typeface="Arial"/>
                <a:ea typeface="Arial"/>
                <a:cs typeface="Arial"/>
              </a:defRPr>
            </a:defPPr>
            <a:lvl1pPr algn="ctr">
              <a:defRPr sz="1800">
                <a:solidFill>
                  <a:srgbClr val="1F4E79"/>
                </a:solidFill>
                <a:latin typeface="Arial"/>
                <a:ea typeface="Arial"/>
                <a:cs typeface="Arial"/>
              </a:defRPr>
            </a:lvl1pPr>
            <a:lvl2pPr algn="ctr">
              <a:defRPr sz="1800">
                <a:solidFill>
                  <a:srgbClr val="1F4E79"/>
                </a:solidFill>
                <a:latin typeface="Arial"/>
                <a:ea typeface="Arial"/>
                <a:cs typeface="Arial"/>
              </a:defRPr>
            </a:lvl2pPr>
            <a:lvl3pPr algn="ctr">
              <a:defRPr sz="1800">
                <a:solidFill>
                  <a:srgbClr val="1F4E79"/>
                </a:solidFill>
                <a:latin typeface="Arial"/>
                <a:ea typeface="Arial"/>
                <a:cs typeface="Arial"/>
              </a:defRPr>
            </a:lvl3pPr>
            <a:lvl4pPr algn="ctr">
              <a:defRPr sz="1800">
                <a:solidFill>
                  <a:srgbClr val="1F4E79"/>
                </a:solidFill>
                <a:latin typeface="Arial"/>
                <a:ea typeface="Arial"/>
                <a:cs typeface="Arial"/>
              </a:defRPr>
            </a:lvl4pPr>
            <a:lvl5pPr algn="ctr">
              <a:defRPr sz="1800">
                <a:solidFill>
                  <a:srgbClr val="1F4E79"/>
                </a:solidFill>
                <a:latin typeface="Arial"/>
                <a:ea typeface="Arial"/>
                <a:cs typeface="Arial"/>
              </a:defRPr>
            </a:lvl5pPr>
            <a:lvl6pPr algn="ctr">
              <a:defRPr sz="1800">
                <a:solidFill>
                  <a:srgbClr val="1F4E79"/>
                </a:solidFill>
                <a:latin typeface="Arial"/>
                <a:ea typeface="Arial"/>
                <a:cs typeface="Arial"/>
              </a:defRPr>
            </a:lvl6pPr>
            <a:lvl7pPr algn="ctr">
              <a:defRPr sz="1800">
                <a:solidFill>
                  <a:srgbClr val="1F4E79"/>
                </a:solidFill>
                <a:latin typeface="Arial"/>
                <a:ea typeface="Arial"/>
                <a:cs typeface="Arial"/>
              </a:defRPr>
            </a:lvl7pPr>
            <a:lvl8pPr algn="ctr">
              <a:defRPr sz="1800">
                <a:solidFill>
                  <a:srgbClr val="1F4E79"/>
                </a:solidFill>
                <a:latin typeface="Arial"/>
                <a:ea typeface="Arial"/>
                <a:cs typeface="Arial"/>
              </a:defRPr>
            </a:lvl8pPr>
            <a:lvl9pPr algn="ctr">
              <a:defRPr sz="1800">
                <a:solidFill>
                  <a:srgbClr val="1F4E79"/>
                </a:solidFill>
                <a:latin typeface="Arial"/>
                <a:ea typeface="Arial"/>
                <a:cs typeface="Arial"/>
              </a:defRPr>
            </a:lvl9pPr>
          </a:lstStyle>
          <a:p xmlns:a="http://schemas.openxmlformats.org/drawingml/2006/main">
            <a:pPr algn="ctr">
              <a:defRPr sz="1800">
                <a:solidFill>
                  <a:srgbClr val="1F4E79"/>
                </a:solidFill>
                <a:latin typeface="Arial"/>
                <a:ea typeface="Arial"/>
                <a:cs typeface="Arial"/>
              </a:defRPr>
            </a:pPr>
            <a:r>
              <a:rPr sz="1800">
                <a:solidFill>
                  <a:srgbClr val="1F4E79"/>
                </a:solidFill>
                <a:latin typeface="Arial"/>
                <a:ea typeface="Arial"/>
                <a:cs typeface="Arial"/>
              </a:rPr>
              <a:t>Print shipping label</a:t>
            </a:r>
          </a:p>
        </p:txBody>
      </p:sp>
      <p:sp>
        <p:nvSpPr>
          <p:cNvPr id="7" name="">
            <a:extLst xmlns:a="http://schemas.openxmlformats.org/drawingml/2006/main">
              <a:ext uri="{FF2B5EF4-FFF2-40B4-BE49-F238E27FC236}">
                <a16:creationId xmlns:a16="http://schemas.microsoft.com/office/drawing/2014/main" id="{C3F33C2C-D777-43D1-BC36-3E12C9EAD216}"/>
              </a:ext>
            </a:extLst>
          </p:cNvPr>
          <p:cNvSpPr>
            <a:spLocks xmlns:a="http://schemas.openxmlformats.org/drawingml/2006/main" noGrp="1"/>
          </p:cNvSpPr>
          <p:nvPr/>
        </p:nvSpPr>
        <p:spPr>
          <a:xfrm xmlns:a="http://schemas.openxmlformats.org/drawingml/2006/main">
            <a:off x="1047750" y="2809875"/>
            <a:ext cx="2857500" cy="476250"/>
          </a:xfrm>
          <a:prstGeom xmlns:a="http://schemas.openxmlformats.org/drawingml/2006/main" prst="rect">
            <a:avLst/>
          </a:prstGeom>
          <a:solidFill xmlns:a="http://schemas.openxmlformats.org/drawingml/2006/main">
            <a:srgbClr val="FFFFFF"/>
          </a:solidFill>
          <a:ln xmlns:a="http://schemas.openxmlformats.org/drawingml/2006/main" w="12383">
            <a:solidFill>
              <a:srgbClr val="1F4E79"/>
            </a:solidFill>
          </a:ln>
        </p:spPr>
        <p:txBody>
          <a:bodyPr xmlns:a="http://schemas.openxmlformats.org/drawingml/2006/main" lIns="57150" tIns="57150" rIns="57150" bIns="57150" anchor="ctr"/>
          <a:lstStyle xmlns:a="http://schemas.openxmlformats.org/drawingml/2006/main">
            <a:defPPr algn="ctr">
              <a:defRPr sz="1800">
                <a:solidFill>
                  <a:srgbClr val="1F4E79"/>
                </a:solidFill>
                <a:latin typeface="Arial"/>
                <a:ea typeface="Arial"/>
                <a:cs typeface="Arial"/>
              </a:defRPr>
            </a:defPPr>
            <a:lvl1pPr algn="ctr">
              <a:defRPr sz="1800">
                <a:solidFill>
                  <a:srgbClr val="1F4E79"/>
                </a:solidFill>
                <a:latin typeface="Arial"/>
                <a:ea typeface="Arial"/>
                <a:cs typeface="Arial"/>
              </a:defRPr>
            </a:lvl1pPr>
            <a:lvl2pPr algn="ctr">
              <a:defRPr sz="1800">
                <a:solidFill>
                  <a:srgbClr val="1F4E79"/>
                </a:solidFill>
                <a:latin typeface="Arial"/>
                <a:ea typeface="Arial"/>
                <a:cs typeface="Arial"/>
              </a:defRPr>
            </a:lvl2pPr>
            <a:lvl3pPr algn="ctr">
              <a:defRPr sz="1800">
                <a:solidFill>
                  <a:srgbClr val="1F4E79"/>
                </a:solidFill>
                <a:latin typeface="Arial"/>
                <a:ea typeface="Arial"/>
                <a:cs typeface="Arial"/>
              </a:defRPr>
            </a:lvl3pPr>
            <a:lvl4pPr algn="ctr">
              <a:defRPr sz="1800">
                <a:solidFill>
                  <a:srgbClr val="1F4E79"/>
                </a:solidFill>
                <a:latin typeface="Arial"/>
                <a:ea typeface="Arial"/>
                <a:cs typeface="Arial"/>
              </a:defRPr>
            </a:lvl4pPr>
            <a:lvl5pPr algn="ctr">
              <a:defRPr sz="1800">
                <a:solidFill>
                  <a:srgbClr val="1F4E79"/>
                </a:solidFill>
                <a:latin typeface="Arial"/>
                <a:ea typeface="Arial"/>
                <a:cs typeface="Arial"/>
              </a:defRPr>
            </a:lvl5pPr>
            <a:lvl6pPr algn="ctr">
              <a:defRPr sz="1800">
                <a:solidFill>
                  <a:srgbClr val="1F4E79"/>
                </a:solidFill>
                <a:latin typeface="Arial"/>
                <a:ea typeface="Arial"/>
                <a:cs typeface="Arial"/>
              </a:defRPr>
            </a:lvl6pPr>
            <a:lvl7pPr algn="ctr">
              <a:defRPr sz="1800">
                <a:solidFill>
                  <a:srgbClr val="1F4E79"/>
                </a:solidFill>
                <a:latin typeface="Arial"/>
                <a:ea typeface="Arial"/>
                <a:cs typeface="Arial"/>
              </a:defRPr>
            </a:lvl7pPr>
            <a:lvl8pPr algn="ctr">
              <a:defRPr sz="1800">
                <a:solidFill>
                  <a:srgbClr val="1F4E79"/>
                </a:solidFill>
                <a:latin typeface="Arial"/>
                <a:ea typeface="Arial"/>
                <a:cs typeface="Arial"/>
              </a:defRPr>
            </a:lvl8pPr>
            <a:lvl9pPr algn="ctr">
              <a:defRPr sz="1800">
                <a:solidFill>
                  <a:srgbClr val="1F4E79"/>
                </a:solidFill>
                <a:latin typeface="Arial"/>
                <a:ea typeface="Arial"/>
                <a:cs typeface="Arial"/>
              </a:defRPr>
            </a:lvl9pPr>
          </a:lstStyle>
          <a:p xmlns:a="http://schemas.openxmlformats.org/drawingml/2006/main">
            <a:pPr algn="ctr">
              <a:defRPr sz="1800">
                <a:solidFill>
                  <a:srgbClr val="1F4E79"/>
                </a:solidFill>
                <a:latin typeface="Arial"/>
                <a:ea typeface="Arial"/>
                <a:cs typeface="Arial"/>
              </a:defRPr>
            </a:pPr>
            <a:r>
              <a:rPr sz="1800">
                <a:solidFill>
                  <a:srgbClr val="1F4E79"/>
                </a:solidFill>
                <a:latin typeface="Arial"/>
                <a:ea typeface="Arial"/>
                <a:cs typeface="Arial"/>
              </a:rPr>
              <a:t>Attach shipping label</a:t>
            </a:r>
          </a:p>
        </p:txBody>
      </p:sp>
      <p:sp>
        <p:nvSpPr>
          <p:cNvPr id="8" name="">
            <a:extLst xmlns:a="http://schemas.openxmlformats.org/drawingml/2006/main">
              <a:ext uri="{FF2B5EF4-FFF2-40B4-BE49-F238E27FC236}">
                <a16:creationId xmlns:a16="http://schemas.microsoft.com/office/drawing/2014/main" id="{DBF46624-41D0-46FB-82ED-D6F895731406}"/>
              </a:ext>
            </a:extLst>
          </p:cNvPr>
          <p:cNvSpPr>
            <a:spLocks xmlns:a="http://schemas.openxmlformats.org/drawingml/2006/main" noGrp="1"/>
          </p:cNvSpPr>
          <p:nvPr/>
        </p:nvSpPr>
        <p:spPr>
          <a:xfrm xmlns:a="http://schemas.openxmlformats.org/drawingml/2006/main">
            <a:off x="1047750" y="3571875"/>
            <a:ext cx="2857500" cy="476250"/>
          </a:xfrm>
          <a:prstGeom xmlns:a="http://schemas.openxmlformats.org/drawingml/2006/main" prst="rect">
            <a:avLst/>
          </a:prstGeom>
          <a:solidFill xmlns:a="http://schemas.openxmlformats.org/drawingml/2006/main">
            <a:srgbClr val="FFFFFF"/>
          </a:solidFill>
          <a:ln xmlns:a="http://schemas.openxmlformats.org/drawingml/2006/main" w="12383">
            <a:solidFill>
              <a:srgbClr val="1F4E79"/>
            </a:solidFill>
          </a:ln>
        </p:spPr>
        <p:txBody>
          <a:bodyPr xmlns:a="http://schemas.openxmlformats.org/drawingml/2006/main" lIns="57150" tIns="57150" rIns="57150" bIns="57150" anchor="ctr"/>
          <a:lstStyle xmlns:a="http://schemas.openxmlformats.org/drawingml/2006/main">
            <a:defPPr algn="ctr">
              <a:defRPr sz="1800">
                <a:solidFill>
                  <a:srgbClr val="1F4E79"/>
                </a:solidFill>
                <a:latin typeface="Arial"/>
                <a:ea typeface="Arial"/>
                <a:cs typeface="Arial"/>
              </a:defRPr>
            </a:defPPr>
            <a:lvl1pPr algn="ctr">
              <a:defRPr sz="1800">
                <a:solidFill>
                  <a:srgbClr val="1F4E79"/>
                </a:solidFill>
                <a:latin typeface="Arial"/>
                <a:ea typeface="Arial"/>
                <a:cs typeface="Arial"/>
              </a:defRPr>
            </a:lvl1pPr>
            <a:lvl2pPr algn="ctr">
              <a:defRPr sz="1800">
                <a:solidFill>
                  <a:srgbClr val="1F4E79"/>
                </a:solidFill>
                <a:latin typeface="Arial"/>
                <a:ea typeface="Arial"/>
                <a:cs typeface="Arial"/>
              </a:defRPr>
            </a:lvl2pPr>
            <a:lvl3pPr algn="ctr">
              <a:defRPr sz="1800">
                <a:solidFill>
                  <a:srgbClr val="1F4E79"/>
                </a:solidFill>
                <a:latin typeface="Arial"/>
                <a:ea typeface="Arial"/>
                <a:cs typeface="Arial"/>
              </a:defRPr>
            </a:lvl3pPr>
            <a:lvl4pPr algn="ctr">
              <a:defRPr sz="1800">
                <a:solidFill>
                  <a:srgbClr val="1F4E79"/>
                </a:solidFill>
                <a:latin typeface="Arial"/>
                <a:ea typeface="Arial"/>
                <a:cs typeface="Arial"/>
              </a:defRPr>
            </a:lvl4pPr>
            <a:lvl5pPr algn="ctr">
              <a:defRPr sz="1800">
                <a:solidFill>
                  <a:srgbClr val="1F4E79"/>
                </a:solidFill>
                <a:latin typeface="Arial"/>
                <a:ea typeface="Arial"/>
                <a:cs typeface="Arial"/>
              </a:defRPr>
            </a:lvl5pPr>
            <a:lvl6pPr algn="ctr">
              <a:defRPr sz="1800">
                <a:solidFill>
                  <a:srgbClr val="1F4E79"/>
                </a:solidFill>
                <a:latin typeface="Arial"/>
                <a:ea typeface="Arial"/>
                <a:cs typeface="Arial"/>
              </a:defRPr>
            </a:lvl6pPr>
            <a:lvl7pPr algn="ctr">
              <a:defRPr sz="1800">
                <a:solidFill>
                  <a:srgbClr val="1F4E79"/>
                </a:solidFill>
                <a:latin typeface="Arial"/>
                <a:ea typeface="Arial"/>
                <a:cs typeface="Arial"/>
              </a:defRPr>
            </a:lvl7pPr>
            <a:lvl8pPr algn="ctr">
              <a:defRPr sz="1800">
                <a:solidFill>
                  <a:srgbClr val="1F4E79"/>
                </a:solidFill>
                <a:latin typeface="Arial"/>
                <a:ea typeface="Arial"/>
                <a:cs typeface="Arial"/>
              </a:defRPr>
            </a:lvl8pPr>
            <a:lvl9pPr algn="ctr">
              <a:defRPr sz="1800">
                <a:solidFill>
                  <a:srgbClr val="1F4E79"/>
                </a:solidFill>
                <a:latin typeface="Arial"/>
                <a:ea typeface="Arial"/>
                <a:cs typeface="Arial"/>
              </a:defRPr>
            </a:lvl9pPr>
          </a:lstStyle>
          <a:p xmlns:a="http://schemas.openxmlformats.org/drawingml/2006/main">
            <a:pPr algn="ctr">
              <a:defRPr sz="1800">
                <a:solidFill>
                  <a:srgbClr val="1F4E79"/>
                </a:solidFill>
                <a:latin typeface="Arial"/>
                <a:ea typeface="Arial"/>
                <a:cs typeface="Arial"/>
              </a:defRPr>
            </a:pPr>
            <a:r>
              <a:rPr sz="1800">
                <a:solidFill>
                  <a:srgbClr val="1F4E79"/>
                </a:solidFill>
                <a:latin typeface="Arial"/>
                <a:ea typeface="Arial"/>
                <a:cs typeface="Arial"/>
              </a:rPr>
              <a:t>Dispatch parcel</a:t>
            </a:r>
          </a:p>
        </p:txBody>
      </p:sp>
      <p:sp>
        <p:nvSpPr>
          <p:cNvPr id="9" name="">
            <a:extLst xmlns:a="http://schemas.openxmlformats.org/drawingml/2006/main">
              <a:ext uri="{FF2B5EF4-FFF2-40B4-BE49-F238E27FC236}">
                <a16:creationId xmlns:a16="http://schemas.microsoft.com/office/drawing/2014/main" id="{7628BA17-628F-40F0-8F1F-4CF6ABA1F59A}"/>
              </a:ext>
            </a:extLst>
          </p:cNvPr>
          <p:cNvSpPr>
            <a:spLocks xmlns:a="http://schemas.openxmlformats.org/drawingml/2006/main" noGrp="1"/>
          </p:cNvSpPr>
          <p:nvPr/>
        </p:nvSpPr>
        <p:spPr>
          <a:xfrm xmlns:a="http://schemas.openxmlformats.org/drawingml/2006/main">
            <a:off x="1047750" y="4333875"/>
            <a:ext cx="2857500" cy="476250"/>
          </a:xfrm>
          <a:prstGeom xmlns:a="http://schemas.openxmlformats.org/drawingml/2006/main" prst="rect">
            <a:avLst/>
          </a:prstGeom>
          <a:solidFill xmlns:a="http://schemas.openxmlformats.org/drawingml/2006/main">
            <a:srgbClr val="FFFFFF"/>
          </a:solidFill>
          <a:ln xmlns:a="http://schemas.openxmlformats.org/drawingml/2006/main" w="12383">
            <a:solidFill>
              <a:srgbClr val="1F4E79"/>
            </a:solidFill>
          </a:ln>
        </p:spPr>
        <p:txBody>
          <a:bodyPr xmlns:a="http://schemas.openxmlformats.org/drawingml/2006/main" lIns="57150" tIns="57150" rIns="57150" bIns="57150" anchor="ctr"/>
          <a:lstStyle xmlns:a="http://schemas.openxmlformats.org/drawingml/2006/main">
            <a:defPPr algn="ctr">
              <a:defRPr sz="1800">
                <a:solidFill>
                  <a:srgbClr val="1F4E79"/>
                </a:solidFill>
                <a:latin typeface="Arial"/>
                <a:ea typeface="Arial"/>
                <a:cs typeface="Arial"/>
              </a:defRPr>
            </a:defPPr>
            <a:lvl1pPr algn="ctr">
              <a:defRPr sz="1800">
                <a:solidFill>
                  <a:srgbClr val="1F4E79"/>
                </a:solidFill>
                <a:latin typeface="Arial"/>
                <a:ea typeface="Arial"/>
                <a:cs typeface="Arial"/>
              </a:defRPr>
            </a:lvl1pPr>
            <a:lvl2pPr algn="ctr">
              <a:defRPr sz="1800">
                <a:solidFill>
                  <a:srgbClr val="1F4E79"/>
                </a:solidFill>
                <a:latin typeface="Arial"/>
                <a:ea typeface="Arial"/>
                <a:cs typeface="Arial"/>
              </a:defRPr>
            </a:lvl2pPr>
            <a:lvl3pPr algn="ctr">
              <a:defRPr sz="1800">
                <a:solidFill>
                  <a:srgbClr val="1F4E79"/>
                </a:solidFill>
                <a:latin typeface="Arial"/>
                <a:ea typeface="Arial"/>
                <a:cs typeface="Arial"/>
              </a:defRPr>
            </a:lvl3pPr>
            <a:lvl4pPr algn="ctr">
              <a:defRPr sz="1800">
                <a:solidFill>
                  <a:srgbClr val="1F4E79"/>
                </a:solidFill>
                <a:latin typeface="Arial"/>
                <a:ea typeface="Arial"/>
                <a:cs typeface="Arial"/>
              </a:defRPr>
            </a:lvl4pPr>
            <a:lvl5pPr algn="ctr">
              <a:defRPr sz="1800">
                <a:solidFill>
                  <a:srgbClr val="1F4E79"/>
                </a:solidFill>
                <a:latin typeface="Arial"/>
                <a:ea typeface="Arial"/>
                <a:cs typeface="Arial"/>
              </a:defRPr>
            </a:lvl5pPr>
            <a:lvl6pPr algn="ctr">
              <a:defRPr sz="1800">
                <a:solidFill>
                  <a:srgbClr val="1F4E79"/>
                </a:solidFill>
                <a:latin typeface="Arial"/>
                <a:ea typeface="Arial"/>
                <a:cs typeface="Arial"/>
              </a:defRPr>
            </a:lvl6pPr>
            <a:lvl7pPr algn="ctr">
              <a:defRPr sz="1800">
                <a:solidFill>
                  <a:srgbClr val="1F4E79"/>
                </a:solidFill>
                <a:latin typeface="Arial"/>
                <a:ea typeface="Arial"/>
                <a:cs typeface="Arial"/>
              </a:defRPr>
            </a:lvl7pPr>
            <a:lvl8pPr algn="ctr">
              <a:defRPr sz="1800">
                <a:solidFill>
                  <a:srgbClr val="1F4E79"/>
                </a:solidFill>
                <a:latin typeface="Arial"/>
                <a:ea typeface="Arial"/>
                <a:cs typeface="Arial"/>
              </a:defRPr>
            </a:lvl8pPr>
            <a:lvl9pPr algn="ctr">
              <a:defRPr sz="1800">
                <a:solidFill>
                  <a:srgbClr val="1F4E79"/>
                </a:solidFill>
                <a:latin typeface="Arial"/>
                <a:ea typeface="Arial"/>
                <a:cs typeface="Arial"/>
              </a:defRPr>
            </a:lvl9pPr>
          </a:lstStyle>
          <a:p xmlns:a="http://schemas.openxmlformats.org/drawingml/2006/main">
            <a:pPr algn="ctr">
              <a:defRPr sz="1800">
                <a:solidFill>
                  <a:srgbClr val="1F4E79"/>
                </a:solidFill>
                <a:latin typeface="Arial"/>
                <a:ea typeface="Arial"/>
                <a:cs typeface="Arial"/>
              </a:defRPr>
            </a:pPr>
            <a:r>
              <a:rPr sz="1800">
                <a:solidFill>
                  <a:srgbClr val="1F4E79"/>
                </a:solidFill>
                <a:latin typeface="Arial"/>
                <a:ea typeface="Arial"/>
                <a:cs typeface="Arial"/>
              </a:rPr>
              <a:t>Parcel workflow complete</a:t>
            </a:r>
          </a:p>
        </p:txBody>
      </p:sp>
      <p:cxnSp>
        <p:nvCxnSpPr>
          <p:cNvPr id="10" name="">
            <a:extLst xmlns:a="http://schemas.openxmlformats.org/drawingml/2006/main">
              <a:ext uri="{FF2B5EF4-FFF2-40B4-BE49-F238E27FC236}">
                <a16:creationId xmlns:a16="http://schemas.microsoft.com/office/drawing/2014/main" id="{E511423A-0CD4-4962-8C0A-57B134B1985A}"/>
              </a:ext>
            </a:extLst>
          </p:cNvPr>
          <p:cNvCxnSpPr/>
          <p:nvPr/>
        </p:nvCxnSpPr>
        <p:spPr>
          <a:xfrm xmlns:a="http://schemas.openxmlformats.org/drawingml/2006/main">
            <a:off x="2476500" y="2524125"/>
            <a:ext cx="0" cy="285750"/>
          </a:xfrm>
          <a:prstGeom xmlns:a="http://schemas.openxmlformats.org/drawingml/2006/main" prst="straightConnector1">
            <a:avLst/>
          </a:prstGeom>
          <a:ln xmlns:a="http://schemas.openxmlformats.org/drawingml/2006/main" w="23813">
            <a:solidFill>
              <a:srgbClr val="1F4E79"/>
            </a:solidFill>
            <a:tailEnd type="triangle" w="med" len="med"/>
          </a:ln>
        </p:spPr>
      </p:cxnSp>
      <p:cxnSp>
        <p:nvCxnSpPr>
          <p:cNvPr id="11" name="">
            <a:extLst xmlns:a="http://schemas.openxmlformats.org/drawingml/2006/main">
              <a:ext uri="{FF2B5EF4-FFF2-40B4-BE49-F238E27FC236}">
                <a16:creationId xmlns:a16="http://schemas.microsoft.com/office/drawing/2014/main" id="{F9B6FC46-F9A5-4773-82E5-D9672562356B}"/>
              </a:ext>
            </a:extLst>
          </p:cNvPr>
          <p:cNvCxnSpPr/>
          <p:nvPr/>
        </p:nvCxnSpPr>
        <p:spPr>
          <a:xfrm xmlns:a="http://schemas.openxmlformats.org/drawingml/2006/main">
            <a:off x="2476500" y="3286125"/>
            <a:ext cx="0" cy="285750"/>
          </a:xfrm>
          <a:prstGeom xmlns:a="http://schemas.openxmlformats.org/drawingml/2006/main" prst="straightConnector1">
            <a:avLst/>
          </a:prstGeom>
          <a:ln xmlns:a="http://schemas.openxmlformats.org/drawingml/2006/main" w="23813">
            <a:solidFill>
              <a:srgbClr val="1F4E79"/>
            </a:solidFill>
            <a:tailEnd type="triangle" w="med" len="med"/>
          </a:ln>
        </p:spPr>
      </p:cxnSp>
      <p:cxnSp>
        <p:nvCxnSpPr>
          <p:cNvPr id="12" name="">
            <a:extLst xmlns:a="http://schemas.openxmlformats.org/drawingml/2006/main">
              <a:ext uri="{FF2B5EF4-FFF2-40B4-BE49-F238E27FC236}">
                <a16:creationId xmlns:a16="http://schemas.microsoft.com/office/drawing/2014/main" id="{A6F9117B-5647-4018-89F4-1D887C9907B4}"/>
              </a:ext>
            </a:extLst>
          </p:cNvPr>
          <p:cNvCxnSpPr/>
          <p:nvPr/>
        </p:nvCxnSpPr>
        <p:spPr>
          <a:xfrm xmlns:a="http://schemas.openxmlformats.org/drawingml/2006/main">
            <a:off x="2476500" y="4048125"/>
            <a:ext cx="0" cy="285750"/>
          </a:xfrm>
          <a:prstGeom xmlns:a="http://schemas.openxmlformats.org/drawingml/2006/main" prst="straightConnector1">
            <a:avLst/>
          </a:prstGeom>
          <a:ln xmlns:a="http://schemas.openxmlformats.org/drawingml/2006/main" w="23813">
            <a:solidFill>
              <a:srgbClr val="1F4E79"/>
            </a:solidFill>
            <a:tailEnd type="triangle" w="med" len="med"/>
          </a:ln>
        </p:spPr>
      </p:cxnSp>
      <p:sp>
        <p:nvSpPr>
          <p:cNvPr id="13" name="">
            <a:extLst xmlns:a="http://schemas.openxmlformats.org/drawingml/2006/main">
              <a:ext uri="{FF2B5EF4-FFF2-40B4-BE49-F238E27FC236}">
                <a16:creationId xmlns:a16="http://schemas.microsoft.com/office/drawing/2014/main" id="{927E340C-9C4C-4FA2-AE5A-1414551233CB}"/>
              </a:ext>
            </a:extLst>
          </p:cNvPr>
          <p:cNvSpPr>
            <a:spLocks xmlns:a="http://schemas.openxmlformats.org/drawingml/2006/main" noGrp="1"/>
          </p:cNvSpPr>
          <p:nvPr/>
        </p:nvSpPr>
        <p:spPr>
          <a:xfrm xmlns:a="http://schemas.openxmlformats.org/drawingml/2006/main">
            <a:off x="7429500" y="2047875"/>
            <a:ext cx="2857500" cy="476250"/>
          </a:xfrm>
          <a:prstGeom xmlns:a="http://schemas.openxmlformats.org/drawingml/2006/main" prst="rect">
            <a:avLst/>
          </a:prstGeom>
          <a:solidFill xmlns:a="http://schemas.openxmlformats.org/drawingml/2006/main">
            <a:srgbClr val="FFFFFF"/>
          </a:solidFill>
          <a:ln xmlns:a="http://schemas.openxmlformats.org/drawingml/2006/main" w="12383">
            <a:solidFill>
              <a:srgbClr val="1F4E79"/>
            </a:solidFill>
          </a:ln>
        </p:spPr>
        <p:txBody>
          <a:bodyPr xmlns:a="http://schemas.openxmlformats.org/drawingml/2006/main" lIns="57150" tIns="57150" rIns="57150" bIns="57150" anchor="ctr"/>
          <a:lstStyle xmlns:a="http://schemas.openxmlformats.org/drawingml/2006/main">
            <a:defPPr algn="ctr">
              <a:defRPr sz="1800">
                <a:solidFill>
                  <a:srgbClr val="1F4E79"/>
                </a:solidFill>
                <a:latin typeface="Arial"/>
                <a:ea typeface="Arial"/>
                <a:cs typeface="Arial"/>
              </a:defRPr>
            </a:defPPr>
            <a:lvl1pPr algn="ctr">
              <a:defRPr sz="1800">
                <a:solidFill>
                  <a:srgbClr val="1F4E79"/>
                </a:solidFill>
                <a:latin typeface="Arial"/>
                <a:ea typeface="Arial"/>
                <a:cs typeface="Arial"/>
              </a:defRPr>
            </a:lvl1pPr>
            <a:lvl2pPr algn="ctr">
              <a:defRPr sz="1800">
                <a:solidFill>
                  <a:srgbClr val="1F4E79"/>
                </a:solidFill>
                <a:latin typeface="Arial"/>
                <a:ea typeface="Arial"/>
                <a:cs typeface="Arial"/>
              </a:defRPr>
            </a:lvl2pPr>
            <a:lvl3pPr algn="ctr">
              <a:defRPr sz="1800">
                <a:solidFill>
                  <a:srgbClr val="1F4E79"/>
                </a:solidFill>
                <a:latin typeface="Arial"/>
                <a:ea typeface="Arial"/>
                <a:cs typeface="Arial"/>
              </a:defRPr>
            </a:lvl3pPr>
            <a:lvl4pPr algn="ctr">
              <a:defRPr sz="1800">
                <a:solidFill>
                  <a:srgbClr val="1F4E79"/>
                </a:solidFill>
                <a:latin typeface="Arial"/>
                <a:ea typeface="Arial"/>
                <a:cs typeface="Arial"/>
              </a:defRPr>
            </a:lvl4pPr>
            <a:lvl5pPr algn="ctr">
              <a:defRPr sz="1800">
                <a:solidFill>
                  <a:srgbClr val="1F4E79"/>
                </a:solidFill>
                <a:latin typeface="Arial"/>
                <a:ea typeface="Arial"/>
                <a:cs typeface="Arial"/>
              </a:defRPr>
            </a:lvl5pPr>
            <a:lvl6pPr algn="ctr">
              <a:defRPr sz="1800">
                <a:solidFill>
                  <a:srgbClr val="1F4E79"/>
                </a:solidFill>
                <a:latin typeface="Arial"/>
                <a:ea typeface="Arial"/>
                <a:cs typeface="Arial"/>
              </a:defRPr>
            </a:lvl6pPr>
            <a:lvl7pPr algn="ctr">
              <a:defRPr sz="1800">
                <a:solidFill>
                  <a:srgbClr val="1F4E79"/>
                </a:solidFill>
                <a:latin typeface="Arial"/>
                <a:ea typeface="Arial"/>
                <a:cs typeface="Arial"/>
              </a:defRPr>
            </a:lvl7pPr>
            <a:lvl8pPr algn="ctr">
              <a:defRPr sz="1800">
                <a:solidFill>
                  <a:srgbClr val="1F4E79"/>
                </a:solidFill>
                <a:latin typeface="Arial"/>
                <a:ea typeface="Arial"/>
                <a:cs typeface="Arial"/>
              </a:defRPr>
            </a:lvl8pPr>
            <a:lvl9pPr algn="ctr">
              <a:defRPr sz="1800">
                <a:solidFill>
                  <a:srgbClr val="1F4E79"/>
                </a:solidFill>
                <a:latin typeface="Arial"/>
                <a:ea typeface="Arial"/>
                <a:cs typeface="Arial"/>
              </a:defRPr>
            </a:lvl9pPr>
          </a:lstStyle>
          <a:p xmlns:a="http://schemas.openxmlformats.org/drawingml/2006/main">
            <a:pPr algn="ctr">
              <a:defRPr sz="1800">
                <a:solidFill>
                  <a:srgbClr val="1F4E79"/>
                </a:solidFill>
                <a:latin typeface="Arial"/>
                <a:ea typeface="Arial"/>
                <a:cs typeface="Arial"/>
              </a:defRPr>
            </a:pPr>
            <a:r>
              <a:rPr sz="1800">
                <a:solidFill>
                  <a:srgbClr val="1F4E79"/>
                </a:solidFill>
                <a:latin typeface="Arial"/>
                <a:ea typeface="Arial"/>
                <a:cs typeface="Arial"/>
              </a:rPr>
              <a:t>Print shipping label</a:t>
            </a:r>
          </a:p>
        </p:txBody>
      </p:sp>
      <p:sp>
        <p:nvSpPr>
          <p:cNvPr id="14" name="">
            <a:extLst xmlns:a="http://schemas.openxmlformats.org/drawingml/2006/main">
              <a:ext uri="{FF2B5EF4-FFF2-40B4-BE49-F238E27FC236}">
                <a16:creationId xmlns:a16="http://schemas.microsoft.com/office/drawing/2014/main" id="{44F4D400-1A55-461F-A283-4B80A92747B5}"/>
              </a:ext>
            </a:extLst>
          </p:cNvPr>
          <p:cNvSpPr>
            <a:spLocks xmlns:a="http://schemas.openxmlformats.org/drawingml/2006/main" noGrp="1"/>
          </p:cNvSpPr>
          <p:nvPr/>
        </p:nvSpPr>
        <p:spPr>
          <a:xfrm xmlns:a="http://schemas.openxmlformats.org/drawingml/2006/main">
            <a:off x="7429500" y="2809875"/>
            <a:ext cx="2857500" cy="476250"/>
          </a:xfrm>
          <a:prstGeom xmlns:a="http://schemas.openxmlformats.org/drawingml/2006/main" prst="rect">
            <a:avLst/>
          </a:prstGeom>
          <a:solidFill xmlns:a="http://schemas.openxmlformats.org/drawingml/2006/main">
            <a:srgbClr val="FFFFFF"/>
          </a:solidFill>
          <a:ln xmlns:a="http://schemas.openxmlformats.org/drawingml/2006/main" w="12383">
            <a:solidFill>
              <a:srgbClr val="1F4E79"/>
            </a:solidFill>
          </a:ln>
        </p:spPr>
        <p:txBody>
          <a:bodyPr xmlns:a="http://schemas.openxmlformats.org/drawingml/2006/main" lIns="57150" tIns="57150" rIns="57150" bIns="57150" anchor="ctr"/>
          <a:lstStyle xmlns:a="http://schemas.openxmlformats.org/drawingml/2006/main">
            <a:defPPr algn="ctr">
              <a:defRPr sz="1800">
                <a:solidFill>
                  <a:srgbClr val="1F4E79"/>
                </a:solidFill>
                <a:latin typeface="Arial"/>
                <a:ea typeface="Arial"/>
                <a:cs typeface="Arial"/>
              </a:defRPr>
            </a:defPPr>
            <a:lvl1pPr algn="ctr">
              <a:defRPr sz="1800">
                <a:solidFill>
                  <a:srgbClr val="1F4E79"/>
                </a:solidFill>
                <a:latin typeface="Arial"/>
                <a:ea typeface="Arial"/>
                <a:cs typeface="Arial"/>
              </a:defRPr>
            </a:lvl1pPr>
            <a:lvl2pPr algn="ctr">
              <a:defRPr sz="1800">
                <a:solidFill>
                  <a:srgbClr val="1F4E79"/>
                </a:solidFill>
                <a:latin typeface="Arial"/>
                <a:ea typeface="Arial"/>
                <a:cs typeface="Arial"/>
              </a:defRPr>
            </a:lvl2pPr>
            <a:lvl3pPr algn="ctr">
              <a:defRPr sz="1800">
                <a:solidFill>
                  <a:srgbClr val="1F4E79"/>
                </a:solidFill>
                <a:latin typeface="Arial"/>
                <a:ea typeface="Arial"/>
                <a:cs typeface="Arial"/>
              </a:defRPr>
            </a:lvl3pPr>
            <a:lvl4pPr algn="ctr">
              <a:defRPr sz="1800">
                <a:solidFill>
                  <a:srgbClr val="1F4E79"/>
                </a:solidFill>
                <a:latin typeface="Arial"/>
                <a:ea typeface="Arial"/>
                <a:cs typeface="Arial"/>
              </a:defRPr>
            </a:lvl4pPr>
            <a:lvl5pPr algn="ctr">
              <a:defRPr sz="1800">
                <a:solidFill>
                  <a:srgbClr val="1F4E79"/>
                </a:solidFill>
                <a:latin typeface="Arial"/>
                <a:ea typeface="Arial"/>
                <a:cs typeface="Arial"/>
              </a:defRPr>
            </a:lvl5pPr>
            <a:lvl6pPr algn="ctr">
              <a:defRPr sz="1800">
                <a:solidFill>
                  <a:srgbClr val="1F4E79"/>
                </a:solidFill>
                <a:latin typeface="Arial"/>
                <a:ea typeface="Arial"/>
                <a:cs typeface="Arial"/>
              </a:defRPr>
            </a:lvl6pPr>
            <a:lvl7pPr algn="ctr">
              <a:defRPr sz="1800">
                <a:solidFill>
                  <a:srgbClr val="1F4E79"/>
                </a:solidFill>
                <a:latin typeface="Arial"/>
                <a:ea typeface="Arial"/>
                <a:cs typeface="Arial"/>
              </a:defRPr>
            </a:lvl7pPr>
            <a:lvl8pPr algn="ctr">
              <a:defRPr sz="1800">
                <a:solidFill>
                  <a:srgbClr val="1F4E79"/>
                </a:solidFill>
                <a:latin typeface="Arial"/>
                <a:ea typeface="Arial"/>
                <a:cs typeface="Arial"/>
              </a:defRPr>
            </a:lvl8pPr>
            <a:lvl9pPr algn="ctr">
              <a:defRPr sz="1800">
                <a:solidFill>
                  <a:srgbClr val="1F4E79"/>
                </a:solidFill>
                <a:latin typeface="Arial"/>
                <a:ea typeface="Arial"/>
                <a:cs typeface="Arial"/>
              </a:defRPr>
            </a:lvl9pPr>
          </a:lstStyle>
          <a:p xmlns:a="http://schemas.openxmlformats.org/drawingml/2006/main">
            <a:pPr algn="ctr">
              <a:defRPr sz="1800">
                <a:solidFill>
                  <a:srgbClr val="1F4E79"/>
                </a:solidFill>
                <a:latin typeface="Arial"/>
                <a:ea typeface="Arial"/>
                <a:cs typeface="Arial"/>
              </a:defRPr>
            </a:pPr>
            <a:r>
              <a:rPr sz="1800">
                <a:solidFill>
                  <a:srgbClr val="1F4E79"/>
                </a:solidFill>
                <a:latin typeface="Arial"/>
                <a:ea typeface="Arial"/>
                <a:cs typeface="Arial"/>
              </a:rPr>
              <a:t>Attach shipping label</a:t>
            </a:r>
          </a:p>
        </p:txBody>
      </p:sp>
      <p:sp>
        <p:nvSpPr>
          <p:cNvPr id="15" name="">
            <a:extLst xmlns:a="http://schemas.openxmlformats.org/drawingml/2006/main">
              <a:ext uri="{FF2B5EF4-FFF2-40B4-BE49-F238E27FC236}">
                <a16:creationId xmlns:a16="http://schemas.microsoft.com/office/drawing/2014/main" id="{5C60C52E-4B43-4685-AE10-58B530F19F8D}"/>
              </a:ext>
            </a:extLst>
          </p:cNvPr>
          <p:cNvSpPr>
            <a:spLocks xmlns:a="http://schemas.openxmlformats.org/drawingml/2006/main" noGrp="1"/>
          </p:cNvSpPr>
          <p:nvPr/>
        </p:nvSpPr>
        <p:spPr>
          <a:xfrm xmlns:a="http://schemas.openxmlformats.org/drawingml/2006/main">
            <a:off x="7429500" y="3571875"/>
            <a:ext cx="2857500" cy="476250"/>
          </a:xfrm>
          <a:prstGeom xmlns:a="http://schemas.openxmlformats.org/drawingml/2006/main" prst="rect">
            <a:avLst/>
          </a:prstGeom>
          <a:solidFill xmlns:a="http://schemas.openxmlformats.org/drawingml/2006/main">
            <a:srgbClr val="FFFFFF"/>
          </a:solidFill>
          <a:ln xmlns:a="http://schemas.openxmlformats.org/drawingml/2006/main" w="12383">
            <a:solidFill>
              <a:srgbClr val="1F4E79"/>
            </a:solidFill>
          </a:ln>
        </p:spPr>
        <p:txBody>
          <a:bodyPr xmlns:a="http://schemas.openxmlformats.org/drawingml/2006/main" lIns="57150" tIns="57150" rIns="57150" bIns="57150" anchor="ctr"/>
          <a:lstStyle xmlns:a="http://schemas.openxmlformats.org/drawingml/2006/main">
            <a:defPPr algn="ctr">
              <a:defRPr sz="1800">
                <a:solidFill>
                  <a:srgbClr val="1F4E79"/>
                </a:solidFill>
                <a:latin typeface="Arial"/>
                <a:ea typeface="Arial"/>
                <a:cs typeface="Arial"/>
              </a:defRPr>
            </a:defPPr>
            <a:lvl1pPr algn="ctr">
              <a:defRPr sz="1800">
                <a:solidFill>
                  <a:srgbClr val="1F4E79"/>
                </a:solidFill>
                <a:latin typeface="Arial"/>
                <a:ea typeface="Arial"/>
                <a:cs typeface="Arial"/>
              </a:defRPr>
            </a:lvl1pPr>
            <a:lvl2pPr algn="ctr">
              <a:defRPr sz="1800">
                <a:solidFill>
                  <a:srgbClr val="1F4E79"/>
                </a:solidFill>
                <a:latin typeface="Arial"/>
                <a:ea typeface="Arial"/>
                <a:cs typeface="Arial"/>
              </a:defRPr>
            </a:lvl2pPr>
            <a:lvl3pPr algn="ctr">
              <a:defRPr sz="1800">
                <a:solidFill>
                  <a:srgbClr val="1F4E79"/>
                </a:solidFill>
                <a:latin typeface="Arial"/>
                <a:ea typeface="Arial"/>
                <a:cs typeface="Arial"/>
              </a:defRPr>
            </a:lvl3pPr>
            <a:lvl4pPr algn="ctr">
              <a:defRPr sz="1800">
                <a:solidFill>
                  <a:srgbClr val="1F4E79"/>
                </a:solidFill>
                <a:latin typeface="Arial"/>
                <a:ea typeface="Arial"/>
                <a:cs typeface="Arial"/>
              </a:defRPr>
            </a:lvl4pPr>
            <a:lvl5pPr algn="ctr">
              <a:defRPr sz="1800">
                <a:solidFill>
                  <a:srgbClr val="1F4E79"/>
                </a:solidFill>
                <a:latin typeface="Arial"/>
                <a:ea typeface="Arial"/>
                <a:cs typeface="Arial"/>
              </a:defRPr>
            </a:lvl5pPr>
            <a:lvl6pPr algn="ctr">
              <a:defRPr sz="1800">
                <a:solidFill>
                  <a:srgbClr val="1F4E79"/>
                </a:solidFill>
                <a:latin typeface="Arial"/>
                <a:ea typeface="Arial"/>
                <a:cs typeface="Arial"/>
              </a:defRPr>
            </a:lvl6pPr>
            <a:lvl7pPr algn="ctr">
              <a:defRPr sz="1800">
                <a:solidFill>
                  <a:srgbClr val="1F4E79"/>
                </a:solidFill>
                <a:latin typeface="Arial"/>
                <a:ea typeface="Arial"/>
                <a:cs typeface="Arial"/>
              </a:defRPr>
            </a:lvl7pPr>
            <a:lvl8pPr algn="ctr">
              <a:defRPr sz="1800">
                <a:solidFill>
                  <a:srgbClr val="1F4E79"/>
                </a:solidFill>
                <a:latin typeface="Arial"/>
                <a:ea typeface="Arial"/>
                <a:cs typeface="Arial"/>
              </a:defRPr>
            </a:lvl8pPr>
            <a:lvl9pPr algn="ctr">
              <a:defRPr sz="1800">
                <a:solidFill>
                  <a:srgbClr val="1F4E79"/>
                </a:solidFill>
                <a:latin typeface="Arial"/>
                <a:ea typeface="Arial"/>
                <a:cs typeface="Arial"/>
              </a:defRPr>
            </a:lvl9pPr>
          </a:lstStyle>
          <a:p xmlns:a="http://schemas.openxmlformats.org/drawingml/2006/main">
            <a:pPr algn="ctr">
              <a:defRPr sz="1800">
                <a:solidFill>
                  <a:srgbClr val="1F4E79"/>
                </a:solidFill>
                <a:latin typeface="Arial"/>
                <a:ea typeface="Arial"/>
                <a:cs typeface="Arial"/>
              </a:defRPr>
            </a:pPr>
            <a:r>
              <a:rPr sz="1800">
                <a:solidFill>
                  <a:srgbClr val="1F4E79"/>
                </a:solidFill>
                <a:latin typeface="Arial"/>
                <a:ea typeface="Arial"/>
                <a:cs typeface="Arial"/>
              </a:rPr>
              <a:t>Dispatch parcel</a:t>
            </a:r>
          </a:p>
        </p:txBody>
      </p:sp>
      <p:sp>
        <p:nvSpPr>
          <p:cNvPr id="16" name="">
            <a:extLst xmlns:a="http://schemas.openxmlformats.org/drawingml/2006/main">
              <a:ext uri="{FF2B5EF4-FFF2-40B4-BE49-F238E27FC236}">
                <a16:creationId xmlns:a16="http://schemas.microsoft.com/office/drawing/2014/main" id="{617F4927-226A-4D68-8188-601F77DC9BD3}"/>
              </a:ext>
            </a:extLst>
          </p:cNvPr>
          <p:cNvSpPr>
            <a:spLocks xmlns:a="http://schemas.openxmlformats.org/drawingml/2006/main" noGrp="1"/>
          </p:cNvSpPr>
          <p:nvPr/>
        </p:nvSpPr>
        <p:spPr>
          <a:xfrm xmlns:a="http://schemas.openxmlformats.org/drawingml/2006/main">
            <a:off x="7429500" y="4333875"/>
            <a:ext cx="2857500" cy="476250"/>
          </a:xfrm>
          <a:prstGeom xmlns:a="http://schemas.openxmlformats.org/drawingml/2006/main" prst="rect">
            <a:avLst/>
          </a:prstGeom>
          <a:solidFill xmlns:a="http://schemas.openxmlformats.org/drawingml/2006/main">
            <a:srgbClr val="FFFFFF"/>
          </a:solidFill>
          <a:ln xmlns:a="http://schemas.openxmlformats.org/drawingml/2006/main" w="12383">
            <a:solidFill>
              <a:srgbClr val="1F4E79"/>
            </a:solidFill>
          </a:ln>
        </p:spPr>
        <p:txBody>
          <a:bodyPr xmlns:a="http://schemas.openxmlformats.org/drawingml/2006/main" lIns="57150" tIns="57150" rIns="57150" bIns="57150" anchor="ctr"/>
          <a:lstStyle xmlns:a="http://schemas.openxmlformats.org/drawingml/2006/main">
            <a:defPPr algn="ctr">
              <a:defRPr sz="1800">
                <a:solidFill>
                  <a:srgbClr val="1F4E79"/>
                </a:solidFill>
                <a:latin typeface="Arial"/>
                <a:ea typeface="Arial"/>
                <a:cs typeface="Arial"/>
              </a:defRPr>
            </a:defPPr>
            <a:lvl1pPr algn="ctr">
              <a:defRPr sz="1800">
                <a:solidFill>
                  <a:srgbClr val="1F4E79"/>
                </a:solidFill>
                <a:latin typeface="Arial"/>
                <a:ea typeface="Arial"/>
                <a:cs typeface="Arial"/>
              </a:defRPr>
            </a:lvl1pPr>
            <a:lvl2pPr algn="ctr">
              <a:defRPr sz="1800">
                <a:solidFill>
                  <a:srgbClr val="1F4E79"/>
                </a:solidFill>
                <a:latin typeface="Arial"/>
                <a:ea typeface="Arial"/>
                <a:cs typeface="Arial"/>
              </a:defRPr>
            </a:lvl2pPr>
            <a:lvl3pPr algn="ctr">
              <a:defRPr sz="1800">
                <a:solidFill>
                  <a:srgbClr val="1F4E79"/>
                </a:solidFill>
                <a:latin typeface="Arial"/>
                <a:ea typeface="Arial"/>
                <a:cs typeface="Arial"/>
              </a:defRPr>
            </a:lvl3pPr>
            <a:lvl4pPr algn="ctr">
              <a:defRPr sz="1800">
                <a:solidFill>
                  <a:srgbClr val="1F4E79"/>
                </a:solidFill>
                <a:latin typeface="Arial"/>
                <a:ea typeface="Arial"/>
                <a:cs typeface="Arial"/>
              </a:defRPr>
            </a:lvl4pPr>
            <a:lvl5pPr algn="ctr">
              <a:defRPr sz="1800">
                <a:solidFill>
                  <a:srgbClr val="1F4E79"/>
                </a:solidFill>
                <a:latin typeface="Arial"/>
                <a:ea typeface="Arial"/>
                <a:cs typeface="Arial"/>
              </a:defRPr>
            </a:lvl5pPr>
            <a:lvl6pPr algn="ctr">
              <a:defRPr sz="1800">
                <a:solidFill>
                  <a:srgbClr val="1F4E79"/>
                </a:solidFill>
                <a:latin typeface="Arial"/>
                <a:ea typeface="Arial"/>
                <a:cs typeface="Arial"/>
              </a:defRPr>
            </a:lvl6pPr>
            <a:lvl7pPr algn="ctr">
              <a:defRPr sz="1800">
                <a:solidFill>
                  <a:srgbClr val="1F4E79"/>
                </a:solidFill>
                <a:latin typeface="Arial"/>
                <a:ea typeface="Arial"/>
                <a:cs typeface="Arial"/>
              </a:defRPr>
            </a:lvl7pPr>
            <a:lvl8pPr algn="ctr">
              <a:defRPr sz="1800">
                <a:solidFill>
                  <a:srgbClr val="1F4E79"/>
                </a:solidFill>
                <a:latin typeface="Arial"/>
                <a:ea typeface="Arial"/>
                <a:cs typeface="Arial"/>
              </a:defRPr>
            </a:lvl8pPr>
            <a:lvl9pPr algn="ctr">
              <a:defRPr sz="1800">
                <a:solidFill>
                  <a:srgbClr val="1F4E79"/>
                </a:solidFill>
                <a:latin typeface="Arial"/>
                <a:ea typeface="Arial"/>
                <a:cs typeface="Arial"/>
              </a:defRPr>
            </a:lvl9pPr>
          </a:lstStyle>
          <a:p xmlns:a="http://schemas.openxmlformats.org/drawingml/2006/main">
            <a:pPr algn="ctr">
              <a:defRPr sz="1800">
                <a:solidFill>
                  <a:srgbClr val="1F4E79"/>
                </a:solidFill>
                <a:latin typeface="Arial"/>
                <a:ea typeface="Arial"/>
                <a:cs typeface="Arial"/>
              </a:defRPr>
            </a:pPr>
            <a:r>
              <a:rPr sz="1800">
                <a:solidFill>
                  <a:srgbClr val="1F4E79"/>
                </a:solidFill>
                <a:latin typeface="Arial"/>
                <a:ea typeface="Arial"/>
                <a:cs typeface="Arial"/>
              </a:rPr>
              <a:t>Parcel workflow complete</a:t>
            </a:r>
          </a:p>
        </p:txBody>
      </p:sp>
      <p:cxnSp>
        <p:nvCxnSpPr>
          <p:cNvPr id="17" name="">
            <a:extLst xmlns:a="http://schemas.openxmlformats.org/drawingml/2006/main">
              <a:ext uri="{FF2B5EF4-FFF2-40B4-BE49-F238E27FC236}">
                <a16:creationId xmlns:a16="http://schemas.microsoft.com/office/drawing/2014/main" id="{AF1F7683-EE8E-4F9A-BE38-84FE22E6066B}"/>
              </a:ext>
            </a:extLst>
          </p:cNvPr>
          <p:cNvCxnSpPr/>
          <p:nvPr/>
        </p:nvCxnSpPr>
        <p:spPr>
          <a:xfrm xmlns:a="http://schemas.openxmlformats.org/drawingml/2006/main">
            <a:off x="8858250" y="2524125"/>
            <a:ext cx="0" cy="285750"/>
          </a:xfrm>
          <a:prstGeom xmlns:a="http://schemas.openxmlformats.org/drawingml/2006/main" prst="straightConnector1">
            <a:avLst/>
          </a:prstGeom>
          <a:ln xmlns:a="http://schemas.openxmlformats.org/drawingml/2006/main" w="23813">
            <a:solidFill>
              <a:srgbClr val="1F4E79"/>
            </a:solidFill>
            <a:tailEnd type="triangle" w="med" len="med"/>
          </a:ln>
        </p:spPr>
      </p:cxnSp>
      <p:cxnSp>
        <p:nvCxnSpPr>
          <p:cNvPr id="18" name="">
            <a:extLst xmlns:a="http://schemas.openxmlformats.org/drawingml/2006/main">
              <a:ext uri="{FF2B5EF4-FFF2-40B4-BE49-F238E27FC236}">
                <a16:creationId xmlns:a16="http://schemas.microsoft.com/office/drawing/2014/main" id="{A09A6325-CEF9-44E0-A766-2A41DC4C8EAD}"/>
              </a:ext>
            </a:extLst>
          </p:cNvPr>
          <p:cNvCxnSpPr/>
          <p:nvPr/>
        </p:nvCxnSpPr>
        <p:spPr>
          <a:xfrm xmlns:a="http://schemas.openxmlformats.org/drawingml/2006/main">
            <a:off x="8858250" y="3286125"/>
            <a:ext cx="0" cy="285750"/>
          </a:xfrm>
          <a:prstGeom xmlns:a="http://schemas.openxmlformats.org/drawingml/2006/main" prst="straightConnector1">
            <a:avLst/>
          </a:prstGeom>
          <a:ln xmlns:a="http://schemas.openxmlformats.org/drawingml/2006/main" w="23813">
            <a:solidFill>
              <a:srgbClr val="1F4E79"/>
            </a:solidFill>
            <a:tailEnd type="triangle" w="med" len="med"/>
          </a:ln>
        </p:spPr>
      </p:cxnSp>
      <p:cxnSp>
        <p:nvCxnSpPr>
          <p:cNvPr id="19" name="">
            <a:extLst xmlns:a="http://schemas.openxmlformats.org/drawingml/2006/main">
              <a:ext uri="{FF2B5EF4-FFF2-40B4-BE49-F238E27FC236}">
                <a16:creationId xmlns:a16="http://schemas.microsoft.com/office/drawing/2014/main" id="{06A85EDD-7D67-43F9-85CB-F723C83D0EFB}"/>
              </a:ext>
            </a:extLst>
          </p:cNvPr>
          <p:cNvCxnSpPr/>
          <p:nvPr/>
        </p:nvCxnSpPr>
        <p:spPr>
          <a:xfrm xmlns:a="http://schemas.openxmlformats.org/drawingml/2006/main">
            <a:off x="8858250" y="4048125"/>
            <a:ext cx="0" cy="285750"/>
          </a:xfrm>
          <a:prstGeom xmlns:a="http://schemas.openxmlformats.org/drawingml/2006/main" prst="straightConnector1">
            <a:avLst/>
          </a:prstGeom>
          <a:ln xmlns:a="http://schemas.openxmlformats.org/drawingml/2006/main" w="23813">
            <a:solidFill>
              <a:srgbClr val="1F4E79"/>
            </a:solidFill>
            <a:tailEnd type="triangle" w="med" len="med"/>
          </a:ln>
        </p:spPr>
      </p:cxnSp>
      <p:cxnSp>
        <p:nvCxnSpPr>
          <p:cNvPr id="20" name="">
            <a:extLst xmlns:a="http://schemas.openxmlformats.org/drawingml/2006/main">
              <a:ext uri="{FF2B5EF4-FFF2-40B4-BE49-F238E27FC236}">
                <a16:creationId xmlns:a16="http://schemas.microsoft.com/office/drawing/2014/main" id="{E82C8F8E-E3A4-4ABE-BD0A-5217026AE332}"/>
              </a:ext>
            </a:extLst>
          </p:cNvPr>
          <p:cNvCxnSpPr/>
          <p:nvPr/>
        </p:nvCxnSpPr>
        <p:spPr>
          <a:xfrm xmlns:a="http://schemas.openxmlformats.org/drawingml/2006/main">
            <a:off x="10287000" y="2286000"/>
            <a:ext cx="952500" cy="0"/>
          </a:xfrm>
          <a:prstGeom xmlns:a="http://schemas.openxmlformats.org/drawingml/2006/main" prst="straightConnector1">
            <a:avLst/>
          </a:prstGeom>
          <a:ln xmlns:a="http://schemas.openxmlformats.org/drawingml/2006/main" w="23813">
            <a:solidFill>
              <a:srgbClr val="C43737"/>
            </a:solidFill>
          </a:ln>
        </p:spPr>
      </p:cxnSp>
      <p:cxnSp>
        <p:nvCxnSpPr>
          <p:cNvPr id="21" name="">
            <a:extLst xmlns:a="http://schemas.openxmlformats.org/drawingml/2006/main">
              <a:ext uri="{FF2B5EF4-FFF2-40B4-BE49-F238E27FC236}">
                <a16:creationId xmlns:a16="http://schemas.microsoft.com/office/drawing/2014/main" id="{83EB2C06-C9E5-49C6-B20B-BE4C1B36A0A2}"/>
              </a:ext>
            </a:extLst>
          </p:cNvPr>
          <p:cNvCxnSpPr/>
          <p:nvPr/>
        </p:nvCxnSpPr>
        <p:spPr>
          <a:xfrm xmlns:a="http://schemas.openxmlformats.org/drawingml/2006/main">
            <a:off x="11239500" y="2286000"/>
            <a:ext cx="0" cy="2286000"/>
          </a:xfrm>
          <a:prstGeom xmlns:a="http://schemas.openxmlformats.org/drawingml/2006/main" prst="straightConnector1">
            <a:avLst/>
          </a:prstGeom>
          <a:ln xmlns:a="http://schemas.openxmlformats.org/drawingml/2006/main" w="23813">
            <a:solidFill>
              <a:srgbClr val="C43737"/>
            </a:solidFill>
          </a:ln>
        </p:spPr>
      </p:cxnSp>
      <p:cxnSp>
        <p:nvCxnSpPr>
          <p:cNvPr id="22" name="">
            <a:extLst xmlns:a="http://schemas.openxmlformats.org/drawingml/2006/main">
              <a:ext uri="{FF2B5EF4-FFF2-40B4-BE49-F238E27FC236}">
                <a16:creationId xmlns:a16="http://schemas.microsoft.com/office/drawing/2014/main" id="{F30E98AB-AD8C-4BD6-BD31-31216842EF2A}"/>
              </a:ext>
            </a:extLst>
          </p:cNvPr>
          <p:cNvCxnSpPr/>
          <p:nvPr/>
        </p:nvCxnSpPr>
        <p:spPr>
          <a:xfrm xmlns:a="http://schemas.openxmlformats.org/drawingml/2006/main">
            <a:off x="10287000" y="4572000"/>
            <a:ext cx="952500" cy="0"/>
          </a:xfrm>
          <a:prstGeom xmlns:a="http://schemas.openxmlformats.org/drawingml/2006/main" prst="straightConnector1">
            <a:avLst/>
          </a:prstGeom>
          <a:ln xmlns:a="http://schemas.openxmlformats.org/drawingml/2006/main" w="23813">
            <a:solidFill>
              <a:srgbClr val="C43737"/>
            </a:solidFill>
            <a:headEnd type="triangle" w="med" len="med"/>
          </a:ln>
        </p:spPr>
      </p:cxnSp>
      <p:sp>
        <p:nvSpPr>
          <p:cNvPr id="23" name="">
            <a:extLst xmlns:a="http://schemas.openxmlformats.org/drawingml/2006/main">
              <a:ext uri="{FF2B5EF4-FFF2-40B4-BE49-F238E27FC236}">
                <a16:creationId xmlns:a16="http://schemas.microsoft.com/office/drawing/2014/main" id="{15D95213-8E36-4170-A2C6-0762E5A920DA}"/>
              </a:ext>
            </a:extLst>
          </p:cNvPr>
          <p:cNvSpPr>
            <a:spLocks xmlns:a="http://schemas.openxmlformats.org/drawingml/2006/main" noGrp="1"/>
          </p:cNvSpPr>
          <p:nvPr/>
        </p:nvSpPr>
        <p:spPr>
          <a:xfrm xmlns:a="http://schemas.openxmlformats.org/drawingml/2006/main">
            <a:off x="10601325" y="3143250"/>
            <a:ext cx="619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C43737"/>
                </a:solidFill>
                <a:latin typeface="Arial"/>
                <a:ea typeface="Arial"/>
                <a:cs typeface="Arial"/>
              </a:defRPr>
            </a:defPPr>
            <a:lvl1pPr>
              <a:defRPr sz="1800" b="1">
                <a:solidFill>
                  <a:srgbClr val="C43737"/>
                </a:solidFill>
                <a:latin typeface="Arial"/>
                <a:ea typeface="Arial"/>
                <a:cs typeface="Arial"/>
              </a:defRPr>
            </a:lvl1pPr>
            <a:lvl2pPr>
              <a:defRPr sz="1800" b="1">
                <a:solidFill>
                  <a:srgbClr val="C43737"/>
                </a:solidFill>
                <a:latin typeface="Arial"/>
                <a:ea typeface="Arial"/>
                <a:cs typeface="Arial"/>
              </a:defRPr>
            </a:lvl2pPr>
            <a:lvl3pPr>
              <a:defRPr sz="1800" b="1">
                <a:solidFill>
                  <a:srgbClr val="C43737"/>
                </a:solidFill>
                <a:latin typeface="Arial"/>
                <a:ea typeface="Arial"/>
                <a:cs typeface="Arial"/>
              </a:defRPr>
            </a:lvl3pPr>
            <a:lvl4pPr>
              <a:defRPr sz="1800" b="1">
                <a:solidFill>
                  <a:srgbClr val="C43737"/>
                </a:solidFill>
                <a:latin typeface="Arial"/>
                <a:ea typeface="Arial"/>
                <a:cs typeface="Arial"/>
              </a:defRPr>
            </a:lvl4pPr>
            <a:lvl5pPr>
              <a:defRPr sz="1800" b="1">
                <a:solidFill>
                  <a:srgbClr val="C43737"/>
                </a:solidFill>
                <a:latin typeface="Arial"/>
                <a:ea typeface="Arial"/>
                <a:cs typeface="Arial"/>
              </a:defRPr>
            </a:lvl5pPr>
            <a:lvl6pPr>
              <a:defRPr sz="1800" b="1">
                <a:solidFill>
                  <a:srgbClr val="C43737"/>
                </a:solidFill>
                <a:latin typeface="Arial"/>
                <a:ea typeface="Arial"/>
                <a:cs typeface="Arial"/>
              </a:defRPr>
            </a:lvl6pPr>
            <a:lvl7pPr>
              <a:defRPr sz="1800" b="1">
                <a:solidFill>
                  <a:srgbClr val="C43737"/>
                </a:solidFill>
                <a:latin typeface="Arial"/>
                <a:ea typeface="Arial"/>
                <a:cs typeface="Arial"/>
              </a:defRPr>
            </a:lvl7pPr>
            <a:lvl8pPr>
              <a:defRPr sz="1800" b="1">
                <a:solidFill>
                  <a:srgbClr val="C43737"/>
                </a:solidFill>
                <a:latin typeface="Arial"/>
                <a:ea typeface="Arial"/>
                <a:cs typeface="Arial"/>
              </a:defRPr>
            </a:lvl8pPr>
            <a:lvl9pPr>
              <a:defRPr sz="1800" b="1">
                <a:solidFill>
                  <a:srgbClr val="C43737"/>
                </a:solidFill>
                <a:latin typeface="Arial"/>
                <a:ea typeface="Arial"/>
                <a:cs typeface="Arial"/>
              </a:defRPr>
            </a:lvl9pPr>
          </a:lstStyle>
          <a:p xmlns:a="http://schemas.openxmlformats.org/drawingml/2006/main">
            <a:pPr>
              <a:defRPr sz="1800" b="1">
                <a:solidFill>
                  <a:srgbClr val="C43737"/>
                </a:solidFill>
                <a:latin typeface="Arial"/>
                <a:ea typeface="Arial"/>
                <a:cs typeface="Arial"/>
              </a:defRPr>
            </a:pPr>
            <a:r>
              <a:rPr sz="1800" b="1">
                <a:solidFill>
                  <a:srgbClr val="C43737"/>
                </a:solidFill>
                <a:latin typeface="Arial"/>
                <a:ea typeface="Arial"/>
                <a:cs typeface="Arial"/>
              </a:rPr>
              <a:t>Yes</a:t>
            </a:r>
          </a:p>
        </p:txBody>
      </p:sp>
      <p:cxnSp>
        <p:nvCxnSpPr>
          <p:cNvPr id="24" name="">
            <a:extLst xmlns:a="http://schemas.openxmlformats.org/drawingml/2006/main">
              <a:ext uri="{FF2B5EF4-FFF2-40B4-BE49-F238E27FC236}">
                <a16:creationId xmlns:a16="http://schemas.microsoft.com/office/drawing/2014/main" id="{DD36AAA9-93FC-4D27-880C-6BD5A323D351}"/>
              </a:ext>
            </a:extLst>
          </p:cNvPr>
          <p:cNvCxnSpPr/>
          <p:nvPr/>
        </p:nvCxnSpPr>
        <p:spPr>
          <a:xfrm xmlns:a="http://schemas.openxmlformats.org/drawingml/2006/main">
            <a:off x="6477000" y="3048000"/>
            <a:ext cx="952500" cy="0"/>
          </a:xfrm>
          <a:prstGeom xmlns:a="http://schemas.openxmlformats.org/drawingml/2006/main" prst="straightConnector1">
            <a:avLst/>
          </a:prstGeom>
          <a:ln xmlns:a="http://schemas.openxmlformats.org/drawingml/2006/main" w="23813">
            <a:solidFill>
              <a:srgbClr val="C43737"/>
            </a:solidFill>
          </a:ln>
        </p:spPr>
      </p:cxnSp>
      <p:cxnSp>
        <p:nvCxnSpPr>
          <p:cNvPr id="25" name="">
            <a:extLst xmlns:a="http://schemas.openxmlformats.org/drawingml/2006/main">
              <a:ext uri="{FF2B5EF4-FFF2-40B4-BE49-F238E27FC236}">
                <a16:creationId xmlns:a16="http://schemas.microsoft.com/office/drawing/2014/main" id="{B2535637-7DA6-491B-909B-5E6C71AF856A}"/>
              </a:ext>
            </a:extLst>
          </p:cNvPr>
          <p:cNvCxnSpPr/>
          <p:nvPr/>
        </p:nvCxnSpPr>
        <p:spPr>
          <a:xfrm xmlns:a="http://schemas.openxmlformats.org/drawingml/2006/main">
            <a:off x="6477000" y="3048000"/>
            <a:ext cx="0" cy="1524000"/>
          </a:xfrm>
          <a:prstGeom xmlns:a="http://schemas.openxmlformats.org/drawingml/2006/main" prst="straightConnector1">
            <a:avLst/>
          </a:prstGeom>
          <a:ln xmlns:a="http://schemas.openxmlformats.org/drawingml/2006/main" w="23813">
            <a:solidFill>
              <a:srgbClr val="C43737"/>
            </a:solidFill>
          </a:ln>
        </p:spPr>
      </p:cxnSp>
      <p:cxnSp>
        <p:nvCxnSpPr>
          <p:cNvPr id="26" name="">
            <a:extLst xmlns:a="http://schemas.openxmlformats.org/drawingml/2006/main">
              <a:ext uri="{FF2B5EF4-FFF2-40B4-BE49-F238E27FC236}">
                <a16:creationId xmlns:a16="http://schemas.microsoft.com/office/drawing/2014/main" id="{AF51333E-C542-4891-A7BA-DACC0969328D}"/>
              </a:ext>
            </a:extLst>
          </p:cNvPr>
          <p:cNvCxnSpPr/>
          <p:nvPr/>
        </p:nvCxnSpPr>
        <p:spPr>
          <a:xfrm xmlns:a="http://schemas.openxmlformats.org/drawingml/2006/main">
            <a:off x="6477000" y="4572000"/>
            <a:ext cx="952500" cy="0"/>
          </a:xfrm>
          <a:prstGeom xmlns:a="http://schemas.openxmlformats.org/drawingml/2006/main" prst="straightConnector1">
            <a:avLst/>
          </a:prstGeom>
          <a:ln xmlns:a="http://schemas.openxmlformats.org/drawingml/2006/main" w="23813">
            <a:solidFill>
              <a:srgbClr val="C43737"/>
            </a:solidFill>
            <a:tailEnd type="triangle" w="med" len="med"/>
          </a:ln>
        </p:spPr>
      </p:cxnSp>
      <p:sp>
        <p:nvSpPr>
          <p:cNvPr id="27" name="">
            <a:extLst xmlns:a="http://schemas.openxmlformats.org/drawingml/2006/main">
              <a:ext uri="{FF2B5EF4-FFF2-40B4-BE49-F238E27FC236}">
                <a16:creationId xmlns:a16="http://schemas.microsoft.com/office/drawing/2014/main" id="{22FE40A1-AD58-4EF2-891B-4D8FBF3E0ECB}"/>
              </a:ext>
            </a:extLst>
          </p:cNvPr>
          <p:cNvSpPr>
            <a:spLocks xmlns:a="http://schemas.openxmlformats.org/drawingml/2006/main" noGrp="1"/>
          </p:cNvSpPr>
          <p:nvPr/>
        </p:nvSpPr>
        <p:spPr>
          <a:xfrm xmlns:a="http://schemas.openxmlformats.org/drawingml/2006/main">
            <a:off x="6581775" y="3705225"/>
            <a:ext cx="619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C43737"/>
                </a:solidFill>
                <a:latin typeface="Arial"/>
                <a:ea typeface="Arial"/>
                <a:cs typeface="Arial"/>
              </a:defRPr>
            </a:defPPr>
            <a:lvl1pPr>
              <a:defRPr sz="1800" b="1">
                <a:solidFill>
                  <a:srgbClr val="C43737"/>
                </a:solidFill>
                <a:latin typeface="Arial"/>
                <a:ea typeface="Arial"/>
                <a:cs typeface="Arial"/>
              </a:defRPr>
            </a:lvl1pPr>
            <a:lvl2pPr>
              <a:defRPr sz="1800" b="1">
                <a:solidFill>
                  <a:srgbClr val="C43737"/>
                </a:solidFill>
                <a:latin typeface="Arial"/>
                <a:ea typeface="Arial"/>
                <a:cs typeface="Arial"/>
              </a:defRPr>
            </a:lvl2pPr>
            <a:lvl3pPr>
              <a:defRPr sz="1800" b="1">
                <a:solidFill>
                  <a:srgbClr val="C43737"/>
                </a:solidFill>
                <a:latin typeface="Arial"/>
                <a:ea typeface="Arial"/>
                <a:cs typeface="Arial"/>
              </a:defRPr>
            </a:lvl3pPr>
            <a:lvl4pPr>
              <a:defRPr sz="1800" b="1">
                <a:solidFill>
                  <a:srgbClr val="C43737"/>
                </a:solidFill>
                <a:latin typeface="Arial"/>
                <a:ea typeface="Arial"/>
                <a:cs typeface="Arial"/>
              </a:defRPr>
            </a:lvl4pPr>
            <a:lvl5pPr>
              <a:defRPr sz="1800" b="1">
                <a:solidFill>
                  <a:srgbClr val="C43737"/>
                </a:solidFill>
                <a:latin typeface="Arial"/>
                <a:ea typeface="Arial"/>
                <a:cs typeface="Arial"/>
              </a:defRPr>
            </a:lvl5pPr>
            <a:lvl6pPr>
              <a:defRPr sz="1800" b="1">
                <a:solidFill>
                  <a:srgbClr val="C43737"/>
                </a:solidFill>
                <a:latin typeface="Arial"/>
                <a:ea typeface="Arial"/>
                <a:cs typeface="Arial"/>
              </a:defRPr>
            </a:lvl6pPr>
            <a:lvl7pPr>
              <a:defRPr sz="1800" b="1">
                <a:solidFill>
                  <a:srgbClr val="C43737"/>
                </a:solidFill>
                <a:latin typeface="Arial"/>
                <a:ea typeface="Arial"/>
                <a:cs typeface="Arial"/>
              </a:defRPr>
            </a:lvl7pPr>
            <a:lvl8pPr>
              <a:defRPr sz="1800" b="1">
                <a:solidFill>
                  <a:srgbClr val="C43737"/>
                </a:solidFill>
                <a:latin typeface="Arial"/>
                <a:ea typeface="Arial"/>
                <a:cs typeface="Arial"/>
              </a:defRPr>
            </a:lvl8pPr>
            <a:lvl9pPr>
              <a:defRPr sz="1800" b="1">
                <a:solidFill>
                  <a:srgbClr val="C43737"/>
                </a:solidFill>
                <a:latin typeface="Arial"/>
                <a:ea typeface="Arial"/>
                <a:cs typeface="Arial"/>
              </a:defRPr>
            </a:lvl9pPr>
          </a:lstStyle>
          <a:p xmlns:a="http://schemas.openxmlformats.org/drawingml/2006/main">
            <a:pPr>
              <a:defRPr sz="1800" b="1">
                <a:solidFill>
                  <a:srgbClr val="C43737"/>
                </a:solidFill>
                <a:latin typeface="Arial"/>
                <a:ea typeface="Arial"/>
                <a:cs typeface="Arial"/>
              </a:defRPr>
            </a:pPr>
            <a:r>
              <a:rPr sz="1800" b="1">
                <a:solidFill>
                  <a:srgbClr val="C43737"/>
                </a:solidFill>
                <a:latin typeface="Arial"/>
                <a:ea typeface="Arial"/>
                <a:cs typeface="Arial"/>
              </a:rPr>
              <a:t>No</a:t>
            </a:r>
          </a:p>
        </p:txBody>
      </p:sp>
      <p:sp>
        <p:nvSpPr>
          <p:cNvPr id="28" name="">
            <a:extLst xmlns:a="http://schemas.openxmlformats.org/drawingml/2006/main">
              <a:ext uri="{FF2B5EF4-FFF2-40B4-BE49-F238E27FC236}">
                <a16:creationId xmlns:a16="http://schemas.microsoft.com/office/drawing/2014/main" id="{EE514983-1CC0-4289-8FC6-69AE3EFB773A}"/>
              </a:ext>
            </a:extLst>
          </p:cNvPr>
          <p:cNvSpPr>
            <a:spLocks xmlns:a="http://schemas.openxmlformats.org/drawingml/2006/main" noGrp="1"/>
          </p:cNvSpPr>
          <p:nvPr/>
        </p:nvSpPr>
        <p:spPr>
          <a:xfrm xmlns:a="http://schemas.openxmlformats.org/drawingml/2006/main">
            <a:off x="609600" y="52482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1F4E79"/>
                </a:solidFill>
                <a:latin typeface="Arial"/>
                <a:ea typeface="Arial"/>
                <a:cs typeface="Arial"/>
              </a:defRPr>
            </a:defPPr>
            <a:lvl1pPr>
              <a:defRPr sz="1650" b="0">
                <a:solidFill>
                  <a:srgbClr val="1F4E79"/>
                </a:solidFill>
                <a:latin typeface="Arial"/>
                <a:ea typeface="Arial"/>
                <a:cs typeface="Arial"/>
              </a:defRPr>
            </a:lvl1pPr>
            <a:lvl2pPr>
              <a:defRPr sz="1650" b="0">
                <a:solidFill>
                  <a:srgbClr val="1F4E79"/>
                </a:solidFill>
                <a:latin typeface="Arial"/>
                <a:ea typeface="Arial"/>
                <a:cs typeface="Arial"/>
              </a:defRPr>
            </a:lvl2pPr>
            <a:lvl3pPr>
              <a:defRPr sz="1650" b="0">
                <a:solidFill>
                  <a:srgbClr val="1F4E79"/>
                </a:solidFill>
                <a:latin typeface="Arial"/>
                <a:ea typeface="Arial"/>
                <a:cs typeface="Arial"/>
              </a:defRPr>
            </a:lvl3pPr>
            <a:lvl4pPr>
              <a:defRPr sz="1650" b="0">
                <a:solidFill>
                  <a:srgbClr val="1F4E79"/>
                </a:solidFill>
                <a:latin typeface="Arial"/>
                <a:ea typeface="Arial"/>
                <a:cs typeface="Arial"/>
              </a:defRPr>
            </a:lvl4pPr>
            <a:lvl5pPr>
              <a:defRPr sz="1650" b="0">
                <a:solidFill>
                  <a:srgbClr val="1F4E79"/>
                </a:solidFill>
                <a:latin typeface="Arial"/>
                <a:ea typeface="Arial"/>
                <a:cs typeface="Arial"/>
              </a:defRPr>
            </a:lvl5pPr>
            <a:lvl6pPr>
              <a:defRPr sz="1650" b="0">
                <a:solidFill>
                  <a:srgbClr val="1F4E79"/>
                </a:solidFill>
                <a:latin typeface="Arial"/>
                <a:ea typeface="Arial"/>
                <a:cs typeface="Arial"/>
              </a:defRPr>
            </a:lvl6pPr>
            <a:lvl7pPr>
              <a:defRPr sz="1650" b="0">
                <a:solidFill>
                  <a:srgbClr val="1F4E79"/>
                </a:solidFill>
                <a:latin typeface="Arial"/>
                <a:ea typeface="Arial"/>
                <a:cs typeface="Arial"/>
              </a:defRPr>
            </a:lvl7pPr>
            <a:lvl8pPr>
              <a:defRPr sz="1650" b="0">
                <a:solidFill>
                  <a:srgbClr val="1F4E79"/>
                </a:solidFill>
                <a:latin typeface="Arial"/>
                <a:ea typeface="Arial"/>
                <a:cs typeface="Arial"/>
              </a:defRPr>
            </a:lvl8pPr>
            <a:lvl9pPr>
              <a:defRPr sz="1650" b="0">
                <a:solidFill>
                  <a:srgbClr val="1F4E79"/>
                </a:solidFill>
                <a:latin typeface="Arial"/>
                <a:ea typeface="Arial"/>
                <a:cs typeface="Arial"/>
              </a:defRPr>
            </a:lvl9pPr>
          </a:lstStyle>
          <a:p xmlns:a="http://schemas.openxmlformats.org/drawingml/2006/main">
            <a:pPr>
              <a:defRPr sz="1650" b="0">
                <a:solidFill>
                  <a:srgbClr val="1F4E79"/>
                </a:solidFill>
                <a:latin typeface="Arial"/>
                <a:ea typeface="Arial"/>
                <a:cs typeface="Arial"/>
              </a:defRPr>
            </a:pPr>
            <a:r>
              <a:rPr sz="1650" b="0">
                <a:solidFill>
                  <a:srgbClr val="1F4E79"/>
                </a:solidFill>
                <a:latin typeface="Arial"/>
                <a:ea typeface="Arial"/>
                <a:cs typeface="Arial"/>
              </a:rPr>
              <a:t>Saved critic excerpt: ?Attach shipping label is connected with both Parcel workflow complete and Print shipping label?</a:t>
            </a:r>
          </a:p>
        </p:txBody>
      </p:sp>
    </p:spTree>
    <p:extLst>
      <p:ext uri="{BB962C8B-B14F-4D97-AF65-F5344CB8AC3E}">
        <p14:creationId xmlns:p14="http://schemas.microsoft.com/office/powerpoint/2010/main" val="39731131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3F33977-4C5A-4F47-974E-B0D2458EECA1}"/>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The follow-up remains exploratory and limited</a:t>
            </a:r>
          </a:p>
        </p:txBody>
      </p:sp>
      <p:sp>
        <p:nvSpPr>
          <p:cNvPr id="2" name="">
            <a:extLst xmlns:a="http://schemas.openxmlformats.org/drawingml/2006/main">
              <a:ext uri="{FF2B5EF4-FFF2-40B4-BE49-F238E27FC236}">
                <a16:creationId xmlns:a16="http://schemas.microsoft.com/office/drawing/2014/main" id="{E70E9239-6EC0-4EFB-9B9B-F867ACB5D9C3}"/>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9</a:t>
            </a:r>
          </a:p>
        </p:txBody>
      </p:sp>
      <p:sp>
        <p:nvSpPr>
          <p:cNvPr id="3" name="">
            <a:extLst xmlns:a="http://schemas.openxmlformats.org/drawingml/2006/main">
              <a:ext uri="{FF2B5EF4-FFF2-40B4-BE49-F238E27FC236}">
                <a16:creationId xmlns:a16="http://schemas.microsoft.com/office/drawing/2014/main" id="{65A5C0FA-DC05-4C25-94B9-DDF2F150C18D}"/>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Sources: dataset card; manifests; critic audit; pretrained model cards</a:t>
            </a:r>
          </a:p>
        </p:txBody>
      </p:sp>
      <p:sp>
        <p:nvSpPr>
          <p:cNvPr id="4" name="">
            <a:extLst xmlns:a="http://schemas.openxmlformats.org/drawingml/2006/main">
              <a:ext uri="{FF2B5EF4-FFF2-40B4-BE49-F238E27FC236}">
                <a16:creationId xmlns:a16="http://schemas.microsoft.com/office/drawing/2014/main" id="{1C277BA9-6196-428F-AB8F-66DB4CECE4B9}"/>
              </a:ext>
            </a:extLst>
          </p:cNvPr>
          <p:cNvSpPr>
            <a:spLocks xmlns:a="http://schemas.openxmlformats.org/drawingml/2006/main" noGrp="1"/>
          </p:cNvSpPr>
          <p:nvPr/>
        </p:nvSpPr>
        <p:spPr>
          <a:xfrm xmlns:a="http://schemas.openxmlformats.org/drawingml/2006/main">
            <a:off x="609600" y="1666875"/>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5 development; 15 synthetic test tasks, 6-7 nodes.</a:t>
            </a:r>
          </a:p>
        </p:txBody>
      </p:sp>
      <p:sp>
        <p:nvSpPr>
          <p:cNvPr id="5" name="">
            <a:extLst xmlns:a="http://schemas.openxmlformats.org/drawingml/2006/main">
              <a:ext uri="{FF2B5EF4-FFF2-40B4-BE49-F238E27FC236}">
                <a16:creationId xmlns:a16="http://schemas.microsoft.com/office/drawing/2014/main" id="{BECAFC41-BF8A-49AE-905A-C0E614AFA621}"/>
              </a:ext>
            </a:extLst>
          </p:cNvPr>
          <p:cNvSpPr>
            <a:spLocks xmlns:a="http://schemas.openxmlformats.org/drawingml/2006/main" noGrp="1"/>
          </p:cNvSpPr>
          <p:nvPr/>
        </p:nvSpPr>
        <p:spPr>
          <a:xfrm xmlns:a="http://schemas.openxmlformats.org/drawingml/2006/main">
            <a:off x="609600" y="2619375"/>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One seed, one round, strict label matching.</a:t>
            </a:r>
          </a:p>
        </p:txBody>
      </p:sp>
      <p:sp>
        <p:nvSpPr>
          <p:cNvPr id="6" name="">
            <a:extLst xmlns:a="http://schemas.openxmlformats.org/drawingml/2006/main">
              <a:ext uri="{FF2B5EF4-FFF2-40B4-BE49-F238E27FC236}">
                <a16:creationId xmlns:a16="http://schemas.microsoft.com/office/drawing/2014/main" id="{0DD5F23E-406C-41DF-A1EB-98E219EF5463}"/>
              </a:ext>
            </a:extLst>
          </p:cNvPr>
          <p:cNvSpPr>
            <a:spLocks xmlns:a="http://schemas.openxmlformats.org/drawingml/2006/main" noGrp="1"/>
          </p:cNvSpPr>
          <p:nvPr/>
        </p:nvSpPr>
        <p:spPr>
          <a:xfrm xmlns:a="http://schemas.openxmlformats.org/drawingml/2006/main">
            <a:off x="609600" y="3571875"/>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C0/L3 are post-test; failed L3 format revised separately.</a:t>
            </a:r>
          </a:p>
        </p:txBody>
      </p:sp>
      <p:sp>
        <p:nvSpPr>
          <p:cNvPr id="7" name="">
            <a:extLst xmlns:a="http://schemas.openxmlformats.org/drawingml/2006/main">
              <a:ext uri="{FF2B5EF4-FFF2-40B4-BE49-F238E27FC236}">
                <a16:creationId xmlns:a16="http://schemas.microsoft.com/office/drawing/2014/main" id="{8C9A6600-25A5-46CB-AA8C-3BCB7473236D}"/>
              </a:ext>
            </a:extLst>
          </p:cNvPr>
          <p:cNvSpPr>
            <a:spLocks xmlns:a="http://schemas.openxmlformats.org/drawingml/2006/main" noGrp="1"/>
          </p:cNvSpPr>
          <p:nvPr/>
        </p:nvSpPr>
        <p:spPr>
          <a:xfrm xmlns:a="http://schemas.openxmlformats.org/drawingml/2006/main">
            <a:off x="609600" y="4524375"/>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Pretrained models: Qwen2.5-3B and SmolVLM-256M.</a:t>
            </a:r>
          </a:p>
        </p:txBody>
      </p:sp>
    </p:spTree>
    <p:extLst>
      <p:ext uri="{BB962C8B-B14F-4D97-AF65-F5344CB8AC3E}">
        <p14:creationId xmlns:p14="http://schemas.microsoft.com/office/powerpoint/2010/main" val="172767268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479B9C3-016E-4E84-BB60-26A36D077F40}"/>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Evaluate corrections and protect graph structure</a:t>
            </a:r>
          </a:p>
        </p:txBody>
      </p:sp>
      <p:sp>
        <p:nvSpPr>
          <p:cNvPr id="2" name="">
            <a:extLst xmlns:a="http://schemas.openxmlformats.org/drawingml/2006/main">
              <a:ext uri="{FF2B5EF4-FFF2-40B4-BE49-F238E27FC236}">
                <a16:creationId xmlns:a16="http://schemas.microsoft.com/office/drawing/2014/main" id="{4038B685-B5C5-45B1-A8A5-6B8066B41DA1}"/>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10</a:t>
            </a:r>
          </a:p>
        </p:txBody>
      </p:sp>
      <p:sp>
        <p:nvSpPr>
          <p:cNvPr id="3" name="">
            <a:extLst xmlns:a="http://schemas.openxmlformats.org/drawingml/2006/main">
              <a:ext uri="{FF2B5EF4-FFF2-40B4-BE49-F238E27FC236}">
                <a16:creationId xmlns:a16="http://schemas.microsoft.com/office/drawing/2014/main" id="{0A6E46D5-1254-45A7-9923-506C85155DA2}"/>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Reproduction and saved demonstration: README.md; demo/followup.html</a:t>
            </a:r>
          </a:p>
        </p:txBody>
      </p:sp>
      <p:sp>
        <p:nvSpPr>
          <p:cNvPr id="4" name="">
            <a:extLst xmlns:a="http://schemas.openxmlformats.org/drawingml/2006/main">
              <a:ext uri="{FF2B5EF4-FFF2-40B4-BE49-F238E27FC236}">
                <a16:creationId xmlns:a16="http://schemas.microsoft.com/office/drawing/2014/main" id="{140308BE-74B8-4961-B6BA-178BD4872D0F}"/>
              </a:ext>
            </a:extLst>
          </p:cNvPr>
          <p:cNvSpPr>
            <a:spLocks xmlns:a="http://schemas.openxmlformats.org/drawingml/2006/main" noGrp="1"/>
          </p:cNvSpPr>
          <p:nvPr/>
        </p:nvSpPr>
        <p:spPr>
          <a:xfrm xmlns:a="http://schemas.openxmlformats.org/drawingml/2006/main">
            <a:off x="609600" y="1666875"/>
            <a:ext cx="10763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Feedback did not improve the original CPU pilot.</a:t>
            </a:r>
          </a:p>
        </p:txBody>
      </p:sp>
      <p:sp>
        <p:nvSpPr>
          <p:cNvPr id="5" name="">
            <a:extLst xmlns:a="http://schemas.openxmlformats.org/drawingml/2006/main">
              <a:ext uri="{FF2B5EF4-FFF2-40B4-BE49-F238E27FC236}">
                <a16:creationId xmlns:a16="http://schemas.microsoft.com/office/drawing/2014/main" id="{FA78AEEF-CC13-473B-B8A2-0FA4AF516DA7}"/>
              </a:ext>
            </a:extLst>
          </p:cNvPr>
          <p:cNvSpPr>
            <a:spLocks xmlns:a="http://schemas.openxmlformats.org/drawingml/2006/main" noGrp="1"/>
          </p:cNvSpPr>
          <p:nvPr/>
        </p:nvSpPr>
        <p:spPr>
          <a:xfrm xmlns:a="http://schemas.openxmlformats.org/drawingml/2006/main">
            <a:off x="609600" y="2609850"/>
            <a:ext cx="10763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C0: 0 exact fixes, 0 exact regressions.</a:t>
            </a:r>
          </a:p>
        </p:txBody>
      </p:sp>
      <p:sp>
        <p:nvSpPr>
          <p:cNvPr id="6" name="">
            <a:extLst xmlns:a="http://schemas.openxmlformats.org/drawingml/2006/main">
              <a:ext uri="{FF2B5EF4-FFF2-40B4-BE49-F238E27FC236}">
                <a16:creationId xmlns:a16="http://schemas.microsoft.com/office/drawing/2014/main" id="{A7FF79E5-4A67-4DC8-8537-C095D6794021}"/>
              </a:ext>
            </a:extLst>
          </p:cNvPr>
          <p:cNvSpPr>
            <a:spLocks xmlns:a="http://schemas.openxmlformats.org/drawingml/2006/main" noGrp="1"/>
          </p:cNvSpPr>
          <p:nvPr/>
        </p:nvSpPr>
        <p:spPr>
          <a:xfrm xmlns:a="http://schemas.openxmlformats.org/drawingml/2006/main">
            <a:off x="609600" y="3552825"/>
            <a:ext cx="10763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L3 keeps B0 semantics; geometry 0.33 to 0.47 errors.</a:t>
            </a:r>
          </a:p>
        </p:txBody>
      </p:sp>
      <p:sp>
        <p:nvSpPr>
          <p:cNvPr id="7" name="">
            <a:extLst xmlns:a="http://schemas.openxmlformats.org/drawingml/2006/main">
              <a:ext uri="{FF2B5EF4-FFF2-40B4-BE49-F238E27FC236}">
                <a16:creationId xmlns:a16="http://schemas.microsoft.com/office/drawing/2014/main" id="{0A3F3CF5-C374-40BB-8FBF-144F134E1250}"/>
              </a:ext>
            </a:extLst>
          </p:cNvPr>
          <p:cNvSpPr>
            <a:spLocks xmlns:a="http://schemas.openxmlformats.org/drawingml/2006/main" noGrp="1"/>
          </p:cNvSpPr>
          <p:nvPr/>
        </p:nvSpPr>
        <p:spPr>
          <a:xfrm xmlns:a="http://schemas.openxmlformats.org/drawingml/2006/main">
            <a:off x="609600" y="4495800"/>
            <a:ext cx="10763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Broader claims need new tasks and repeated evaluation.</a:t>
            </a:r>
          </a:p>
        </p:txBody>
      </p:sp>
    </p:spTree>
    <p:extLst>
      <p:ext uri="{BB962C8B-B14F-4D97-AF65-F5344CB8AC3E}">
        <p14:creationId xmlns:p14="http://schemas.microsoft.com/office/powerpoint/2010/main" val="11369004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2026-10-24T18:17:37.5540000Z</dcterms:created>
  <dcterms:modified xsi:type="dcterms:W3CDTF">2026-10-24T18:17:37.5540000Z</dcterms:modified>
</coreProperties>
</file>